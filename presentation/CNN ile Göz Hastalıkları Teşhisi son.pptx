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40"/>
  </p:notesMasterIdLst>
  <p:sldIdLst>
    <p:sldId id="256" r:id="rId2"/>
    <p:sldId id="257" r:id="rId3"/>
    <p:sldId id="293"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Lst>
  <p:sldSz cx="12192000" cy="6858000"/>
  <p:notesSz cx="6858000" cy="9144000"/>
  <p:embeddedFontLst>
    <p:embeddedFont>
      <p:font typeface="Inter" panose="020B0604020202020204" charset="0"/>
      <p:regular r:id="rId41"/>
      <p:bold r:id="rId42"/>
      <p:italic r:id="rId43"/>
      <p:boldItalic r:id="rId44"/>
    </p:embeddedFont>
    <p:embeddedFont>
      <p:font typeface="Inter ExtraBold" panose="020B0604020202020204" charset="0"/>
      <p:bold r:id="rId45"/>
      <p:boldItalic r:id="rId46"/>
    </p:embeddedFont>
    <p:embeddedFont>
      <p:font typeface="Inter SemiBold" panose="020B0604020202020204" charset="0"/>
      <p:regular r:id="rId47"/>
      <p:bold r:id="rId48"/>
      <p:italic r:id="rId49"/>
      <p:boldItalic r:id="rId50"/>
    </p:embeddedFont>
    <p:embeddedFont>
      <p:font typeface="Urbanist" panose="020B0604020202020204" charset="-94"/>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kir yılmaz" userId="c94af61604a1d18d" providerId="LiveId" clId="{78DC7526-0E1B-4483-BCCB-621D2E699C3C}"/>
    <pc:docChg chg="undo custSel addSld modSld">
      <pc:chgData name="bekir yılmaz" userId="c94af61604a1d18d" providerId="LiveId" clId="{78DC7526-0E1B-4483-BCCB-621D2E699C3C}" dt="2026-05-19T23:55:17.950" v="13" actId="207"/>
      <pc:docMkLst>
        <pc:docMk/>
      </pc:docMkLst>
      <pc:sldChg chg="modSp mod">
        <pc:chgData name="bekir yılmaz" userId="c94af61604a1d18d" providerId="LiveId" clId="{78DC7526-0E1B-4483-BCCB-621D2E699C3C}" dt="2026-05-19T23:55:17.950" v="13" actId="207"/>
        <pc:sldMkLst>
          <pc:docMk/>
          <pc:sldMk cId="0" sldId="256"/>
        </pc:sldMkLst>
        <pc:spChg chg="mod">
          <ac:chgData name="bekir yılmaz" userId="c94af61604a1d18d" providerId="LiveId" clId="{78DC7526-0E1B-4483-BCCB-621D2E699C3C}" dt="2026-05-19T23:55:17.950" v="13" actId="207"/>
          <ac:spMkLst>
            <pc:docMk/>
            <pc:sldMk cId="0" sldId="256"/>
            <ac:spMk id="86" creationId="{00000000-0000-0000-0000-000000000000}"/>
          </ac:spMkLst>
        </pc:spChg>
      </pc:sldChg>
      <pc:sldChg chg="addSp delSp modSp new mod">
        <pc:chgData name="bekir yılmaz" userId="c94af61604a1d18d" providerId="LiveId" clId="{78DC7526-0E1B-4483-BCCB-621D2E699C3C}" dt="2026-05-19T23:54:17.774" v="11" actId="14100"/>
        <pc:sldMkLst>
          <pc:docMk/>
          <pc:sldMk cId="1109759304" sldId="293"/>
        </pc:sldMkLst>
        <pc:spChg chg="add del">
          <ac:chgData name="bekir yılmaz" userId="c94af61604a1d18d" providerId="LiveId" clId="{78DC7526-0E1B-4483-BCCB-621D2E699C3C}" dt="2026-05-19T23:53:22.093" v="2" actId="22"/>
          <ac:spMkLst>
            <pc:docMk/>
            <pc:sldMk cId="1109759304" sldId="293"/>
            <ac:spMk id="5" creationId="{7D8375D8-9AC9-02BD-80F9-548BEE8512CC}"/>
          </ac:spMkLst>
        </pc:spChg>
        <pc:picChg chg="add mod">
          <ac:chgData name="bekir yılmaz" userId="c94af61604a1d18d" providerId="LiveId" clId="{78DC7526-0E1B-4483-BCCB-621D2E699C3C}" dt="2026-05-19T23:54:17.774" v="11" actId="14100"/>
          <ac:picMkLst>
            <pc:docMk/>
            <pc:sldMk cId="1109759304" sldId="293"/>
            <ac:picMk id="7" creationId="{B7170735-CF44-16C8-E76F-862DE2EE5E4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e2ffde869c_0_385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e2ffde869c_0_3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e2ffde869c_0_127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e2ffde869c_0_1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e2ffde869c_0_146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e2ffde869c_0_1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e2ffde869c_0_16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e2ffde869c_0_1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e2ffde869c_0_18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e2ffde869c_0_18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e2ffde869c_0_20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e2ffde869c_0_20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e2ffde869c_0_40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e2ffde869c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e2ffde869c_0_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e2ffde869c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e2ffde869c_0_219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e2ffde869c_0_2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e2ffde869c_0_23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e2ffde869c_0_23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e2ffde869c_0_260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3e2ffde869c_0_26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e2ffde869c_0_33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3e2ffde869c_0_3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e2ffde869c_0_4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3e2ffde869c_0_4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e2ffde869c_0_55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3e2ffde869c_0_55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e2ffde869c_0_48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3e2ffde869c_0_48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e2ffde869c_0_59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3e2ffde869c_0_59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3e2ffde869c_0_6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3e2ffde869c_0_6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3e2ffde869c_0_6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3e2ffde869c_0_6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3e2ffde869c_0_65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3e2ffde869c_0_65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3e2ffde869c_0_68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3e2ffde869c_0_68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e2ffde869c_0_70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9" name="Google Shape;689;g3e2ffde869c_0_70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3e2ffde869c_0_87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3e2ffde869c_0_87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3e2ffde869c_0_96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3e2ffde869c_0_96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3e2ffde869c_0_98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3e2ffde869c_0_98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3e2ffde869c_0_9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3e2ffde869c_0_9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3e2ffde869c_0_9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9" name="Google Shape;789;g3e2ffde869c_0_9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3e2ffde869c_0_10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5" name="Google Shape;805;g3e2ffde869c_0_10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3e2ffde869c_0_100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8" name="Google Shape;818;g3e2ffde869c_0_100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3e2ffde869c_0_9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3e2ffde869c_0_94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g3e309e834c5_7_0)">
  <p:cSld name="Generated (g3e309e834c5_7_0)">
    <p:spTree>
      <p:nvGrpSpPr>
        <p:cNvPr id="1"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28.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9.jp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0.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jp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35.jp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36.jp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37.jp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39.jp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40.jp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43.jpg"/><Relationship Id="rId5" Type="http://schemas.openxmlformats.org/officeDocument/2006/relationships/image" Target="../media/image42.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44.jp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47.jpg"/><Relationship Id="rId5" Type="http://schemas.openxmlformats.org/officeDocument/2006/relationships/image" Target="../media/image46.pn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48.jp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49.jp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50.jp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51.jpg"/></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52.jp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54.jpg"/><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12.xml"/><Relationship Id="rId5" Type="http://schemas.openxmlformats.org/officeDocument/2006/relationships/image" Target="../media/image56.jpg"/><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58.jp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84"/>
        <p:cNvGrpSpPr/>
        <p:nvPr/>
      </p:nvGrpSpPr>
      <p:grpSpPr>
        <a:xfrm>
          <a:off x="0" y="0"/>
          <a:ext cx="0" cy="0"/>
          <a:chOff x="0" y="0"/>
          <a:chExt cx="0" cy="0"/>
        </a:xfrm>
      </p:grpSpPr>
      <p:pic>
        <p:nvPicPr>
          <p:cNvPr id="85" name="Google Shape;85;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6" name="Google Shape;86;p14"/>
          <p:cNvSpPr/>
          <p:nvPr/>
        </p:nvSpPr>
        <p:spPr>
          <a:xfrm>
            <a:off x="9450" y="9450"/>
            <a:ext cx="12173100" cy="6839100"/>
          </a:xfrm>
          <a:prstGeom prst="rect">
            <a:avLst/>
          </a:prstGeom>
          <a:solidFill>
            <a:schemeClr val="bg2">
              <a:lumMod val="5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4"/>
          <p:cNvSpPr txBox="1"/>
          <p:nvPr/>
        </p:nvSpPr>
        <p:spPr>
          <a:xfrm>
            <a:off x="1340718" y="1881515"/>
            <a:ext cx="9311100" cy="1662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a:solidFill>
                  <a:schemeClr val="lt2"/>
                </a:solidFill>
                <a:latin typeface="Urbanist"/>
                <a:ea typeface="Urbanist"/>
                <a:cs typeface="Urbanist"/>
                <a:sym typeface="Urbanist"/>
              </a:rPr>
              <a:t>CNN ile Göz Hastalıkları Teşhisi</a:t>
            </a:r>
            <a:endParaRPr>
              <a:solidFill>
                <a:schemeClr val="lt2"/>
              </a:solidFill>
            </a:endParaRPr>
          </a:p>
        </p:txBody>
      </p:sp>
      <p:sp>
        <p:nvSpPr>
          <p:cNvPr id="88" name="Google Shape;88;p14"/>
          <p:cNvSpPr txBox="1"/>
          <p:nvPr/>
        </p:nvSpPr>
        <p:spPr>
          <a:xfrm>
            <a:off x="1784137" y="4368790"/>
            <a:ext cx="8867700" cy="27720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solidFill>
                  <a:srgbClr val="94A3B8"/>
                </a:solidFill>
                <a:latin typeface="Inter"/>
                <a:ea typeface="Inter"/>
                <a:cs typeface="Inter"/>
                <a:sym typeface="Inter"/>
              </a:rPr>
              <a:t>ODIR-5K Veri Seti </a:t>
            </a:r>
            <a:r>
              <a:rPr lang="en-US" sz="1800" b="0" i="0" u="none" strike="noStrike" cap="none" dirty="0" err="1">
                <a:solidFill>
                  <a:srgbClr val="94A3B8"/>
                </a:solidFill>
                <a:latin typeface="Inter"/>
                <a:ea typeface="Inter"/>
                <a:cs typeface="Inter"/>
                <a:sym typeface="Inter"/>
              </a:rPr>
              <a:t>Üzerinde</a:t>
            </a:r>
            <a:r>
              <a:rPr lang="en-US" sz="1800" b="0" i="0" u="none" strike="noStrike" cap="none">
                <a:solidFill>
                  <a:srgbClr val="94A3B8"/>
                </a:solidFill>
                <a:latin typeface="Inter"/>
                <a:ea typeface="Inter"/>
                <a:cs typeface="Inter"/>
                <a:sym typeface="Inter"/>
              </a:rPr>
              <a:t> Derin </a:t>
            </a:r>
            <a:r>
              <a:rPr lang="en-US" sz="1800" b="0" i="0" u="none" strike="noStrike" cap="none" dirty="0" err="1">
                <a:solidFill>
                  <a:srgbClr val="94A3B8"/>
                </a:solidFill>
                <a:latin typeface="Inter"/>
                <a:ea typeface="Inter"/>
                <a:cs typeface="Inter"/>
                <a:sym typeface="Inter"/>
              </a:rPr>
              <a:t>Öğrenme</a:t>
            </a:r>
            <a:r>
              <a:rPr lang="en-US" sz="1800" b="0" i="0" u="none" strike="noStrike" cap="none" dirty="0">
                <a:solidFill>
                  <a:srgbClr val="94A3B8"/>
                </a:solidFill>
                <a:latin typeface="Inter"/>
                <a:ea typeface="Inter"/>
                <a:cs typeface="Inter"/>
                <a:sym typeface="Inter"/>
              </a:rPr>
              <a:t> </a:t>
            </a:r>
            <a:r>
              <a:rPr lang="en-US" sz="1800" b="0" i="0" u="none" strike="noStrike" cap="none" dirty="0" err="1">
                <a:solidFill>
                  <a:srgbClr val="94A3B8"/>
                </a:solidFill>
                <a:latin typeface="Inter"/>
                <a:ea typeface="Inter"/>
                <a:cs typeface="Inter"/>
                <a:sym typeface="Inter"/>
              </a:rPr>
              <a:t>Yaklaşımı</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92"/>
        <p:cNvGrpSpPr/>
        <p:nvPr/>
      </p:nvGrpSpPr>
      <p:grpSpPr>
        <a:xfrm>
          <a:off x="0" y="0"/>
          <a:ext cx="0" cy="0"/>
          <a:chOff x="0" y="0"/>
          <a:chExt cx="0" cy="0"/>
        </a:xfrm>
      </p:grpSpPr>
      <p:pic>
        <p:nvPicPr>
          <p:cNvPr id="93" name="Google Shape;93;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5" descr="image.png"/>
          <p:cNvPicPr preferRelativeResize="0"/>
          <p:nvPr/>
        </p:nvPicPr>
        <p:blipFill rotWithShape="1">
          <a:blip r:embed="rId4">
            <a:alphaModFix/>
          </a:blip>
          <a:srcRect/>
          <a:stretch/>
        </p:blipFill>
        <p:spPr>
          <a:xfrm>
            <a:off x="6334125" y="1957387"/>
            <a:ext cx="5276850" cy="3810000"/>
          </a:xfrm>
          <a:prstGeom prst="rect">
            <a:avLst/>
          </a:prstGeom>
          <a:noFill/>
          <a:ln>
            <a:noFill/>
          </a:ln>
        </p:spPr>
      </p:pic>
      <p:sp>
        <p:nvSpPr>
          <p:cNvPr id="95" name="Google Shape;95;p15"/>
          <p:cNvSpPr txBox="1"/>
          <p:nvPr/>
        </p:nvSpPr>
        <p:spPr>
          <a:xfrm>
            <a:off x="581025" y="1760650"/>
            <a:ext cx="5257800" cy="30408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490">
                <a:solidFill>
                  <a:schemeClr val="lt2"/>
                </a:solidFill>
                <a:latin typeface="Inter"/>
                <a:ea typeface="Inter"/>
                <a:cs typeface="Inter"/>
                <a:sym typeface="Inter"/>
              </a:rPr>
              <a:t>Bu çalışmanın temel amacı, hastaların fundus göz resimlerinden </a:t>
            </a:r>
            <a:r>
              <a:rPr lang="en-US" sz="1490" b="1">
                <a:solidFill>
                  <a:schemeClr val="lt2"/>
                </a:solidFill>
                <a:latin typeface="Inter"/>
                <a:ea typeface="Inter"/>
                <a:cs typeface="Inter"/>
                <a:sym typeface="Inter"/>
              </a:rPr>
              <a:t>aynı anda sahip olabilecekleri birden fazla göz hastalığını eş zamanlı ve otomatik olarak tespit edebilen</a:t>
            </a:r>
            <a:r>
              <a:rPr lang="en-US" sz="1490">
                <a:solidFill>
                  <a:schemeClr val="lt2"/>
                </a:solidFill>
                <a:latin typeface="Inter"/>
                <a:ea typeface="Inter"/>
                <a:cs typeface="Inter"/>
                <a:sym typeface="Inter"/>
              </a:rPr>
              <a:t>, yüksek doğruluklu bir çoklu etiketli (multi-label) CNN modeli geliştirmektir.</a:t>
            </a:r>
            <a:endParaRPr sz="1490">
              <a:solidFill>
                <a:schemeClr val="lt2"/>
              </a:solidFill>
              <a:latin typeface="Inter"/>
              <a:ea typeface="Inter"/>
              <a:cs typeface="Inter"/>
              <a:sym typeface="Inter"/>
            </a:endParaRPr>
          </a:p>
          <a:p>
            <a:pPr marL="0" lvl="0" indent="0" algn="l" rtl="0">
              <a:spcBef>
                <a:spcPts val="1125"/>
              </a:spcBef>
              <a:spcAft>
                <a:spcPts val="0"/>
              </a:spcAft>
              <a:buNone/>
            </a:pPr>
            <a:endParaRPr sz="1490">
              <a:solidFill>
                <a:schemeClr val="lt2"/>
              </a:solidFill>
              <a:latin typeface="Inter"/>
              <a:ea typeface="Inter"/>
              <a:cs typeface="Inter"/>
              <a:sym typeface="Inter"/>
            </a:endParaRPr>
          </a:p>
          <a:p>
            <a:pPr marL="0" lvl="0" indent="0" algn="l" rtl="0">
              <a:spcBef>
                <a:spcPts val="1125"/>
              </a:spcBef>
              <a:spcAft>
                <a:spcPts val="0"/>
              </a:spcAft>
              <a:buNone/>
            </a:pPr>
            <a:r>
              <a:rPr lang="en-US" sz="1490">
                <a:solidFill>
                  <a:schemeClr val="lt2"/>
                </a:solidFill>
                <a:latin typeface="Inter"/>
                <a:ea typeface="Inter"/>
                <a:cs typeface="Inter"/>
                <a:sym typeface="Inter"/>
              </a:rPr>
              <a:t>Geleneksel tek etiketli sınıflandırma modellerinin aksine bu yaklaşım, medikal gerçekliğe uygun olarak bir hastanın retinasında hem katarakt hem de diyabetik retinopati gibi farklı patolojilerin bir arada bulunma durumunu bağımsız olarak analiz edip her bir hastalık için ayrı olasılık skorları üretmeyi hedefler.</a:t>
            </a:r>
            <a:endParaRPr sz="1490">
              <a:solidFill>
                <a:schemeClr val="lt2"/>
              </a:solidFill>
              <a:latin typeface="Inter"/>
              <a:ea typeface="Inter"/>
              <a:cs typeface="Inter"/>
              <a:sym typeface="Inter"/>
            </a:endParaRPr>
          </a:p>
        </p:txBody>
      </p:sp>
      <p:pic>
        <p:nvPicPr>
          <p:cNvPr id="96" name="Google Shape;96;p15" descr="image.png"/>
          <p:cNvPicPr preferRelativeResize="0"/>
          <p:nvPr/>
        </p:nvPicPr>
        <p:blipFill rotWithShape="1">
          <a:blip r:embed="rId5">
            <a:alphaModFix/>
          </a:blip>
          <a:srcRect/>
          <a:stretch/>
        </p:blipFill>
        <p:spPr>
          <a:xfrm>
            <a:off x="6343650" y="1966912"/>
            <a:ext cx="5257799" cy="3790950"/>
          </a:xfrm>
          <a:prstGeom prst="rect">
            <a:avLst/>
          </a:prstGeom>
          <a:noFill/>
          <a:ln>
            <a:noFill/>
          </a:ln>
        </p:spPr>
      </p:pic>
      <p:sp>
        <p:nvSpPr>
          <p:cNvPr id="97" name="Google Shape;97;p15"/>
          <p:cNvSpPr txBox="1"/>
          <p:nvPr/>
        </p:nvSpPr>
        <p:spPr>
          <a:xfrm>
            <a:off x="771525" y="581025"/>
            <a:ext cx="1138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60A5FA"/>
                </a:solidFill>
                <a:latin typeface="Urbanist"/>
                <a:ea typeface="Urbanist"/>
                <a:cs typeface="Urbanist"/>
                <a:sym typeface="Urbanist"/>
              </a:rPr>
              <a:t>Proje Tanımı ve Amaç</a:t>
            </a:r>
            <a:endParaRPr/>
          </a:p>
        </p:txBody>
      </p:sp>
      <p:sp>
        <p:nvSpPr>
          <p:cNvPr id="98" name="Google Shape;98;p15"/>
          <p:cNvSpPr/>
          <p:nvPr/>
        </p:nvSpPr>
        <p:spPr>
          <a:xfrm>
            <a:off x="581025" y="581025"/>
            <a:ext cx="57300" cy="485700"/>
          </a:xfrm>
          <a:prstGeom prst="rect">
            <a:avLst/>
          </a:prstGeom>
          <a:solidFill>
            <a:srgbClr val="60A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DC5E5CD-0727-022A-C909-F9247E0E9261}"/>
              </a:ext>
            </a:extLst>
          </p:cNvPr>
          <p:cNvSpPr>
            <a:spLocks noGrp="1"/>
          </p:cNvSpPr>
          <p:nvPr>
            <p:ph type="ctrTitle"/>
          </p:nvPr>
        </p:nvSpPr>
        <p:spPr/>
        <p:txBody>
          <a:bodyPr/>
          <a:lstStyle/>
          <a:p>
            <a:endParaRPr lang="tr-TR"/>
          </a:p>
        </p:txBody>
      </p:sp>
      <p:sp>
        <p:nvSpPr>
          <p:cNvPr id="3" name="Alt Başlık 2">
            <a:extLst>
              <a:ext uri="{FF2B5EF4-FFF2-40B4-BE49-F238E27FC236}">
                <a16:creationId xmlns:a16="http://schemas.microsoft.com/office/drawing/2014/main" id="{199B517D-D73E-7F6A-3202-F4F0C460F6ED}"/>
              </a:ext>
            </a:extLst>
          </p:cNvPr>
          <p:cNvSpPr>
            <a:spLocks noGrp="1"/>
          </p:cNvSpPr>
          <p:nvPr>
            <p:ph type="subTitle" idx="1"/>
          </p:nvPr>
        </p:nvSpPr>
        <p:spPr/>
        <p:txBody>
          <a:bodyPr/>
          <a:lstStyle/>
          <a:p>
            <a:endParaRPr lang="tr-TR"/>
          </a:p>
        </p:txBody>
      </p:sp>
      <p:pic>
        <p:nvPicPr>
          <p:cNvPr id="7" name="Resim 6">
            <a:extLst>
              <a:ext uri="{FF2B5EF4-FFF2-40B4-BE49-F238E27FC236}">
                <a16:creationId xmlns:a16="http://schemas.microsoft.com/office/drawing/2014/main" id="{B7170735-CF44-16C8-E76F-862DE2EE5E4F}"/>
              </a:ext>
            </a:extLst>
          </p:cNvPr>
          <p:cNvPicPr>
            <a:picLocks noChangeAspect="1"/>
          </p:cNvPicPr>
          <p:nvPr/>
        </p:nvPicPr>
        <p:blipFill>
          <a:blip r:embed="rId2"/>
          <a:stretch>
            <a:fillRect/>
          </a:stretch>
        </p:blipFill>
        <p:spPr>
          <a:xfrm>
            <a:off x="-76199" y="-97971"/>
            <a:ext cx="12268200" cy="7043057"/>
          </a:xfrm>
          <a:prstGeom prst="rect">
            <a:avLst/>
          </a:prstGeom>
        </p:spPr>
      </p:pic>
    </p:spTree>
    <p:extLst>
      <p:ext uri="{BB962C8B-B14F-4D97-AF65-F5344CB8AC3E}">
        <p14:creationId xmlns:p14="http://schemas.microsoft.com/office/powerpoint/2010/main" val="1109759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02"/>
        <p:cNvGrpSpPr/>
        <p:nvPr/>
      </p:nvGrpSpPr>
      <p:grpSpPr>
        <a:xfrm>
          <a:off x="0" y="0"/>
          <a:ext cx="0" cy="0"/>
          <a:chOff x="0" y="0"/>
          <a:chExt cx="0" cy="0"/>
        </a:xfrm>
      </p:grpSpPr>
      <p:pic>
        <p:nvPicPr>
          <p:cNvPr id="103" name="Google Shape;103;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4" name="Google Shape;104;p16" descr="image.png"/>
          <p:cNvPicPr preferRelativeResize="0"/>
          <p:nvPr/>
        </p:nvPicPr>
        <p:blipFill rotWithShape="1">
          <a:blip r:embed="rId4">
            <a:alphaModFix/>
          </a:blip>
          <a:srcRect/>
          <a:stretch/>
        </p:blipFill>
        <p:spPr>
          <a:xfrm>
            <a:off x="581025" y="1904107"/>
            <a:ext cx="2614612" cy="1863030"/>
          </a:xfrm>
          <a:prstGeom prst="rect">
            <a:avLst/>
          </a:prstGeom>
          <a:noFill/>
          <a:ln>
            <a:noFill/>
          </a:ln>
        </p:spPr>
      </p:pic>
      <p:pic>
        <p:nvPicPr>
          <p:cNvPr id="105" name="Google Shape;105;p16" descr="image.png"/>
          <p:cNvPicPr preferRelativeResize="0"/>
          <p:nvPr/>
        </p:nvPicPr>
        <p:blipFill rotWithShape="1">
          <a:blip r:embed="rId4">
            <a:alphaModFix/>
          </a:blip>
          <a:srcRect/>
          <a:stretch/>
        </p:blipFill>
        <p:spPr>
          <a:xfrm>
            <a:off x="3386137" y="1904107"/>
            <a:ext cx="2614612" cy="1863030"/>
          </a:xfrm>
          <a:prstGeom prst="rect">
            <a:avLst/>
          </a:prstGeom>
          <a:noFill/>
          <a:ln>
            <a:noFill/>
          </a:ln>
        </p:spPr>
      </p:pic>
      <p:pic>
        <p:nvPicPr>
          <p:cNvPr id="106" name="Google Shape;106;p16" descr="image.png"/>
          <p:cNvPicPr preferRelativeResize="0"/>
          <p:nvPr/>
        </p:nvPicPr>
        <p:blipFill rotWithShape="1">
          <a:blip r:embed="rId4">
            <a:alphaModFix/>
          </a:blip>
          <a:srcRect/>
          <a:stretch/>
        </p:blipFill>
        <p:spPr>
          <a:xfrm>
            <a:off x="6191250" y="1904107"/>
            <a:ext cx="2614612" cy="1863030"/>
          </a:xfrm>
          <a:prstGeom prst="rect">
            <a:avLst/>
          </a:prstGeom>
          <a:noFill/>
          <a:ln>
            <a:noFill/>
          </a:ln>
        </p:spPr>
      </p:pic>
      <p:pic>
        <p:nvPicPr>
          <p:cNvPr id="107" name="Google Shape;107;p16" descr="image.png"/>
          <p:cNvPicPr preferRelativeResize="0"/>
          <p:nvPr/>
        </p:nvPicPr>
        <p:blipFill rotWithShape="1">
          <a:blip r:embed="rId4">
            <a:alphaModFix/>
          </a:blip>
          <a:srcRect/>
          <a:stretch/>
        </p:blipFill>
        <p:spPr>
          <a:xfrm>
            <a:off x="8996362" y="1904107"/>
            <a:ext cx="2614612" cy="1863030"/>
          </a:xfrm>
          <a:prstGeom prst="rect">
            <a:avLst/>
          </a:prstGeom>
          <a:noFill/>
          <a:ln>
            <a:noFill/>
          </a:ln>
        </p:spPr>
      </p:pic>
      <p:pic>
        <p:nvPicPr>
          <p:cNvPr id="108" name="Google Shape;108;p16" descr="image.png"/>
          <p:cNvPicPr preferRelativeResize="0"/>
          <p:nvPr/>
        </p:nvPicPr>
        <p:blipFill rotWithShape="1">
          <a:blip r:embed="rId5">
            <a:alphaModFix/>
          </a:blip>
          <a:srcRect/>
          <a:stretch/>
        </p:blipFill>
        <p:spPr>
          <a:xfrm>
            <a:off x="581025" y="3957637"/>
            <a:ext cx="2614612" cy="1863030"/>
          </a:xfrm>
          <a:prstGeom prst="rect">
            <a:avLst/>
          </a:prstGeom>
          <a:noFill/>
          <a:ln>
            <a:noFill/>
          </a:ln>
        </p:spPr>
      </p:pic>
      <p:pic>
        <p:nvPicPr>
          <p:cNvPr id="109" name="Google Shape;109;p16" descr="image.png"/>
          <p:cNvPicPr preferRelativeResize="0"/>
          <p:nvPr/>
        </p:nvPicPr>
        <p:blipFill rotWithShape="1">
          <a:blip r:embed="rId5">
            <a:alphaModFix/>
          </a:blip>
          <a:srcRect/>
          <a:stretch/>
        </p:blipFill>
        <p:spPr>
          <a:xfrm>
            <a:off x="3386137" y="3957637"/>
            <a:ext cx="2614612" cy="1863030"/>
          </a:xfrm>
          <a:prstGeom prst="rect">
            <a:avLst/>
          </a:prstGeom>
          <a:noFill/>
          <a:ln>
            <a:noFill/>
          </a:ln>
        </p:spPr>
      </p:pic>
      <p:pic>
        <p:nvPicPr>
          <p:cNvPr id="110" name="Google Shape;110;p16" descr="image.png"/>
          <p:cNvPicPr preferRelativeResize="0"/>
          <p:nvPr/>
        </p:nvPicPr>
        <p:blipFill rotWithShape="1">
          <a:blip r:embed="rId5">
            <a:alphaModFix/>
          </a:blip>
          <a:srcRect/>
          <a:stretch/>
        </p:blipFill>
        <p:spPr>
          <a:xfrm>
            <a:off x="6191250" y="3957637"/>
            <a:ext cx="2614612" cy="1863030"/>
          </a:xfrm>
          <a:prstGeom prst="rect">
            <a:avLst/>
          </a:prstGeom>
          <a:noFill/>
          <a:ln>
            <a:noFill/>
          </a:ln>
        </p:spPr>
      </p:pic>
      <p:pic>
        <p:nvPicPr>
          <p:cNvPr id="111" name="Google Shape;111;p16" descr="image.png"/>
          <p:cNvPicPr preferRelativeResize="0"/>
          <p:nvPr/>
        </p:nvPicPr>
        <p:blipFill rotWithShape="1">
          <a:blip r:embed="rId5">
            <a:alphaModFix/>
          </a:blip>
          <a:srcRect/>
          <a:stretch/>
        </p:blipFill>
        <p:spPr>
          <a:xfrm>
            <a:off x="8996362" y="3957637"/>
            <a:ext cx="2614612" cy="1863030"/>
          </a:xfrm>
          <a:prstGeom prst="rect">
            <a:avLst/>
          </a:prstGeom>
          <a:noFill/>
          <a:ln>
            <a:noFill/>
          </a:ln>
        </p:spPr>
      </p:pic>
      <p:sp>
        <p:nvSpPr>
          <p:cNvPr id="112" name="Google Shape;112;p16"/>
          <p:cNvSpPr txBox="1"/>
          <p:nvPr/>
        </p:nvSpPr>
        <p:spPr>
          <a:xfrm>
            <a:off x="825698" y="2856607"/>
            <a:ext cx="212526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F8FAFC"/>
                </a:solidFill>
                <a:latin typeface="Urbanist"/>
                <a:ea typeface="Urbanist"/>
                <a:cs typeface="Urbanist"/>
                <a:sym typeface="Urbanist"/>
              </a:rPr>
              <a:t>Normal (N)</a:t>
            </a:r>
            <a:endParaRPr/>
          </a:p>
        </p:txBody>
      </p:sp>
      <p:sp>
        <p:nvSpPr>
          <p:cNvPr id="113" name="Google Shape;113;p16"/>
          <p:cNvSpPr txBox="1"/>
          <p:nvPr/>
        </p:nvSpPr>
        <p:spPr>
          <a:xfrm>
            <a:off x="876300" y="3228082"/>
            <a:ext cx="2024062"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Sağlıklı göz yapısı</a:t>
            </a:r>
            <a:endParaRPr/>
          </a:p>
        </p:txBody>
      </p:sp>
      <p:sp>
        <p:nvSpPr>
          <p:cNvPr id="114" name="Google Shape;114;p16"/>
          <p:cNvSpPr txBox="1"/>
          <p:nvPr/>
        </p:nvSpPr>
        <p:spPr>
          <a:xfrm>
            <a:off x="3630810" y="2856607"/>
            <a:ext cx="212526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F8FAFC"/>
                </a:solidFill>
                <a:latin typeface="Urbanist"/>
                <a:ea typeface="Urbanist"/>
                <a:cs typeface="Urbanist"/>
                <a:sym typeface="Urbanist"/>
              </a:rPr>
              <a:t>Diyabet (D)</a:t>
            </a:r>
            <a:endParaRPr/>
          </a:p>
        </p:txBody>
      </p:sp>
      <p:sp>
        <p:nvSpPr>
          <p:cNvPr id="115" name="Google Shape;115;p16"/>
          <p:cNvSpPr txBox="1"/>
          <p:nvPr/>
        </p:nvSpPr>
        <p:spPr>
          <a:xfrm>
            <a:off x="3681412" y="3228082"/>
            <a:ext cx="2024062"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Diyabetik Retinopati</a:t>
            </a:r>
            <a:endParaRPr/>
          </a:p>
        </p:txBody>
      </p:sp>
      <p:sp>
        <p:nvSpPr>
          <p:cNvPr id="116" name="Google Shape;116;p16"/>
          <p:cNvSpPr txBox="1"/>
          <p:nvPr/>
        </p:nvSpPr>
        <p:spPr>
          <a:xfrm>
            <a:off x="6435923" y="2856607"/>
            <a:ext cx="212526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F8FAFC"/>
                </a:solidFill>
                <a:latin typeface="Urbanist"/>
                <a:ea typeface="Urbanist"/>
                <a:cs typeface="Urbanist"/>
                <a:sym typeface="Urbanist"/>
              </a:rPr>
              <a:t>Glokom (G)</a:t>
            </a:r>
            <a:endParaRPr/>
          </a:p>
        </p:txBody>
      </p:sp>
      <p:sp>
        <p:nvSpPr>
          <p:cNvPr id="117" name="Google Shape;117;p16"/>
          <p:cNvSpPr txBox="1"/>
          <p:nvPr/>
        </p:nvSpPr>
        <p:spPr>
          <a:xfrm>
            <a:off x="6486525" y="3228082"/>
            <a:ext cx="2024062"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Göz tansiyonu</a:t>
            </a:r>
            <a:endParaRPr/>
          </a:p>
        </p:txBody>
      </p:sp>
      <p:sp>
        <p:nvSpPr>
          <p:cNvPr id="118" name="Google Shape;118;p16"/>
          <p:cNvSpPr txBox="1"/>
          <p:nvPr/>
        </p:nvSpPr>
        <p:spPr>
          <a:xfrm>
            <a:off x="9241035" y="2856607"/>
            <a:ext cx="212526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F8FAFC"/>
                </a:solidFill>
                <a:latin typeface="Urbanist"/>
                <a:ea typeface="Urbanist"/>
                <a:cs typeface="Urbanist"/>
                <a:sym typeface="Urbanist"/>
              </a:rPr>
              <a:t>Katarakt (C)</a:t>
            </a:r>
            <a:endParaRPr/>
          </a:p>
        </p:txBody>
      </p:sp>
      <p:sp>
        <p:nvSpPr>
          <p:cNvPr id="119" name="Google Shape;119;p16"/>
          <p:cNvSpPr txBox="1"/>
          <p:nvPr/>
        </p:nvSpPr>
        <p:spPr>
          <a:xfrm>
            <a:off x="9291637" y="3228082"/>
            <a:ext cx="2024062"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Lens bulanıklığı</a:t>
            </a:r>
            <a:endParaRPr/>
          </a:p>
        </p:txBody>
      </p:sp>
      <p:sp>
        <p:nvSpPr>
          <p:cNvPr id="120" name="Google Shape;120;p16"/>
          <p:cNvSpPr txBox="1"/>
          <p:nvPr/>
        </p:nvSpPr>
        <p:spPr>
          <a:xfrm>
            <a:off x="825698" y="4910137"/>
            <a:ext cx="212526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F8FAFC"/>
                </a:solidFill>
                <a:latin typeface="Urbanist"/>
                <a:ea typeface="Urbanist"/>
                <a:cs typeface="Urbanist"/>
                <a:sym typeface="Urbanist"/>
              </a:rPr>
              <a:t>AMD (A)</a:t>
            </a:r>
            <a:endParaRPr/>
          </a:p>
        </p:txBody>
      </p:sp>
      <p:sp>
        <p:nvSpPr>
          <p:cNvPr id="121" name="Google Shape;121;p16"/>
          <p:cNvSpPr txBox="1"/>
          <p:nvPr/>
        </p:nvSpPr>
        <p:spPr>
          <a:xfrm>
            <a:off x="876300" y="5281612"/>
            <a:ext cx="2024062"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Makula Dejenerasyonu</a:t>
            </a:r>
            <a:endParaRPr/>
          </a:p>
        </p:txBody>
      </p:sp>
      <p:sp>
        <p:nvSpPr>
          <p:cNvPr id="122" name="Google Shape;122;p16"/>
          <p:cNvSpPr txBox="1"/>
          <p:nvPr/>
        </p:nvSpPr>
        <p:spPr>
          <a:xfrm>
            <a:off x="3630810" y="4910137"/>
            <a:ext cx="212526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F8FAFC"/>
                </a:solidFill>
                <a:latin typeface="Urbanist"/>
                <a:ea typeface="Urbanist"/>
                <a:cs typeface="Urbanist"/>
                <a:sym typeface="Urbanist"/>
              </a:rPr>
              <a:t>Hipertansiyon (H)</a:t>
            </a:r>
            <a:endParaRPr/>
          </a:p>
        </p:txBody>
      </p:sp>
      <p:sp>
        <p:nvSpPr>
          <p:cNvPr id="123" name="Google Shape;123;p16"/>
          <p:cNvSpPr txBox="1"/>
          <p:nvPr/>
        </p:nvSpPr>
        <p:spPr>
          <a:xfrm>
            <a:off x="3681412" y="5281612"/>
            <a:ext cx="2024062"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Vasküler hasar</a:t>
            </a:r>
            <a:endParaRPr/>
          </a:p>
        </p:txBody>
      </p:sp>
      <p:sp>
        <p:nvSpPr>
          <p:cNvPr id="124" name="Google Shape;124;p16"/>
          <p:cNvSpPr txBox="1"/>
          <p:nvPr/>
        </p:nvSpPr>
        <p:spPr>
          <a:xfrm>
            <a:off x="6435923" y="4910137"/>
            <a:ext cx="212526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F8FAFC"/>
                </a:solidFill>
                <a:latin typeface="Urbanist"/>
                <a:ea typeface="Urbanist"/>
                <a:cs typeface="Urbanist"/>
                <a:sym typeface="Urbanist"/>
              </a:rPr>
              <a:t>Miyopi (M)</a:t>
            </a:r>
            <a:endParaRPr/>
          </a:p>
        </p:txBody>
      </p:sp>
      <p:sp>
        <p:nvSpPr>
          <p:cNvPr id="125" name="Google Shape;125;p16"/>
          <p:cNvSpPr txBox="1"/>
          <p:nvPr/>
        </p:nvSpPr>
        <p:spPr>
          <a:xfrm>
            <a:off x="6486525" y="5281612"/>
            <a:ext cx="2024062"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Patolojik miyopi</a:t>
            </a:r>
            <a:endParaRPr/>
          </a:p>
        </p:txBody>
      </p:sp>
      <p:sp>
        <p:nvSpPr>
          <p:cNvPr id="126" name="Google Shape;126;p16"/>
          <p:cNvSpPr txBox="1"/>
          <p:nvPr/>
        </p:nvSpPr>
        <p:spPr>
          <a:xfrm>
            <a:off x="9241035" y="4910137"/>
            <a:ext cx="212526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F8FAFC"/>
                </a:solidFill>
                <a:latin typeface="Urbanist"/>
                <a:ea typeface="Urbanist"/>
                <a:cs typeface="Urbanist"/>
                <a:sym typeface="Urbanist"/>
              </a:rPr>
              <a:t>Diğer (O)</a:t>
            </a:r>
            <a:endParaRPr/>
          </a:p>
        </p:txBody>
      </p:sp>
      <p:sp>
        <p:nvSpPr>
          <p:cNvPr id="127" name="Google Shape;127;p16"/>
          <p:cNvSpPr txBox="1"/>
          <p:nvPr/>
        </p:nvSpPr>
        <p:spPr>
          <a:xfrm>
            <a:off x="9291637" y="5281612"/>
            <a:ext cx="2024062"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Diğer anormallikler</a:t>
            </a:r>
            <a:endParaRPr/>
          </a:p>
        </p:txBody>
      </p:sp>
      <p:pic>
        <p:nvPicPr>
          <p:cNvPr id="128" name="Google Shape;128;p16" descr="image.png"/>
          <p:cNvPicPr preferRelativeResize="0"/>
          <p:nvPr/>
        </p:nvPicPr>
        <p:blipFill rotWithShape="1">
          <a:blip r:embed="rId6">
            <a:alphaModFix/>
          </a:blip>
          <a:srcRect/>
          <a:stretch/>
        </p:blipFill>
        <p:spPr>
          <a:xfrm>
            <a:off x="1674018" y="2237482"/>
            <a:ext cx="428625" cy="381000"/>
          </a:xfrm>
          <a:prstGeom prst="rect">
            <a:avLst/>
          </a:prstGeom>
          <a:noFill/>
          <a:ln>
            <a:noFill/>
          </a:ln>
        </p:spPr>
      </p:pic>
      <p:pic>
        <p:nvPicPr>
          <p:cNvPr id="129" name="Google Shape;129;p16" descr="image.png"/>
          <p:cNvPicPr preferRelativeResize="0"/>
          <p:nvPr/>
        </p:nvPicPr>
        <p:blipFill rotWithShape="1">
          <a:blip r:embed="rId7">
            <a:alphaModFix/>
          </a:blip>
          <a:srcRect/>
          <a:stretch/>
        </p:blipFill>
        <p:spPr>
          <a:xfrm>
            <a:off x="4550568" y="2237482"/>
            <a:ext cx="285750" cy="381000"/>
          </a:xfrm>
          <a:prstGeom prst="rect">
            <a:avLst/>
          </a:prstGeom>
          <a:noFill/>
          <a:ln>
            <a:noFill/>
          </a:ln>
        </p:spPr>
      </p:pic>
      <p:pic>
        <p:nvPicPr>
          <p:cNvPr id="130" name="Google Shape;130;p16" descr="image.png"/>
          <p:cNvPicPr preferRelativeResize="0"/>
          <p:nvPr/>
        </p:nvPicPr>
        <p:blipFill rotWithShape="1">
          <a:blip r:embed="rId8">
            <a:alphaModFix/>
          </a:blip>
          <a:srcRect/>
          <a:stretch/>
        </p:blipFill>
        <p:spPr>
          <a:xfrm>
            <a:off x="7260431" y="2237482"/>
            <a:ext cx="476250" cy="381000"/>
          </a:xfrm>
          <a:prstGeom prst="rect">
            <a:avLst/>
          </a:prstGeom>
          <a:noFill/>
          <a:ln>
            <a:noFill/>
          </a:ln>
        </p:spPr>
      </p:pic>
      <p:pic>
        <p:nvPicPr>
          <p:cNvPr id="131" name="Google Shape;131;p16" descr="image.png"/>
          <p:cNvPicPr preferRelativeResize="0"/>
          <p:nvPr/>
        </p:nvPicPr>
        <p:blipFill rotWithShape="1">
          <a:blip r:embed="rId9">
            <a:alphaModFix/>
          </a:blip>
          <a:srcRect/>
          <a:stretch/>
        </p:blipFill>
        <p:spPr>
          <a:xfrm>
            <a:off x="10113168" y="2237482"/>
            <a:ext cx="381000" cy="381000"/>
          </a:xfrm>
          <a:prstGeom prst="rect">
            <a:avLst/>
          </a:prstGeom>
          <a:noFill/>
          <a:ln>
            <a:noFill/>
          </a:ln>
        </p:spPr>
      </p:pic>
      <p:pic>
        <p:nvPicPr>
          <p:cNvPr id="132" name="Google Shape;132;p16" descr="image.png"/>
          <p:cNvPicPr preferRelativeResize="0"/>
          <p:nvPr/>
        </p:nvPicPr>
        <p:blipFill rotWithShape="1">
          <a:blip r:embed="rId10">
            <a:alphaModFix/>
          </a:blip>
          <a:srcRect/>
          <a:stretch/>
        </p:blipFill>
        <p:spPr>
          <a:xfrm>
            <a:off x="1697831" y="4291012"/>
            <a:ext cx="381000" cy="381000"/>
          </a:xfrm>
          <a:prstGeom prst="rect">
            <a:avLst/>
          </a:prstGeom>
          <a:noFill/>
          <a:ln>
            <a:noFill/>
          </a:ln>
        </p:spPr>
      </p:pic>
      <p:pic>
        <p:nvPicPr>
          <p:cNvPr id="133" name="Google Shape;133;p16" descr="image.png"/>
          <p:cNvPicPr preferRelativeResize="0"/>
          <p:nvPr/>
        </p:nvPicPr>
        <p:blipFill rotWithShape="1">
          <a:blip r:embed="rId11">
            <a:alphaModFix/>
          </a:blip>
          <a:srcRect/>
          <a:stretch/>
        </p:blipFill>
        <p:spPr>
          <a:xfrm>
            <a:off x="4502943" y="4291012"/>
            <a:ext cx="381000" cy="381000"/>
          </a:xfrm>
          <a:prstGeom prst="rect">
            <a:avLst/>
          </a:prstGeom>
          <a:noFill/>
          <a:ln>
            <a:noFill/>
          </a:ln>
        </p:spPr>
      </p:pic>
      <p:pic>
        <p:nvPicPr>
          <p:cNvPr id="134" name="Google Shape;134;p16" descr="image.png"/>
          <p:cNvPicPr preferRelativeResize="0"/>
          <p:nvPr/>
        </p:nvPicPr>
        <p:blipFill rotWithShape="1">
          <a:blip r:embed="rId12">
            <a:alphaModFix/>
          </a:blip>
          <a:srcRect/>
          <a:stretch/>
        </p:blipFill>
        <p:spPr>
          <a:xfrm>
            <a:off x="7308056" y="4291012"/>
            <a:ext cx="381000" cy="381000"/>
          </a:xfrm>
          <a:prstGeom prst="rect">
            <a:avLst/>
          </a:prstGeom>
          <a:noFill/>
          <a:ln>
            <a:noFill/>
          </a:ln>
        </p:spPr>
      </p:pic>
      <p:pic>
        <p:nvPicPr>
          <p:cNvPr id="135" name="Google Shape;135;p16" descr="image.png"/>
          <p:cNvPicPr preferRelativeResize="0"/>
          <p:nvPr/>
        </p:nvPicPr>
        <p:blipFill rotWithShape="1">
          <a:blip r:embed="rId13">
            <a:alphaModFix/>
          </a:blip>
          <a:srcRect/>
          <a:stretch/>
        </p:blipFill>
        <p:spPr>
          <a:xfrm>
            <a:off x="10136981" y="4291012"/>
            <a:ext cx="333375" cy="381000"/>
          </a:xfrm>
          <a:prstGeom prst="rect">
            <a:avLst/>
          </a:prstGeom>
          <a:noFill/>
          <a:ln>
            <a:noFill/>
          </a:ln>
        </p:spPr>
      </p:pic>
      <p:sp>
        <p:nvSpPr>
          <p:cNvPr id="136" name="Google Shape;136;p16"/>
          <p:cNvSpPr txBox="1"/>
          <p:nvPr/>
        </p:nvSpPr>
        <p:spPr>
          <a:xfrm>
            <a:off x="771525" y="581025"/>
            <a:ext cx="11381422"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60A5FA"/>
                </a:solidFill>
                <a:latin typeface="Urbanist"/>
                <a:ea typeface="Urbanist"/>
                <a:cs typeface="Urbanist"/>
                <a:sym typeface="Urbanist"/>
              </a:rPr>
              <a:t>Sınıflandırma Etiketleri</a:t>
            </a:r>
            <a:endParaRPr/>
          </a:p>
        </p:txBody>
      </p:sp>
      <p:sp>
        <p:nvSpPr>
          <p:cNvPr id="137" name="Google Shape;137;p16"/>
          <p:cNvSpPr/>
          <p:nvPr/>
        </p:nvSpPr>
        <p:spPr>
          <a:xfrm>
            <a:off x="581025" y="581025"/>
            <a:ext cx="57150" cy="485775"/>
          </a:xfrm>
          <a:prstGeom prst="rect">
            <a:avLst/>
          </a:prstGeom>
          <a:solidFill>
            <a:srgbClr val="60A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41"/>
        <p:cNvGrpSpPr/>
        <p:nvPr/>
      </p:nvGrpSpPr>
      <p:grpSpPr>
        <a:xfrm>
          <a:off x="0" y="0"/>
          <a:ext cx="0" cy="0"/>
          <a:chOff x="0" y="0"/>
          <a:chExt cx="0" cy="0"/>
        </a:xfrm>
      </p:grpSpPr>
      <p:pic>
        <p:nvPicPr>
          <p:cNvPr id="142" name="Google Shape;142;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3" name="Google Shape;143;p17" descr="image.png"/>
          <p:cNvPicPr preferRelativeResize="0"/>
          <p:nvPr/>
        </p:nvPicPr>
        <p:blipFill rotWithShape="1">
          <a:blip r:embed="rId4">
            <a:alphaModFix/>
          </a:blip>
          <a:srcRect/>
          <a:stretch/>
        </p:blipFill>
        <p:spPr>
          <a:xfrm>
            <a:off x="581025" y="1447800"/>
            <a:ext cx="11029950" cy="4829175"/>
          </a:xfrm>
          <a:prstGeom prst="rect">
            <a:avLst/>
          </a:prstGeom>
          <a:noFill/>
          <a:ln>
            <a:noFill/>
          </a:ln>
        </p:spPr>
      </p:pic>
      <p:sp>
        <p:nvSpPr>
          <p:cNvPr id="144" name="Google Shape;144;p17"/>
          <p:cNvSpPr txBox="1"/>
          <p:nvPr/>
        </p:nvSpPr>
        <p:spPr>
          <a:xfrm>
            <a:off x="581025" y="5591175"/>
            <a:ext cx="11030100" cy="6003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Veride belirgin bir </a:t>
            </a:r>
            <a:r>
              <a:rPr lang="en-US" sz="1500" b="1" i="0" u="none" strike="noStrike" cap="none">
                <a:solidFill>
                  <a:srgbClr val="F1F5F9"/>
                </a:solidFill>
                <a:latin typeface="Inter"/>
                <a:ea typeface="Inter"/>
                <a:cs typeface="Inter"/>
                <a:sym typeface="Inter"/>
              </a:rPr>
              <a:t>dengesizlik</a:t>
            </a:r>
            <a:r>
              <a:rPr lang="en-US" sz="1500" b="0" i="0" u="none" strike="noStrike" cap="none">
                <a:solidFill>
                  <a:srgbClr val="CBD5E1"/>
                </a:solidFill>
                <a:latin typeface="Inter"/>
                <a:ea typeface="Inter"/>
                <a:cs typeface="Inter"/>
                <a:sym typeface="Inter"/>
              </a:rPr>
              <a:t> mevcuttur. </a:t>
            </a:r>
            <a:endParaRPr sz="1500" b="0" i="0" u="none" strike="noStrike" cap="none">
              <a:solidFill>
                <a:srgbClr val="CBD5E1"/>
              </a:solidFill>
              <a:latin typeface="Inter"/>
              <a:ea typeface="Inter"/>
              <a:cs typeface="Inter"/>
              <a:sym typeface="Inter"/>
            </a:endParaRPr>
          </a:p>
          <a:p>
            <a:pPr marL="0" marR="0" lvl="0" indent="0" algn="ctr"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En fazla 'Normal' (2873), en az 'Hipertansiyon' (128) hastası bulunmaktadır.</a:t>
            </a:r>
            <a:endParaRPr/>
          </a:p>
        </p:txBody>
      </p:sp>
      <p:sp>
        <p:nvSpPr>
          <p:cNvPr id="145" name="Google Shape;145;p17"/>
          <p:cNvSpPr txBox="1"/>
          <p:nvPr/>
        </p:nvSpPr>
        <p:spPr>
          <a:xfrm>
            <a:off x="771525" y="581025"/>
            <a:ext cx="11381422"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60A5FA"/>
                </a:solidFill>
                <a:latin typeface="Urbanist"/>
                <a:ea typeface="Urbanist"/>
                <a:cs typeface="Urbanist"/>
                <a:sym typeface="Urbanist"/>
              </a:rPr>
              <a:t>Sınıf Dağılımı ve Veri Dengesizliği</a:t>
            </a:r>
            <a:endParaRPr/>
          </a:p>
        </p:txBody>
      </p:sp>
      <p:sp>
        <p:nvSpPr>
          <p:cNvPr id="146" name="Google Shape;146;p17"/>
          <p:cNvSpPr/>
          <p:nvPr/>
        </p:nvSpPr>
        <p:spPr>
          <a:xfrm>
            <a:off x="581025" y="581025"/>
            <a:ext cx="57150" cy="485775"/>
          </a:xfrm>
          <a:prstGeom prst="rect">
            <a:avLst/>
          </a:prstGeom>
          <a:solidFill>
            <a:srgbClr val="60A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0"/>
        <p:cNvGrpSpPr/>
        <p:nvPr/>
      </p:nvGrpSpPr>
      <p:grpSpPr>
        <a:xfrm>
          <a:off x="0" y="0"/>
          <a:ext cx="0" cy="0"/>
          <a:chOff x="0" y="0"/>
          <a:chExt cx="0" cy="0"/>
        </a:xfrm>
      </p:grpSpPr>
      <p:pic>
        <p:nvPicPr>
          <p:cNvPr id="151" name="Google Shape;151;p18"/>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152" name="Google Shape;152;p18"/>
          <p:cNvSpPr/>
          <p:nvPr/>
        </p:nvSpPr>
        <p:spPr>
          <a:xfrm>
            <a:off x="581025" y="581025"/>
            <a:ext cx="57300" cy="4857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3" name="Google Shape;153;p18"/>
          <p:cNvSpPr txBox="1"/>
          <p:nvPr/>
        </p:nvSpPr>
        <p:spPr>
          <a:xfrm>
            <a:off x="771525" y="581025"/>
            <a:ext cx="10477500" cy="485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3150" b="1">
                <a:solidFill>
                  <a:srgbClr val="60A5FA"/>
                </a:solidFill>
                <a:latin typeface="Urbanist"/>
                <a:ea typeface="Urbanist"/>
                <a:cs typeface="Urbanist"/>
                <a:sym typeface="Urbanist"/>
              </a:rPr>
              <a:t>Görüntü Başına Etiket Sayısı Dağılımı</a:t>
            </a:r>
            <a:endParaRPr sz="3150" b="1">
              <a:solidFill>
                <a:srgbClr val="60A5FA"/>
              </a:solidFill>
              <a:latin typeface="Urbanist"/>
              <a:ea typeface="Urbanist"/>
              <a:cs typeface="Urbanist"/>
              <a:sym typeface="Urbanist"/>
            </a:endParaRPr>
          </a:p>
        </p:txBody>
      </p:sp>
      <p:pic>
        <p:nvPicPr>
          <p:cNvPr id="154" name="Google Shape;154;p18"/>
          <p:cNvPicPr preferRelativeResize="0"/>
          <p:nvPr/>
        </p:nvPicPr>
        <p:blipFill rotWithShape="1">
          <a:blip r:embed="rId5">
            <a:alphaModFix/>
          </a:blip>
          <a:srcRect t="110" b="120"/>
          <a:stretch/>
        </p:blipFill>
        <p:spPr>
          <a:xfrm>
            <a:off x="581025" y="1333500"/>
            <a:ext cx="7429500" cy="4095900"/>
          </a:xfrm>
          <a:prstGeom prst="rect">
            <a:avLst/>
          </a:prstGeom>
          <a:noFill/>
          <a:ln>
            <a:noFill/>
          </a:ln>
        </p:spPr>
      </p:pic>
      <p:sp>
        <p:nvSpPr>
          <p:cNvPr id="155" name="Google Shape;155;p18"/>
          <p:cNvSpPr txBox="1"/>
          <p:nvPr/>
        </p:nvSpPr>
        <p:spPr>
          <a:xfrm>
            <a:off x="8382000" y="1333500"/>
            <a:ext cx="3048000" cy="409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500" b="0">
                <a:solidFill>
                  <a:srgbClr val="CBD5E1"/>
                </a:solidFill>
                <a:latin typeface="Inter"/>
                <a:ea typeface="Inter"/>
                <a:cs typeface="Inter"/>
                <a:sym typeface="Inter"/>
              </a:rPr>
              <a:t>Bu grafik her görüntü için kaç etiket bulunduğunu gösterir, veri setinin </a:t>
            </a:r>
            <a:r>
              <a:rPr lang="en-US" sz="1500" b="1">
                <a:solidFill>
                  <a:srgbClr val="60A5FA"/>
                </a:solidFill>
                <a:latin typeface="Inter"/>
                <a:ea typeface="Inter"/>
                <a:cs typeface="Inter"/>
                <a:sym typeface="Inter"/>
              </a:rPr>
              <a:t>Çoklu Etiketli (Multi-label)</a:t>
            </a:r>
            <a:r>
              <a:rPr lang="en-US" sz="1500" b="0">
                <a:solidFill>
                  <a:srgbClr val="CBD5E1"/>
                </a:solidFill>
                <a:latin typeface="Inter"/>
                <a:ea typeface="Inter"/>
                <a:cs typeface="Inter"/>
                <a:sym typeface="Inter"/>
              </a:rPr>
              <a:t> doğasını kanıtlar.</a:t>
            </a:r>
            <a:endParaRPr sz="1500" b="0">
              <a:solidFill>
                <a:srgbClr val="CBD5E1"/>
              </a:solidFill>
              <a:latin typeface="Inter"/>
              <a:ea typeface="Inter"/>
              <a:cs typeface="Inter"/>
              <a:sym typeface="Inter"/>
            </a:endParaRPr>
          </a:p>
          <a:p>
            <a:pPr marL="0" lvl="0" indent="0" algn="l" rtl="0">
              <a:spcBef>
                <a:spcPts val="1500"/>
              </a:spcBef>
              <a:spcAft>
                <a:spcPts val="0"/>
              </a:spcAft>
              <a:buNone/>
            </a:pPr>
            <a:endParaRPr sz="1500">
              <a:solidFill>
                <a:srgbClr val="CBD5E1"/>
              </a:solidFill>
              <a:latin typeface="Inter"/>
              <a:ea typeface="Inter"/>
              <a:cs typeface="Inter"/>
              <a:sym typeface="Inter"/>
            </a:endParaRPr>
          </a:p>
          <a:p>
            <a:pPr marL="0" lvl="0" indent="0" algn="l" rtl="0">
              <a:spcBef>
                <a:spcPts val="1500"/>
              </a:spcBef>
              <a:spcAft>
                <a:spcPts val="0"/>
              </a:spcAft>
              <a:buNone/>
            </a:pPr>
            <a:r>
              <a:rPr lang="en-US" sz="1500" b="0">
                <a:solidFill>
                  <a:srgbClr val="CBD5E1"/>
                </a:solidFill>
                <a:latin typeface="Inter"/>
                <a:ea typeface="Inter"/>
                <a:cs typeface="Inter"/>
                <a:sym typeface="Inter"/>
              </a:rPr>
              <a:t>Çoğu görüntüde 1 etiket olsa da, bazı görüntülerde </a:t>
            </a:r>
            <a:r>
              <a:rPr lang="en-US" sz="1500" b="1">
                <a:solidFill>
                  <a:srgbClr val="F8FAFC"/>
                </a:solidFill>
                <a:latin typeface="Inter"/>
                <a:ea typeface="Inter"/>
                <a:cs typeface="Inter"/>
                <a:sym typeface="Inter"/>
              </a:rPr>
              <a:t>2 veya 3 hastalığın</a:t>
            </a:r>
            <a:r>
              <a:rPr lang="en-US" sz="1500" b="0">
                <a:solidFill>
                  <a:srgbClr val="CBD5E1"/>
                </a:solidFill>
                <a:latin typeface="Inter"/>
                <a:ea typeface="Inter"/>
                <a:cs typeface="Inter"/>
                <a:sym typeface="Inter"/>
              </a:rPr>
              <a:t> aynı anda bulunduğunu göstermektedir.</a:t>
            </a:r>
            <a:endParaRPr sz="1500" b="0">
              <a:solidFill>
                <a:srgbClr val="CBD5E1"/>
              </a:solidFill>
              <a:latin typeface="Inter"/>
              <a:ea typeface="Inter"/>
              <a:cs typeface="Inter"/>
              <a:sym typeface="Inter"/>
            </a:endParaRPr>
          </a:p>
        </p:txBody>
      </p:sp>
      <p:sp>
        <p:nvSpPr>
          <p:cNvPr id="156" name="Google Shape;156;p18"/>
          <p:cNvSpPr txBox="1"/>
          <p:nvPr/>
        </p:nvSpPr>
        <p:spPr>
          <a:xfrm>
            <a:off x="581025" y="5905500"/>
            <a:ext cx="110301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i="1">
                <a:solidFill>
                  <a:srgbClr val="94A3B8"/>
                </a:solidFill>
                <a:latin typeface="Inter"/>
                <a:ea typeface="Inter"/>
                <a:cs typeface="Inter"/>
                <a:sym typeface="Inter"/>
              </a:rPr>
              <a:t>Veri setindeki göz hastalıklarının bir arada bulunma sıklığını temsil eder.</a:t>
            </a:r>
            <a:endParaRPr sz="1200" i="1">
              <a:solidFill>
                <a:srgbClr val="94A3B8"/>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60"/>
        <p:cNvGrpSpPr/>
        <p:nvPr/>
      </p:nvGrpSpPr>
      <p:grpSpPr>
        <a:xfrm>
          <a:off x="0" y="0"/>
          <a:ext cx="0" cy="0"/>
          <a:chOff x="0" y="0"/>
          <a:chExt cx="0" cy="0"/>
        </a:xfrm>
      </p:grpSpPr>
      <p:pic>
        <p:nvPicPr>
          <p:cNvPr id="161" name="Google Shape;161;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2" name="Google Shape;162;p19" descr="image.png"/>
          <p:cNvPicPr preferRelativeResize="0"/>
          <p:nvPr/>
        </p:nvPicPr>
        <p:blipFill rotWithShape="1">
          <a:blip r:embed="rId4">
            <a:alphaModFix/>
          </a:blip>
          <a:srcRect/>
          <a:stretch/>
        </p:blipFill>
        <p:spPr>
          <a:xfrm>
            <a:off x="676275" y="2206972"/>
            <a:ext cx="3359199" cy="2381250"/>
          </a:xfrm>
          <a:prstGeom prst="rect">
            <a:avLst/>
          </a:prstGeom>
          <a:noFill/>
          <a:ln>
            <a:noFill/>
          </a:ln>
        </p:spPr>
      </p:pic>
      <p:pic>
        <p:nvPicPr>
          <p:cNvPr id="163" name="Google Shape;163;p19" descr="image.png"/>
          <p:cNvPicPr preferRelativeResize="0"/>
          <p:nvPr/>
        </p:nvPicPr>
        <p:blipFill rotWithShape="1">
          <a:blip r:embed="rId5">
            <a:alphaModFix/>
          </a:blip>
          <a:srcRect/>
          <a:stretch/>
        </p:blipFill>
        <p:spPr>
          <a:xfrm>
            <a:off x="4035474" y="2238372"/>
            <a:ext cx="3359199" cy="2381250"/>
          </a:xfrm>
          <a:prstGeom prst="rect">
            <a:avLst/>
          </a:prstGeom>
          <a:noFill/>
          <a:ln>
            <a:noFill/>
          </a:ln>
        </p:spPr>
      </p:pic>
      <p:pic>
        <p:nvPicPr>
          <p:cNvPr id="164" name="Google Shape;164;p19" descr="image.png"/>
          <p:cNvPicPr preferRelativeResize="0"/>
          <p:nvPr/>
        </p:nvPicPr>
        <p:blipFill rotWithShape="1">
          <a:blip r:embed="rId6">
            <a:alphaModFix/>
          </a:blip>
          <a:srcRect/>
          <a:stretch/>
        </p:blipFill>
        <p:spPr>
          <a:xfrm>
            <a:off x="8156674" y="2206972"/>
            <a:ext cx="3359199" cy="2381250"/>
          </a:xfrm>
          <a:prstGeom prst="rect">
            <a:avLst/>
          </a:prstGeom>
          <a:noFill/>
          <a:ln>
            <a:noFill/>
          </a:ln>
        </p:spPr>
      </p:pic>
      <p:sp>
        <p:nvSpPr>
          <p:cNvPr id="165" name="Google Shape;165;p19"/>
          <p:cNvSpPr txBox="1"/>
          <p:nvPr/>
        </p:nvSpPr>
        <p:spPr>
          <a:xfrm>
            <a:off x="581025" y="6289227"/>
            <a:ext cx="11030100" cy="231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1" u="none" strike="noStrike" cap="none">
                <a:solidFill>
                  <a:srgbClr val="CBD5E1"/>
                </a:solidFill>
                <a:latin typeface="Inter"/>
                <a:ea typeface="Inter"/>
                <a:cs typeface="Inter"/>
                <a:sym typeface="Inter"/>
              </a:rPr>
              <a:t>Fundus görüntüleri model eğitimi için önceden işlenmiş  versiyonlardır.</a:t>
            </a:r>
            <a:endParaRPr/>
          </a:p>
        </p:txBody>
      </p:sp>
      <p:sp>
        <p:nvSpPr>
          <p:cNvPr id="166" name="Google Shape;166;p19"/>
          <p:cNvSpPr txBox="1"/>
          <p:nvPr/>
        </p:nvSpPr>
        <p:spPr>
          <a:xfrm>
            <a:off x="676275" y="4588222"/>
            <a:ext cx="3359199"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N (idx=6)</a:t>
            </a:r>
            <a:endParaRPr/>
          </a:p>
        </p:txBody>
      </p:sp>
      <p:sp>
        <p:nvSpPr>
          <p:cNvPr id="167" name="Google Shape;167;p19"/>
          <p:cNvSpPr txBox="1"/>
          <p:nvPr/>
        </p:nvSpPr>
        <p:spPr>
          <a:xfrm>
            <a:off x="4416474" y="4588222"/>
            <a:ext cx="3359199"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O (idx=7)</a:t>
            </a:r>
            <a:endParaRPr/>
          </a:p>
        </p:txBody>
      </p:sp>
      <p:sp>
        <p:nvSpPr>
          <p:cNvPr id="168" name="Google Shape;168;p19"/>
          <p:cNvSpPr txBox="1"/>
          <p:nvPr/>
        </p:nvSpPr>
        <p:spPr>
          <a:xfrm>
            <a:off x="8156674" y="4588222"/>
            <a:ext cx="3359199"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C (idx=1)</a:t>
            </a:r>
            <a:endParaRPr/>
          </a:p>
        </p:txBody>
      </p:sp>
      <p:sp>
        <p:nvSpPr>
          <p:cNvPr id="169" name="Google Shape;169;p19"/>
          <p:cNvSpPr txBox="1"/>
          <p:nvPr/>
        </p:nvSpPr>
        <p:spPr>
          <a:xfrm>
            <a:off x="771525" y="581025"/>
            <a:ext cx="11381422"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60A5FA"/>
                </a:solidFill>
                <a:latin typeface="Urbanist"/>
                <a:ea typeface="Urbanist"/>
                <a:cs typeface="Urbanist"/>
                <a:sym typeface="Urbanist"/>
              </a:rPr>
              <a:t>Veri Görselleştirme Örnekleri</a:t>
            </a:r>
            <a:endParaRPr/>
          </a:p>
        </p:txBody>
      </p:sp>
      <p:sp>
        <p:nvSpPr>
          <p:cNvPr id="170" name="Google Shape;170;p19"/>
          <p:cNvSpPr/>
          <p:nvPr/>
        </p:nvSpPr>
        <p:spPr>
          <a:xfrm>
            <a:off x="581025" y="581025"/>
            <a:ext cx="57150" cy="485775"/>
          </a:xfrm>
          <a:prstGeom prst="rect">
            <a:avLst/>
          </a:prstGeom>
          <a:solidFill>
            <a:srgbClr val="60A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1" name="Google Shape;171;p19" title="Ekran görüntüsü 2026-05-18 185515.png"/>
          <p:cNvPicPr preferRelativeResize="0"/>
          <p:nvPr/>
        </p:nvPicPr>
        <p:blipFill>
          <a:blip r:embed="rId7">
            <a:alphaModFix/>
          </a:blip>
          <a:stretch>
            <a:fillRect/>
          </a:stretch>
        </p:blipFill>
        <p:spPr>
          <a:xfrm>
            <a:off x="771525" y="1547937"/>
            <a:ext cx="10048325" cy="4640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75"/>
        <p:cNvGrpSpPr/>
        <p:nvPr/>
      </p:nvGrpSpPr>
      <p:grpSpPr>
        <a:xfrm>
          <a:off x="0" y="0"/>
          <a:ext cx="0" cy="0"/>
          <a:chOff x="0" y="0"/>
          <a:chExt cx="0" cy="0"/>
        </a:xfrm>
      </p:grpSpPr>
      <p:pic>
        <p:nvPicPr>
          <p:cNvPr id="176" name="Google Shape;176;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7" name="Google Shape;177;p20"/>
          <p:cNvSpPr/>
          <p:nvPr/>
        </p:nvSpPr>
        <p:spPr>
          <a:xfrm>
            <a:off x="5524500" y="2590800"/>
            <a:ext cx="1143000" cy="76200"/>
          </a:xfrm>
          <a:prstGeom prst="rect">
            <a:avLst/>
          </a:prstGeom>
          <a:solidFill>
            <a:srgbClr val="60A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20"/>
          <p:cNvSpPr txBox="1"/>
          <p:nvPr/>
        </p:nvSpPr>
        <p:spPr>
          <a:xfrm>
            <a:off x="1595437" y="2952750"/>
            <a:ext cx="9001125"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8FAFC"/>
                </a:solidFill>
                <a:latin typeface="Urbanist"/>
                <a:ea typeface="Urbanist"/>
                <a:cs typeface="Urbanist"/>
                <a:sym typeface="Urbanist"/>
              </a:rPr>
              <a:t>Veri Önişleme ve Hazırlık</a:t>
            </a:r>
            <a:endParaRPr/>
          </a:p>
        </p:txBody>
      </p:sp>
      <p:sp>
        <p:nvSpPr>
          <p:cNvPr id="179" name="Google Shape;179;p20"/>
          <p:cNvSpPr txBox="1"/>
          <p:nvPr/>
        </p:nvSpPr>
        <p:spPr>
          <a:xfrm>
            <a:off x="1809750" y="4057650"/>
            <a:ext cx="85725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Ham Veriden Modele Geçiş Süreci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83"/>
        <p:cNvGrpSpPr/>
        <p:nvPr/>
      </p:nvGrpSpPr>
      <p:grpSpPr>
        <a:xfrm>
          <a:off x="0" y="0"/>
          <a:ext cx="0" cy="0"/>
          <a:chOff x="0" y="0"/>
          <a:chExt cx="0" cy="0"/>
        </a:xfrm>
      </p:grpSpPr>
      <p:pic>
        <p:nvPicPr>
          <p:cNvPr id="184" name="Google Shape;184;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5" name="Google Shape;185;p21" descr="image.png"/>
          <p:cNvPicPr preferRelativeResize="0"/>
          <p:nvPr/>
        </p:nvPicPr>
        <p:blipFill rotWithShape="1">
          <a:blip r:embed="rId4">
            <a:alphaModFix/>
          </a:blip>
          <a:srcRect/>
          <a:stretch/>
        </p:blipFill>
        <p:spPr>
          <a:xfrm>
            <a:off x="6334125" y="1957387"/>
            <a:ext cx="5276850" cy="3810000"/>
          </a:xfrm>
          <a:prstGeom prst="rect">
            <a:avLst/>
          </a:prstGeom>
          <a:noFill/>
          <a:ln>
            <a:noFill/>
          </a:ln>
        </p:spPr>
      </p:pic>
      <p:pic>
        <p:nvPicPr>
          <p:cNvPr id="186" name="Google Shape;186;p21" descr="image.png"/>
          <p:cNvPicPr preferRelativeResize="0"/>
          <p:nvPr/>
        </p:nvPicPr>
        <p:blipFill rotWithShape="1">
          <a:blip r:embed="rId5">
            <a:alphaModFix/>
          </a:blip>
          <a:srcRect/>
          <a:stretch/>
        </p:blipFill>
        <p:spPr>
          <a:xfrm>
            <a:off x="6343650" y="1966912"/>
            <a:ext cx="5257800" cy="3790950"/>
          </a:xfrm>
          <a:prstGeom prst="rect">
            <a:avLst/>
          </a:prstGeom>
          <a:noFill/>
          <a:ln>
            <a:noFill/>
          </a:ln>
        </p:spPr>
      </p:pic>
      <p:sp>
        <p:nvSpPr>
          <p:cNvPr id="187" name="Google Shape;187;p21"/>
          <p:cNvSpPr txBox="1"/>
          <p:nvPr/>
        </p:nvSpPr>
        <p:spPr>
          <a:xfrm>
            <a:off x="962025" y="2357437"/>
            <a:ext cx="48958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Projede kullanılan ham retina fundus görüntüleri </a:t>
            </a:r>
            <a:r>
              <a:rPr lang="en-US" sz="1500" b="1" i="0" u="none" strike="noStrike" cap="none">
                <a:solidFill>
                  <a:srgbClr val="F1F5F9"/>
                </a:solidFill>
                <a:latin typeface="Inter"/>
                <a:ea typeface="Inter"/>
                <a:cs typeface="Inter"/>
                <a:sym typeface="Inter"/>
              </a:rPr>
              <a:t>preprocessed_images.zip</a:t>
            </a:r>
            <a:r>
              <a:rPr lang="en-US" sz="1500" b="0" i="0" u="none" strike="noStrike" cap="none">
                <a:solidFill>
                  <a:srgbClr val="CBD5E1"/>
                </a:solidFill>
                <a:latin typeface="Inter"/>
                <a:ea typeface="Inter"/>
                <a:cs typeface="Inter"/>
                <a:sym typeface="Inter"/>
              </a:rPr>
              <a:t> arşivinden otomatik çıkarılmıştır.</a:t>
            </a:r>
            <a:endParaRPr/>
          </a:p>
        </p:txBody>
      </p:sp>
      <p:sp>
        <p:nvSpPr>
          <p:cNvPr id="188" name="Google Shape;188;p21"/>
          <p:cNvSpPr txBox="1"/>
          <p:nvPr/>
        </p:nvSpPr>
        <p:spPr>
          <a:xfrm>
            <a:off x="962025" y="3509962"/>
            <a:ext cx="4895850" cy="6191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Python betikleri ve zipfile kütüphanesi ile hızlı veri erişimi sağlanmıştır.</a:t>
            </a:r>
            <a:endParaRPr/>
          </a:p>
        </p:txBody>
      </p:sp>
      <p:sp>
        <p:nvSpPr>
          <p:cNvPr id="189" name="Google Shape;189;p21"/>
          <p:cNvSpPr txBox="1"/>
          <p:nvPr/>
        </p:nvSpPr>
        <p:spPr>
          <a:xfrm>
            <a:off x="962025" y="4367212"/>
            <a:ext cx="48958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F1F5F9"/>
                </a:solidFill>
                <a:latin typeface="Inter"/>
                <a:ea typeface="Inter"/>
                <a:cs typeface="Inter"/>
                <a:sym typeface="Inter"/>
              </a:rPr>
              <a:t>Ortam Hazırlığı:</a:t>
            </a:r>
            <a:r>
              <a:rPr lang="en-US" sz="1500" b="0" i="0" u="none" strike="noStrike" cap="none">
                <a:solidFill>
                  <a:srgbClr val="CBD5E1"/>
                </a:solidFill>
                <a:latin typeface="Inter"/>
                <a:ea typeface="Inter"/>
                <a:cs typeface="Inter"/>
                <a:sym typeface="Inter"/>
              </a:rPr>
              <a:t> Pandas, NumPy ve TensorFlow kütüphaneleri optimize edilerek GPU desteği ile yapılandırılmıştır.</a:t>
            </a:r>
            <a:endParaRPr/>
          </a:p>
        </p:txBody>
      </p:sp>
      <p:pic>
        <p:nvPicPr>
          <p:cNvPr id="190" name="Google Shape;190;p21" descr="image.png"/>
          <p:cNvPicPr preferRelativeResize="0"/>
          <p:nvPr/>
        </p:nvPicPr>
        <p:blipFill rotWithShape="1">
          <a:blip r:embed="rId6">
            <a:alphaModFix/>
          </a:blip>
          <a:srcRect/>
          <a:stretch/>
        </p:blipFill>
        <p:spPr>
          <a:xfrm>
            <a:off x="581025" y="2395537"/>
            <a:ext cx="171450" cy="247650"/>
          </a:xfrm>
          <a:prstGeom prst="rect">
            <a:avLst/>
          </a:prstGeom>
          <a:noFill/>
          <a:ln>
            <a:noFill/>
          </a:ln>
        </p:spPr>
      </p:pic>
      <p:pic>
        <p:nvPicPr>
          <p:cNvPr id="191" name="Google Shape;191;p21" descr="image.png"/>
          <p:cNvPicPr preferRelativeResize="0"/>
          <p:nvPr/>
        </p:nvPicPr>
        <p:blipFill rotWithShape="1">
          <a:blip r:embed="rId7">
            <a:alphaModFix/>
          </a:blip>
          <a:srcRect/>
          <a:stretch/>
        </p:blipFill>
        <p:spPr>
          <a:xfrm>
            <a:off x="581025" y="3548062"/>
            <a:ext cx="285750" cy="247650"/>
          </a:xfrm>
          <a:prstGeom prst="rect">
            <a:avLst/>
          </a:prstGeom>
          <a:noFill/>
          <a:ln>
            <a:noFill/>
          </a:ln>
        </p:spPr>
      </p:pic>
      <p:pic>
        <p:nvPicPr>
          <p:cNvPr id="192" name="Google Shape;192;p21" descr="image.png"/>
          <p:cNvPicPr preferRelativeResize="0"/>
          <p:nvPr/>
        </p:nvPicPr>
        <p:blipFill rotWithShape="1">
          <a:blip r:embed="rId8">
            <a:alphaModFix/>
          </a:blip>
          <a:srcRect/>
          <a:stretch/>
        </p:blipFill>
        <p:spPr>
          <a:xfrm>
            <a:off x="581025" y="4405312"/>
            <a:ext cx="285750" cy="247650"/>
          </a:xfrm>
          <a:prstGeom prst="rect">
            <a:avLst/>
          </a:prstGeom>
          <a:noFill/>
          <a:ln>
            <a:noFill/>
          </a:ln>
        </p:spPr>
      </p:pic>
      <p:sp>
        <p:nvSpPr>
          <p:cNvPr id="193" name="Google Shape;193;p21"/>
          <p:cNvSpPr txBox="1"/>
          <p:nvPr/>
        </p:nvSpPr>
        <p:spPr>
          <a:xfrm>
            <a:off x="771525" y="581025"/>
            <a:ext cx="11381422"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60A5FA"/>
                </a:solidFill>
                <a:latin typeface="Urbanist"/>
                <a:ea typeface="Urbanist"/>
                <a:cs typeface="Urbanist"/>
                <a:sym typeface="Urbanist"/>
              </a:rPr>
              <a:t>Veri Seti Çıkarılması ve Ortam</a:t>
            </a:r>
            <a:endParaRPr/>
          </a:p>
        </p:txBody>
      </p:sp>
      <p:sp>
        <p:nvSpPr>
          <p:cNvPr id="194" name="Google Shape;194;p21"/>
          <p:cNvSpPr/>
          <p:nvPr/>
        </p:nvSpPr>
        <p:spPr>
          <a:xfrm>
            <a:off x="581025" y="581025"/>
            <a:ext cx="57150" cy="485775"/>
          </a:xfrm>
          <a:prstGeom prst="rect">
            <a:avLst/>
          </a:prstGeom>
          <a:solidFill>
            <a:srgbClr val="60A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2"/>
          <p:cNvSpPr/>
          <p:nvPr/>
        </p:nvSpPr>
        <p:spPr>
          <a:xfrm>
            <a:off x="0" y="0"/>
            <a:ext cx="12192000" cy="6858000"/>
          </a:xfrm>
          <a:prstGeom prst="rect">
            <a:avLst/>
          </a:prstGeom>
          <a:solidFill>
            <a:srgbClr val="02061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200" name="Google Shape;200;p22"/>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1" name="Google Shape;201;p22"/>
          <p:cNvSpPr/>
          <p:nvPr/>
        </p:nvSpPr>
        <p:spPr>
          <a:xfrm>
            <a:off x="581025" y="581025"/>
            <a:ext cx="57300" cy="4857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2" name="Google Shape;202;p22"/>
          <p:cNvSpPr txBox="1"/>
          <p:nvPr/>
        </p:nvSpPr>
        <p:spPr>
          <a:xfrm>
            <a:off x="771525" y="581025"/>
            <a:ext cx="10477500" cy="48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150" b="1">
                <a:solidFill>
                  <a:srgbClr val="60A5FA"/>
                </a:solidFill>
                <a:latin typeface="Urbanist"/>
                <a:ea typeface="Urbanist"/>
                <a:cs typeface="Urbanist"/>
                <a:sym typeface="Urbanist"/>
              </a:rPr>
              <a:t>Çoklu Etiketlerin Hazırlanması</a:t>
            </a:r>
            <a:endParaRPr sz="3150" b="1">
              <a:solidFill>
                <a:srgbClr val="60A5FA"/>
              </a:solidFill>
              <a:latin typeface="Urbanist"/>
              <a:ea typeface="Urbanist"/>
              <a:cs typeface="Urbanist"/>
              <a:sym typeface="Urbanist"/>
            </a:endParaRPr>
          </a:p>
        </p:txBody>
      </p:sp>
      <p:grpSp>
        <p:nvGrpSpPr>
          <p:cNvPr id="203" name="Google Shape;203;p22"/>
          <p:cNvGrpSpPr/>
          <p:nvPr/>
        </p:nvGrpSpPr>
        <p:grpSpPr>
          <a:xfrm>
            <a:off x="581025" y="1524000"/>
            <a:ext cx="5334000" cy="3810000"/>
            <a:chOff x="581025" y="1524000"/>
            <a:chExt cx="5334000" cy="3810000"/>
          </a:xfrm>
        </p:grpSpPr>
        <p:sp>
          <p:nvSpPr>
            <p:cNvPr id="204" name="Google Shape;204;p22"/>
            <p:cNvSpPr/>
            <p:nvPr/>
          </p:nvSpPr>
          <p:spPr>
            <a:xfrm>
              <a:off x="581025" y="1524000"/>
              <a:ext cx="5334000" cy="3810000"/>
            </a:xfrm>
            <a:prstGeom prst="roundRect">
              <a:avLst>
                <a:gd name="adj" fmla="val 4000"/>
              </a:avLst>
            </a:prstGeom>
            <a:solidFill>
              <a:srgbClr val="1E293B">
                <a:alpha val="4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5" name="Google Shape;205;p22"/>
            <p:cNvSpPr txBox="1"/>
            <p:nvPr/>
          </p:nvSpPr>
          <p:spPr>
            <a:xfrm>
              <a:off x="866775" y="2238375"/>
              <a:ext cx="47625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60A5FA"/>
                  </a:solidFill>
                  <a:latin typeface="Urbanist"/>
                  <a:ea typeface="Urbanist"/>
                  <a:cs typeface="Urbanist"/>
                  <a:sym typeface="Urbanist"/>
                </a:rPr>
                <a:t>Binary Matris Yapısı</a:t>
              </a:r>
              <a:endParaRPr sz="2200" b="1">
                <a:solidFill>
                  <a:srgbClr val="60A5FA"/>
                </a:solidFill>
                <a:latin typeface="Urbanist"/>
                <a:ea typeface="Urbanist"/>
                <a:cs typeface="Urbanist"/>
                <a:sym typeface="Urbanist"/>
              </a:endParaRPr>
            </a:p>
          </p:txBody>
        </p:sp>
        <p:sp>
          <p:nvSpPr>
            <p:cNvPr id="206" name="Google Shape;206;p22"/>
            <p:cNvSpPr txBox="1"/>
            <p:nvPr/>
          </p:nvSpPr>
          <p:spPr>
            <a:xfrm>
              <a:off x="866775" y="2714625"/>
              <a:ext cx="4762500" cy="2286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500" b="0">
                  <a:solidFill>
                    <a:srgbClr val="CBD5E1"/>
                  </a:solidFill>
                  <a:latin typeface="Inter"/>
                  <a:ea typeface="Inter"/>
                  <a:cs typeface="Inter"/>
                  <a:sym typeface="Inter"/>
                </a:rPr>
                <a:t>Her göz resmi için 8 bağımsız sütundan oluşan bir hedef vektörü oluşturulmuştur:</a:t>
              </a:r>
              <a:endParaRPr sz="1500" b="0">
                <a:solidFill>
                  <a:srgbClr val="CBD5E1"/>
                </a:solidFill>
                <a:latin typeface="Inter"/>
                <a:ea typeface="Inter"/>
                <a:cs typeface="Inter"/>
                <a:sym typeface="Inter"/>
              </a:endParaRPr>
            </a:p>
            <a:p>
              <a:pPr marL="0" lvl="0" indent="0" algn="ctr" rtl="0">
                <a:spcBef>
                  <a:spcPts val="1125"/>
                </a:spcBef>
                <a:spcAft>
                  <a:spcPts val="0"/>
                </a:spcAft>
                <a:buNone/>
              </a:pPr>
              <a:r>
                <a:rPr lang="en-US" sz="1800" b="0">
                  <a:solidFill>
                    <a:srgbClr val="60A5FA"/>
                  </a:solidFill>
                  <a:latin typeface="Inter SemiBold"/>
                  <a:ea typeface="Inter SemiBold"/>
                  <a:cs typeface="Inter SemiBold"/>
                  <a:sym typeface="Inter SemiBold"/>
                </a:rPr>
                <a:t>[1, 0, 0, 0, 1, 0, 0, 0]</a:t>
              </a:r>
              <a:endParaRPr sz="1800" b="0">
                <a:solidFill>
                  <a:srgbClr val="60A5FA"/>
                </a:solidFill>
                <a:latin typeface="Inter SemiBold"/>
                <a:ea typeface="Inter SemiBold"/>
                <a:cs typeface="Inter SemiBold"/>
                <a:sym typeface="Inter SemiBold"/>
              </a:endParaRPr>
            </a:p>
          </p:txBody>
        </p:sp>
      </p:grpSp>
      <p:sp>
        <p:nvSpPr>
          <p:cNvPr id="207" name="Google Shape;207;p22"/>
          <p:cNvSpPr/>
          <p:nvPr/>
        </p:nvSpPr>
        <p:spPr>
          <a:xfrm>
            <a:off x="581025" y="5619750"/>
            <a:ext cx="11030100" cy="9600"/>
          </a:xfrm>
          <a:prstGeom prst="rect">
            <a:avLst/>
          </a:prstGeom>
          <a:solidFill>
            <a:srgbClr val="33415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8" name="Google Shape;208;p22"/>
          <p:cNvSpPr txBox="1"/>
          <p:nvPr/>
        </p:nvSpPr>
        <p:spPr>
          <a:xfrm>
            <a:off x="581025" y="5810250"/>
            <a:ext cx="110301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0">
                <a:solidFill>
                  <a:srgbClr val="94A3B8"/>
                </a:solidFill>
                <a:latin typeface="Inter"/>
                <a:ea typeface="Inter"/>
                <a:cs typeface="Inter"/>
                <a:sym typeface="Inter"/>
              </a:rPr>
              <a:t>ETİKET YÖNETİMİ: Verinin model tarafından doğru yorumlanması için yapısal dönüşüm süreci.</a:t>
            </a:r>
            <a:endParaRPr sz="1400" b="0">
              <a:solidFill>
                <a:srgbClr val="94A3B8"/>
              </a:solidFill>
              <a:latin typeface="Inter"/>
              <a:ea typeface="Inter"/>
              <a:cs typeface="Inter"/>
              <a:sym typeface="Inter"/>
            </a:endParaRPr>
          </a:p>
        </p:txBody>
      </p:sp>
      <p:grpSp>
        <p:nvGrpSpPr>
          <p:cNvPr id="209" name="Google Shape;209;p22"/>
          <p:cNvGrpSpPr/>
          <p:nvPr/>
        </p:nvGrpSpPr>
        <p:grpSpPr>
          <a:xfrm>
            <a:off x="6286500" y="1524000"/>
            <a:ext cx="5334000" cy="3810000"/>
            <a:chOff x="6286500" y="1524000"/>
            <a:chExt cx="5334000" cy="3810000"/>
          </a:xfrm>
        </p:grpSpPr>
        <p:sp>
          <p:nvSpPr>
            <p:cNvPr id="210" name="Google Shape;210;p22"/>
            <p:cNvSpPr/>
            <p:nvPr/>
          </p:nvSpPr>
          <p:spPr>
            <a:xfrm>
              <a:off x="6286500" y="1524000"/>
              <a:ext cx="5334000" cy="3810000"/>
            </a:xfrm>
            <a:prstGeom prst="roundRect">
              <a:avLst>
                <a:gd name="adj" fmla="val 4000"/>
              </a:avLst>
            </a:prstGeom>
            <a:solidFill>
              <a:srgbClr val="1E293B">
                <a:alpha val="4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1" name="Google Shape;211;p22"/>
            <p:cNvSpPr txBox="1"/>
            <p:nvPr/>
          </p:nvSpPr>
          <p:spPr>
            <a:xfrm>
              <a:off x="6572250" y="2238375"/>
              <a:ext cx="47625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60A5FA"/>
                  </a:solidFill>
                  <a:latin typeface="Urbanist"/>
                  <a:ea typeface="Urbanist"/>
                  <a:cs typeface="Urbanist"/>
                  <a:sym typeface="Urbanist"/>
                </a:rPr>
                <a:t>Neden Önemli?</a:t>
              </a:r>
              <a:endParaRPr sz="2200" b="1">
                <a:solidFill>
                  <a:srgbClr val="60A5FA"/>
                </a:solidFill>
                <a:latin typeface="Urbanist"/>
                <a:ea typeface="Urbanist"/>
                <a:cs typeface="Urbanist"/>
                <a:sym typeface="Urbanist"/>
              </a:endParaRPr>
            </a:p>
          </p:txBody>
        </p:sp>
        <p:sp>
          <p:nvSpPr>
            <p:cNvPr id="212" name="Google Shape;212;p22"/>
            <p:cNvSpPr txBox="1"/>
            <p:nvPr/>
          </p:nvSpPr>
          <p:spPr>
            <a:xfrm>
              <a:off x="6572250" y="2714625"/>
              <a:ext cx="4762500" cy="2286000"/>
            </a:xfrm>
            <a:prstGeom prst="rect">
              <a:avLst/>
            </a:prstGeom>
            <a:noFill/>
            <a:ln>
              <a:noFill/>
            </a:ln>
          </p:spPr>
          <p:txBody>
            <a:bodyPr spcFirstLastPara="1" wrap="square" lIns="0" tIns="0" rIns="0" bIns="0" anchor="ctr" anchorCtr="0">
              <a:noAutofit/>
            </a:bodyPr>
            <a:lstStyle/>
            <a:p>
              <a:pPr marL="457200" lvl="0" indent="-323850" algn="l" rtl="0">
                <a:spcBef>
                  <a:spcPts val="0"/>
                </a:spcBef>
                <a:spcAft>
                  <a:spcPts val="0"/>
                </a:spcAft>
                <a:buClr>
                  <a:srgbClr val="CBD5E1"/>
                </a:buClr>
                <a:buSzPts val="1500"/>
                <a:buFont typeface="Inter"/>
                <a:buChar char="●"/>
              </a:pPr>
              <a:r>
                <a:rPr lang="en-US" sz="1500" b="0">
                  <a:solidFill>
                    <a:srgbClr val="CBD5E1"/>
                  </a:solidFill>
                  <a:latin typeface="Inter"/>
                  <a:ea typeface="Inter"/>
                  <a:cs typeface="Inter"/>
                  <a:sym typeface="Inter"/>
                </a:rPr>
                <a:t>Softmax yerine </a:t>
              </a:r>
              <a:r>
                <a:rPr lang="en-US" sz="1500" b="1">
                  <a:solidFill>
                    <a:srgbClr val="F1F5F9"/>
                  </a:solidFill>
                  <a:latin typeface="Inter"/>
                  <a:ea typeface="Inter"/>
                  <a:cs typeface="Inter"/>
                  <a:sym typeface="Inter"/>
                </a:rPr>
                <a:t>sigmoid çıkışı</a:t>
              </a:r>
              <a:r>
                <a:rPr lang="en-US" sz="1500" b="0">
                  <a:solidFill>
                    <a:srgbClr val="CBD5E1"/>
                  </a:solidFill>
                  <a:latin typeface="Inter"/>
                  <a:ea typeface="Inter"/>
                  <a:cs typeface="Inter"/>
                  <a:sym typeface="Inter"/>
                </a:rPr>
                <a:t> alabilmek için verinin bu formatta olması şarttır.</a:t>
              </a:r>
              <a:endParaRPr sz="1500" b="0">
                <a:solidFill>
                  <a:srgbClr val="CBD5E1"/>
                </a:solidFill>
                <a:latin typeface="Inter"/>
                <a:ea typeface="Inter"/>
                <a:cs typeface="Inter"/>
                <a:sym typeface="Inter"/>
              </a:endParaRPr>
            </a:p>
            <a:p>
              <a:pPr marL="457200" lvl="0" indent="-323850" algn="l" rtl="0">
                <a:spcBef>
                  <a:spcPts val="600"/>
                </a:spcBef>
                <a:spcAft>
                  <a:spcPts val="0"/>
                </a:spcAft>
                <a:buClr>
                  <a:srgbClr val="CBD5E1"/>
                </a:buClr>
                <a:buSzPts val="1500"/>
                <a:buFont typeface="Inter"/>
                <a:buChar char="●"/>
              </a:pPr>
              <a:r>
                <a:rPr lang="en-US" sz="1500" b="0">
                  <a:solidFill>
                    <a:srgbClr val="CBD5E1"/>
                  </a:solidFill>
                  <a:latin typeface="Inter"/>
                  <a:ea typeface="Inter"/>
                  <a:cs typeface="Inter"/>
                  <a:sym typeface="Inter"/>
                </a:rPr>
                <a:t>Bu yapı, modelin her bir hastalığı diğerlerinden bağımsız olarak değerlendirmesini sağlar.</a:t>
              </a:r>
              <a:endParaRPr sz="1500" b="0">
                <a:solidFill>
                  <a:srgbClr val="CBD5E1"/>
                </a:solidFill>
                <a:latin typeface="Inter"/>
                <a:ea typeface="Inter"/>
                <a:cs typeface="Inter"/>
                <a:sym typeface="Inter"/>
              </a:endParaRPr>
            </a:p>
            <a:p>
              <a:pPr marL="457200" lvl="0" indent="-323850" algn="l" rtl="0">
                <a:spcBef>
                  <a:spcPts val="600"/>
                </a:spcBef>
                <a:spcAft>
                  <a:spcPts val="600"/>
                </a:spcAft>
                <a:buClr>
                  <a:srgbClr val="CBD5E1"/>
                </a:buClr>
                <a:buSzPts val="1500"/>
                <a:buFont typeface="Inter"/>
                <a:buChar char="●"/>
              </a:pPr>
              <a:r>
                <a:rPr lang="en-US" sz="1500" b="1">
                  <a:solidFill>
                    <a:srgbClr val="F1F5F9"/>
                  </a:solidFill>
                  <a:latin typeface="Inter"/>
                  <a:ea typeface="Inter"/>
                  <a:cs typeface="Inter"/>
                  <a:sym typeface="Inter"/>
                </a:rPr>
                <a:t>"Independent indicator"</a:t>
              </a:r>
              <a:r>
                <a:rPr lang="en-US" sz="1500" b="0">
                  <a:solidFill>
                    <a:srgbClr val="CBD5E1"/>
                  </a:solidFill>
                  <a:latin typeface="Inter"/>
                  <a:ea typeface="Inter"/>
                  <a:cs typeface="Inter"/>
                  <a:sym typeface="Inter"/>
                </a:rPr>
                <a:t> (bağımsız gösterge) formatı çoklu etiketli sınıflandırma için temeldir.</a:t>
              </a:r>
              <a:endParaRPr sz="1500" b="0">
                <a:solidFill>
                  <a:srgbClr val="CBD5E1"/>
                </a:solidFill>
                <a:latin typeface="Inter"/>
                <a:ea typeface="Inter"/>
                <a:cs typeface="Inter"/>
                <a:sym typeface="Inte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6"/>
        <p:cNvGrpSpPr/>
        <p:nvPr/>
      </p:nvGrpSpPr>
      <p:grpSpPr>
        <a:xfrm>
          <a:off x="0" y="0"/>
          <a:ext cx="0" cy="0"/>
          <a:chOff x="0" y="0"/>
          <a:chExt cx="0" cy="0"/>
        </a:xfrm>
      </p:grpSpPr>
      <p:pic>
        <p:nvPicPr>
          <p:cNvPr id="217" name="Google Shape;217;p23"/>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218" name="Google Shape;218;p23"/>
          <p:cNvSpPr/>
          <p:nvPr/>
        </p:nvSpPr>
        <p:spPr>
          <a:xfrm>
            <a:off x="581025" y="581025"/>
            <a:ext cx="57300" cy="4857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23"/>
          <p:cNvSpPr txBox="1"/>
          <p:nvPr/>
        </p:nvSpPr>
        <p:spPr>
          <a:xfrm>
            <a:off x="771525" y="581025"/>
            <a:ext cx="10477500" cy="48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150" b="1">
                <a:solidFill>
                  <a:srgbClr val="60A5FA"/>
                </a:solidFill>
                <a:latin typeface="Urbanist"/>
                <a:ea typeface="Urbanist"/>
                <a:cs typeface="Urbanist"/>
                <a:sym typeface="Urbanist"/>
              </a:rPr>
              <a:t>Görüntü Standardizasyonu</a:t>
            </a:r>
            <a:endParaRPr sz="3150" b="1">
              <a:solidFill>
                <a:srgbClr val="60A5FA"/>
              </a:solidFill>
              <a:latin typeface="Urbanist"/>
              <a:ea typeface="Urbanist"/>
              <a:cs typeface="Urbanist"/>
              <a:sym typeface="Urbanist"/>
            </a:endParaRPr>
          </a:p>
        </p:txBody>
      </p:sp>
      <p:grpSp>
        <p:nvGrpSpPr>
          <p:cNvPr id="220" name="Google Shape;220;p23"/>
          <p:cNvGrpSpPr/>
          <p:nvPr/>
        </p:nvGrpSpPr>
        <p:grpSpPr>
          <a:xfrm>
            <a:off x="581025" y="1524000"/>
            <a:ext cx="5334000" cy="3810000"/>
            <a:chOff x="581025" y="1524000"/>
            <a:chExt cx="5334000" cy="3810000"/>
          </a:xfrm>
        </p:grpSpPr>
        <p:sp>
          <p:nvSpPr>
            <p:cNvPr id="221" name="Google Shape;221;p23"/>
            <p:cNvSpPr/>
            <p:nvPr/>
          </p:nvSpPr>
          <p:spPr>
            <a:xfrm>
              <a:off x="581025" y="1524000"/>
              <a:ext cx="5334000" cy="3810000"/>
            </a:xfrm>
            <a:prstGeom prst="roundRect">
              <a:avLst>
                <a:gd name="adj" fmla="val 4000"/>
              </a:avLst>
            </a:prstGeom>
            <a:solidFill>
              <a:srgbClr val="1E293B">
                <a:alpha val="4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2" name="Google Shape;222;p23"/>
            <p:cNvSpPr txBox="1"/>
            <p:nvPr/>
          </p:nvSpPr>
          <p:spPr>
            <a:xfrm>
              <a:off x="581025" y="2286000"/>
              <a:ext cx="5334000" cy="1143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400" b="0">
                  <a:solidFill>
                    <a:srgbClr val="60A5FA"/>
                  </a:solidFill>
                  <a:latin typeface="Inter ExtraBold"/>
                  <a:ea typeface="Inter ExtraBold"/>
                  <a:cs typeface="Inter ExtraBold"/>
                  <a:sym typeface="Inter ExtraBold"/>
                </a:rPr>
                <a:t>224x224</a:t>
              </a:r>
              <a:endParaRPr sz="7400" b="0">
                <a:solidFill>
                  <a:srgbClr val="60A5FA"/>
                </a:solidFill>
                <a:latin typeface="Inter ExtraBold"/>
                <a:ea typeface="Inter ExtraBold"/>
                <a:cs typeface="Inter ExtraBold"/>
                <a:sym typeface="Inter ExtraBold"/>
              </a:endParaRPr>
            </a:p>
          </p:txBody>
        </p:sp>
        <p:sp>
          <p:nvSpPr>
            <p:cNvPr id="223" name="Google Shape;223;p23"/>
            <p:cNvSpPr txBox="1"/>
            <p:nvPr/>
          </p:nvSpPr>
          <p:spPr>
            <a:xfrm>
              <a:off x="581025" y="3429000"/>
              <a:ext cx="5334000" cy="381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800" b="0">
                  <a:solidFill>
                    <a:srgbClr val="F8FAFC"/>
                  </a:solidFill>
                  <a:latin typeface="Inter"/>
                  <a:ea typeface="Inter"/>
                  <a:cs typeface="Inter"/>
                  <a:sym typeface="Inter"/>
                </a:rPr>
                <a:t>Giriş Katmanı Boyutu</a:t>
              </a:r>
              <a:endParaRPr sz="1800" b="0">
                <a:solidFill>
                  <a:srgbClr val="F8FAFC"/>
                </a:solidFill>
                <a:latin typeface="Inter"/>
                <a:ea typeface="Inter"/>
                <a:cs typeface="Inter"/>
                <a:sym typeface="Inter"/>
              </a:endParaRPr>
            </a:p>
          </p:txBody>
        </p:sp>
        <p:sp>
          <p:nvSpPr>
            <p:cNvPr id="224" name="Google Shape;224;p23"/>
            <p:cNvSpPr txBox="1"/>
            <p:nvPr/>
          </p:nvSpPr>
          <p:spPr>
            <a:xfrm>
              <a:off x="866775" y="4000500"/>
              <a:ext cx="4762500" cy="952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500" b="0">
                  <a:solidFill>
                    <a:srgbClr val="CBD5E1"/>
                  </a:solidFill>
                  <a:latin typeface="Inter"/>
                  <a:ea typeface="Inter"/>
                  <a:cs typeface="Inter"/>
                  <a:sym typeface="Inter"/>
                </a:rPr>
                <a:t>Tüm görüntüler </a:t>
              </a:r>
              <a:r>
                <a:rPr lang="en-US" sz="1500" b="1">
                  <a:solidFill>
                    <a:srgbClr val="F1F5F9"/>
                  </a:solidFill>
                  <a:latin typeface="Inter"/>
                  <a:ea typeface="Inter"/>
                  <a:cs typeface="Inter"/>
                  <a:sym typeface="Inter"/>
                </a:rPr>
                <a:t>EfficientNetB0</a:t>
              </a:r>
              <a:r>
                <a:rPr lang="en-US" sz="1500" b="0">
                  <a:solidFill>
                    <a:srgbClr val="CBD5E1"/>
                  </a:solidFill>
                  <a:latin typeface="Inter"/>
                  <a:ea typeface="Inter"/>
                  <a:cs typeface="Inter"/>
                  <a:sym typeface="Inter"/>
                </a:rPr>
                <a:t> giriş boyutuna (224x224) getirilerek optimize edilmiştir.</a:t>
              </a:r>
              <a:endParaRPr sz="1500" b="0">
                <a:solidFill>
                  <a:srgbClr val="CBD5E1"/>
                </a:solidFill>
                <a:latin typeface="Inter"/>
                <a:ea typeface="Inter"/>
                <a:cs typeface="Inter"/>
                <a:sym typeface="Inter"/>
              </a:endParaRPr>
            </a:p>
          </p:txBody>
        </p:sp>
      </p:grpSp>
      <p:grpSp>
        <p:nvGrpSpPr>
          <p:cNvPr id="225" name="Google Shape;225;p23"/>
          <p:cNvGrpSpPr/>
          <p:nvPr/>
        </p:nvGrpSpPr>
        <p:grpSpPr>
          <a:xfrm>
            <a:off x="6286500" y="1524000"/>
            <a:ext cx="5334000" cy="3810000"/>
            <a:chOff x="6286500" y="1524000"/>
            <a:chExt cx="5334000" cy="3810000"/>
          </a:xfrm>
        </p:grpSpPr>
        <p:sp>
          <p:nvSpPr>
            <p:cNvPr id="226" name="Google Shape;226;p23"/>
            <p:cNvSpPr/>
            <p:nvPr/>
          </p:nvSpPr>
          <p:spPr>
            <a:xfrm>
              <a:off x="6286500" y="1524000"/>
              <a:ext cx="5334000" cy="3810000"/>
            </a:xfrm>
            <a:prstGeom prst="roundRect">
              <a:avLst>
                <a:gd name="adj" fmla="val 4000"/>
              </a:avLst>
            </a:prstGeom>
            <a:solidFill>
              <a:srgbClr val="1E293B">
                <a:alpha val="4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7" name="Google Shape;227;p23"/>
            <p:cNvSpPr txBox="1"/>
            <p:nvPr/>
          </p:nvSpPr>
          <p:spPr>
            <a:xfrm>
              <a:off x="7048500" y="1809750"/>
              <a:ext cx="4286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60A5FA"/>
                  </a:solidFill>
                  <a:latin typeface="Urbanist"/>
                  <a:ea typeface="Urbanist"/>
                  <a:cs typeface="Urbanist"/>
                  <a:sym typeface="Urbanist"/>
                </a:rPr>
                <a:t>Standardizasyonun Faydaları</a:t>
              </a:r>
              <a:endParaRPr sz="2200" b="1">
                <a:solidFill>
                  <a:srgbClr val="60A5FA"/>
                </a:solidFill>
                <a:latin typeface="Urbanist"/>
                <a:ea typeface="Urbanist"/>
                <a:cs typeface="Urbanist"/>
                <a:sym typeface="Urbanist"/>
              </a:endParaRPr>
            </a:p>
          </p:txBody>
        </p:sp>
        <p:sp>
          <p:nvSpPr>
            <p:cNvPr id="228" name="Google Shape;228;p23"/>
            <p:cNvSpPr txBox="1"/>
            <p:nvPr/>
          </p:nvSpPr>
          <p:spPr>
            <a:xfrm>
              <a:off x="6572250" y="2381250"/>
              <a:ext cx="4762500" cy="2667000"/>
            </a:xfrm>
            <a:prstGeom prst="rect">
              <a:avLst/>
            </a:prstGeom>
            <a:noFill/>
            <a:ln>
              <a:noFill/>
            </a:ln>
          </p:spPr>
          <p:txBody>
            <a:bodyPr spcFirstLastPara="1" wrap="square" lIns="0" tIns="0" rIns="0" bIns="0" anchor="t" anchorCtr="0">
              <a:noAutofit/>
            </a:bodyPr>
            <a:lstStyle/>
            <a:p>
              <a:pPr marL="457200" lvl="0" indent="-323850" algn="l" rtl="0">
                <a:spcBef>
                  <a:spcPts val="0"/>
                </a:spcBef>
                <a:spcAft>
                  <a:spcPts val="0"/>
                </a:spcAft>
                <a:buClr>
                  <a:srgbClr val="CBD5E1"/>
                </a:buClr>
                <a:buSzPts val="1500"/>
                <a:buFont typeface="Inter"/>
                <a:buChar char="●"/>
              </a:pPr>
              <a:r>
                <a:rPr lang="en-US" sz="1500" b="0">
                  <a:solidFill>
                    <a:srgbClr val="CBD5E1"/>
                  </a:solidFill>
                  <a:latin typeface="Inter"/>
                  <a:ea typeface="Inter"/>
                  <a:cs typeface="Inter"/>
                  <a:sym typeface="Inter"/>
                </a:rPr>
                <a:t>Boyutlar arası </a:t>
              </a:r>
              <a:r>
                <a:rPr lang="en-US" sz="1500" b="1">
                  <a:solidFill>
                    <a:srgbClr val="F1F5F9"/>
                  </a:solidFill>
                  <a:latin typeface="Inter"/>
                  <a:ea typeface="Inter"/>
                  <a:cs typeface="Inter"/>
                  <a:sym typeface="Inter"/>
                </a:rPr>
                <a:t>tam tutarlılık</a:t>
              </a:r>
              <a:r>
                <a:rPr lang="en-US" sz="1500" b="0">
                  <a:solidFill>
                    <a:srgbClr val="CBD5E1"/>
                  </a:solidFill>
                  <a:latin typeface="Inter"/>
                  <a:ea typeface="Inter"/>
                  <a:cs typeface="Inter"/>
                  <a:sym typeface="Inter"/>
                </a:rPr>
                <a:t> sağlandı.</a:t>
              </a:r>
              <a:endParaRPr sz="1500" b="0">
                <a:solidFill>
                  <a:srgbClr val="CBD5E1"/>
                </a:solidFill>
                <a:latin typeface="Inter"/>
                <a:ea typeface="Inter"/>
                <a:cs typeface="Inter"/>
                <a:sym typeface="Inter"/>
              </a:endParaRPr>
            </a:p>
            <a:p>
              <a:pPr marL="457200" lvl="0" indent="-323850" algn="l" rtl="0">
                <a:spcBef>
                  <a:spcPts val="900"/>
                </a:spcBef>
                <a:spcAft>
                  <a:spcPts val="0"/>
                </a:spcAft>
                <a:buClr>
                  <a:srgbClr val="CBD5E1"/>
                </a:buClr>
                <a:buSzPts val="1500"/>
                <a:buFont typeface="Inter"/>
                <a:buChar char="●"/>
              </a:pPr>
              <a:r>
                <a:rPr lang="en-US" sz="1500" b="0">
                  <a:solidFill>
                    <a:srgbClr val="CBD5E1"/>
                  </a:solidFill>
                  <a:latin typeface="Inter"/>
                  <a:ea typeface="Inter"/>
                  <a:cs typeface="Inter"/>
                  <a:sym typeface="Inter"/>
                </a:rPr>
                <a:t>Retina dışındaki siyah bölgeler kırpılarak </a:t>
              </a:r>
              <a:r>
                <a:rPr lang="en-US" sz="1500" b="1">
                  <a:solidFill>
                    <a:srgbClr val="F1F5F9"/>
                  </a:solidFill>
                  <a:latin typeface="Inter"/>
                  <a:ea typeface="Inter"/>
                  <a:cs typeface="Inter"/>
                  <a:sym typeface="Inter"/>
                </a:rPr>
                <a:t>gürültü azaltıldı</a:t>
              </a:r>
              <a:r>
                <a:rPr lang="en-US" sz="1500" b="0">
                  <a:solidFill>
                    <a:srgbClr val="CBD5E1"/>
                  </a:solidFill>
                  <a:latin typeface="Inter"/>
                  <a:ea typeface="Inter"/>
                  <a:cs typeface="Inter"/>
                  <a:sym typeface="Inter"/>
                </a:rPr>
                <a:t>.</a:t>
              </a:r>
              <a:endParaRPr sz="1500" b="0">
                <a:solidFill>
                  <a:srgbClr val="CBD5E1"/>
                </a:solidFill>
                <a:latin typeface="Inter"/>
                <a:ea typeface="Inter"/>
                <a:cs typeface="Inter"/>
                <a:sym typeface="Inter"/>
              </a:endParaRPr>
            </a:p>
            <a:p>
              <a:pPr marL="457200" lvl="0" indent="-323850" algn="l" rtl="0">
                <a:spcBef>
                  <a:spcPts val="900"/>
                </a:spcBef>
                <a:spcAft>
                  <a:spcPts val="900"/>
                </a:spcAft>
                <a:buClr>
                  <a:srgbClr val="CBD5E1"/>
                </a:buClr>
                <a:buSzPts val="1500"/>
                <a:buFont typeface="Inter"/>
                <a:buChar char="●"/>
              </a:pPr>
              <a:r>
                <a:rPr lang="en-US" sz="1500" b="0">
                  <a:solidFill>
                    <a:srgbClr val="CBD5E1"/>
                  </a:solidFill>
                  <a:latin typeface="Inter"/>
                  <a:ea typeface="Inter"/>
                  <a:cs typeface="Inter"/>
                  <a:sym typeface="Inter"/>
                </a:rPr>
                <a:t>Modelin </a:t>
              </a:r>
              <a:r>
                <a:rPr lang="en-US" sz="1500" b="1">
                  <a:solidFill>
                    <a:srgbClr val="F1F5F9"/>
                  </a:solidFill>
                  <a:latin typeface="Inter"/>
                  <a:ea typeface="Inter"/>
                  <a:cs typeface="Inter"/>
                  <a:sym typeface="Inter"/>
                </a:rPr>
                <a:t>öğrenme hızı</a:t>
              </a:r>
              <a:r>
                <a:rPr lang="en-US" sz="1500" b="0">
                  <a:solidFill>
                    <a:srgbClr val="CBD5E1"/>
                  </a:solidFill>
                  <a:latin typeface="Inter"/>
                  <a:ea typeface="Inter"/>
                  <a:cs typeface="Inter"/>
                  <a:sym typeface="Inter"/>
                </a:rPr>
                <a:t> ve bellek kullanımı optimize edildi.</a:t>
              </a:r>
              <a:endParaRPr sz="1500" b="0">
                <a:solidFill>
                  <a:srgbClr val="CBD5E1"/>
                </a:solidFill>
                <a:latin typeface="Inter"/>
                <a:ea typeface="Inter"/>
                <a:cs typeface="Inter"/>
                <a:sym typeface="Inter"/>
              </a:endParaRPr>
            </a:p>
          </p:txBody>
        </p:sp>
      </p:grpSp>
      <p:sp>
        <p:nvSpPr>
          <p:cNvPr id="229" name="Google Shape;229;p23"/>
          <p:cNvSpPr/>
          <p:nvPr/>
        </p:nvSpPr>
        <p:spPr>
          <a:xfrm>
            <a:off x="581025" y="5715000"/>
            <a:ext cx="11030100" cy="9600"/>
          </a:xfrm>
          <a:prstGeom prst="rect">
            <a:avLst/>
          </a:prstGeom>
          <a:solidFill>
            <a:srgbClr val="33415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0" name="Google Shape;230;p23"/>
          <p:cNvSpPr txBox="1"/>
          <p:nvPr/>
        </p:nvSpPr>
        <p:spPr>
          <a:xfrm>
            <a:off x="581025" y="5905500"/>
            <a:ext cx="110301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0">
                <a:solidFill>
                  <a:srgbClr val="94A3B8"/>
                </a:solidFill>
                <a:latin typeface="Inter"/>
                <a:ea typeface="Inter"/>
                <a:cs typeface="Inter"/>
                <a:sym typeface="Inter"/>
              </a:rPr>
              <a:t>VERİ HAZIRLIĞI: Model verimliliğini artırmak için yapısal görüntü düzenleme süreci.</a:t>
            </a:r>
            <a:endParaRPr sz="1400" b="0">
              <a:solidFill>
                <a:srgbClr val="94A3B8"/>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4"/>
        <p:cNvGrpSpPr/>
        <p:nvPr/>
      </p:nvGrpSpPr>
      <p:grpSpPr>
        <a:xfrm>
          <a:off x="0" y="0"/>
          <a:ext cx="0" cy="0"/>
          <a:chOff x="0" y="0"/>
          <a:chExt cx="0" cy="0"/>
        </a:xfrm>
      </p:grpSpPr>
      <p:pic>
        <p:nvPicPr>
          <p:cNvPr id="235" name="Google Shape;235;p24"/>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236" name="Google Shape;236;p24"/>
          <p:cNvSpPr/>
          <p:nvPr/>
        </p:nvSpPr>
        <p:spPr>
          <a:xfrm>
            <a:off x="581025" y="581025"/>
            <a:ext cx="57300" cy="4857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7" name="Google Shape;237;p24"/>
          <p:cNvSpPr txBox="1"/>
          <p:nvPr/>
        </p:nvSpPr>
        <p:spPr>
          <a:xfrm>
            <a:off x="771525" y="581025"/>
            <a:ext cx="10477500" cy="48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150" b="1">
                <a:solidFill>
                  <a:srgbClr val="60A5FA"/>
                </a:solidFill>
                <a:latin typeface="Urbanist"/>
                <a:ea typeface="Urbanist"/>
                <a:cs typeface="Urbanist"/>
                <a:sym typeface="Urbanist"/>
              </a:rPr>
              <a:t>Kontrast İyileştirme (CLAHE)</a:t>
            </a:r>
            <a:endParaRPr sz="3150" b="1">
              <a:solidFill>
                <a:srgbClr val="60A5FA"/>
              </a:solidFill>
              <a:latin typeface="Urbanist"/>
              <a:ea typeface="Urbanist"/>
              <a:cs typeface="Urbanist"/>
              <a:sym typeface="Urbanist"/>
            </a:endParaRPr>
          </a:p>
        </p:txBody>
      </p:sp>
      <p:pic>
        <p:nvPicPr>
          <p:cNvPr id="238" name="Google Shape;238;p24" descr="A high-resolution side-by-side comparison of a retinal fundus image before and after CLAHE contrast enhancement. The 'after' image shows significantly more detail in blood vessels and lesions against a dark professional background."/>
          <p:cNvPicPr preferRelativeResize="0"/>
          <p:nvPr/>
        </p:nvPicPr>
        <p:blipFill rotWithShape="1">
          <a:blip r:embed="rId5">
            <a:alphaModFix/>
          </a:blip>
          <a:srcRect t="2381" b="2381"/>
          <a:stretch/>
        </p:blipFill>
        <p:spPr>
          <a:xfrm>
            <a:off x="581025" y="1524000"/>
            <a:ext cx="5334000" cy="3810000"/>
          </a:xfrm>
          <a:prstGeom prst="roundRect">
            <a:avLst>
              <a:gd name="adj" fmla="val 4000"/>
            </a:avLst>
          </a:prstGeom>
          <a:noFill/>
          <a:ln>
            <a:noFill/>
          </a:ln>
        </p:spPr>
      </p:pic>
      <p:sp>
        <p:nvSpPr>
          <p:cNvPr id="239" name="Google Shape;239;p24"/>
          <p:cNvSpPr/>
          <p:nvPr/>
        </p:nvSpPr>
        <p:spPr>
          <a:xfrm>
            <a:off x="581025" y="1524000"/>
            <a:ext cx="5334000" cy="3810000"/>
          </a:xfrm>
          <a:prstGeom prst="roundRect">
            <a:avLst>
              <a:gd name="adj" fmla="val 4000"/>
            </a:avLst>
          </a:prstGeom>
          <a:solidFill>
            <a:srgbClr val="000000">
              <a:alpha val="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40" name="Google Shape;240;p24"/>
          <p:cNvGrpSpPr/>
          <p:nvPr/>
        </p:nvGrpSpPr>
        <p:grpSpPr>
          <a:xfrm>
            <a:off x="6286500" y="1524000"/>
            <a:ext cx="5334000" cy="3810000"/>
            <a:chOff x="6286500" y="1524000"/>
            <a:chExt cx="5334000" cy="3810000"/>
          </a:xfrm>
        </p:grpSpPr>
        <p:sp>
          <p:nvSpPr>
            <p:cNvPr id="241" name="Google Shape;241;p24"/>
            <p:cNvSpPr/>
            <p:nvPr/>
          </p:nvSpPr>
          <p:spPr>
            <a:xfrm>
              <a:off x="6286500" y="1524000"/>
              <a:ext cx="5334000" cy="3810000"/>
            </a:xfrm>
            <a:prstGeom prst="roundRect">
              <a:avLst>
                <a:gd name="adj" fmla="val 4000"/>
              </a:avLst>
            </a:prstGeom>
            <a:solidFill>
              <a:srgbClr val="1E293B">
                <a:alpha val="4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2" name="Google Shape;242;p24"/>
            <p:cNvSpPr txBox="1"/>
            <p:nvPr/>
          </p:nvSpPr>
          <p:spPr>
            <a:xfrm>
              <a:off x="7048500" y="1809750"/>
              <a:ext cx="4286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60A5FA"/>
                  </a:solidFill>
                  <a:latin typeface="Urbanist"/>
                  <a:ea typeface="Urbanist"/>
                  <a:cs typeface="Urbanist"/>
                  <a:sym typeface="Urbanist"/>
                </a:rPr>
                <a:t>Doku Belirginleştirme</a:t>
              </a:r>
              <a:endParaRPr sz="2200" b="1">
                <a:solidFill>
                  <a:srgbClr val="60A5FA"/>
                </a:solidFill>
                <a:latin typeface="Urbanist"/>
                <a:ea typeface="Urbanist"/>
                <a:cs typeface="Urbanist"/>
                <a:sym typeface="Urbanist"/>
              </a:endParaRPr>
            </a:p>
          </p:txBody>
        </p:sp>
        <p:sp>
          <p:nvSpPr>
            <p:cNvPr id="243" name="Google Shape;243;p24"/>
            <p:cNvSpPr txBox="1"/>
            <p:nvPr/>
          </p:nvSpPr>
          <p:spPr>
            <a:xfrm>
              <a:off x="6572250" y="2381250"/>
              <a:ext cx="4762500" cy="2667000"/>
            </a:xfrm>
            <a:prstGeom prst="rect">
              <a:avLst/>
            </a:prstGeom>
            <a:noFill/>
            <a:ln>
              <a:noFill/>
            </a:ln>
          </p:spPr>
          <p:txBody>
            <a:bodyPr spcFirstLastPara="1" wrap="square" lIns="0" tIns="0" rIns="0" bIns="0" anchor="t" anchorCtr="0">
              <a:noAutofit/>
            </a:bodyPr>
            <a:lstStyle/>
            <a:p>
              <a:pPr marL="457200" lvl="0" indent="-323850" algn="l" rtl="0">
                <a:spcBef>
                  <a:spcPts val="0"/>
                </a:spcBef>
                <a:spcAft>
                  <a:spcPts val="0"/>
                </a:spcAft>
                <a:buClr>
                  <a:srgbClr val="CBD5E1"/>
                </a:buClr>
                <a:buSzPts val="1500"/>
                <a:buFont typeface="Inter"/>
                <a:buChar char="●"/>
              </a:pPr>
              <a:r>
                <a:rPr lang="en-US" sz="1500" b="0">
                  <a:solidFill>
                    <a:srgbClr val="CBD5E1"/>
                  </a:solidFill>
                  <a:latin typeface="Inter"/>
                  <a:ea typeface="Inter"/>
                  <a:cs typeface="Inter"/>
                  <a:sym typeface="Inter"/>
                </a:rPr>
                <a:t>Kılcal damarlar ve mikro-kanamalar gibi ince detayların çoklu teşhislerde gözden kaçmaması için </a:t>
              </a:r>
              <a:r>
                <a:rPr lang="en-US" sz="1500" b="1">
                  <a:solidFill>
                    <a:srgbClr val="F1F5F9"/>
                  </a:solidFill>
                  <a:latin typeface="Inter"/>
                  <a:ea typeface="Inter"/>
                  <a:cs typeface="Inter"/>
                  <a:sym typeface="Inter"/>
                </a:rPr>
                <a:t>CLAHE</a:t>
              </a:r>
              <a:r>
                <a:rPr lang="en-US" sz="1500" b="0">
                  <a:solidFill>
                    <a:srgbClr val="CBD5E1"/>
                  </a:solidFill>
                  <a:latin typeface="Inter"/>
                  <a:ea typeface="Inter"/>
                  <a:cs typeface="Inter"/>
                  <a:sym typeface="Inter"/>
                </a:rPr>
                <a:t> algoritması kullanıldı.</a:t>
              </a:r>
              <a:endParaRPr sz="1500" b="0">
                <a:solidFill>
                  <a:srgbClr val="CBD5E1"/>
                </a:solidFill>
                <a:latin typeface="Inter"/>
                <a:ea typeface="Inter"/>
                <a:cs typeface="Inter"/>
                <a:sym typeface="Inter"/>
              </a:endParaRPr>
            </a:p>
            <a:p>
              <a:pPr marL="457200" lvl="0" indent="-323850" algn="l" rtl="0">
                <a:spcBef>
                  <a:spcPts val="900"/>
                </a:spcBef>
                <a:spcAft>
                  <a:spcPts val="0"/>
                </a:spcAft>
                <a:buClr>
                  <a:srgbClr val="CBD5E1"/>
                </a:buClr>
                <a:buSzPts val="1500"/>
                <a:buFont typeface="Inter"/>
                <a:buChar char="●"/>
              </a:pPr>
              <a:r>
                <a:rPr lang="en-US" sz="1500" b="0">
                  <a:solidFill>
                    <a:srgbClr val="CBD5E1"/>
                  </a:solidFill>
                  <a:latin typeface="Inter"/>
                  <a:ea typeface="Inter"/>
                  <a:cs typeface="Inter"/>
                  <a:sym typeface="Inter"/>
                </a:rPr>
                <a:t>Düşük ışıklı çekimlerde bile lezyonlar ayırt edilebilir hale getirildi.</a:t>
              </a:r>
              <a:endParaRPr sz="1500" b="0">
                <a:solidFill>
                  <a:srgbClr val="CBD5E1"/>
                </a:solidFill>
                <a:latin typeface="Inter"/>
                <a:ea typeface="Inter"/>
                <a:cs typeface="Inter"/>
                <a:sym typeface="Inter"/>
              </a:endParaRPr>
            </a:p>
            <a:p>
              <a:pPr marL="457200" lvl="0" indent="-323850" algn="l" rtl="0">
                <a:spcBef>
                  <a:spcPts val="900"/>
                </a:spcBef>
                <a:spcAft>
                  <a:spcPts val="900"/>
                </a:spcAft>
                <a:buClr>
                  <a:srgbClr val="CBD5E1"/>
                </a:buClr>
                <a:buSzPts val="1500"/>
                <a:buFont typeface="Inter"/>
                <a:buChar char="●"/>
              </a:pPr>
              <a:r>
                <a:rPr lang="en-US" sz="1500" b="0">
                  <a:solidFill>
                    <a:srgbClr val="CBD5E1"/>
                  </a:solidFill>
                  <a:latin typeface="Inter"/>
                  <a:ea typeface="Inter"/>
                  <a:cs typeface="Inter"/>
                  <a:sym typeface="Inter"/>
                </a:rPr>
                <a:t>Piksel yoğunluğu dağıtılarak </a:t>
              </a:r>
              <a:r>
                <a:rPr lang="en-US" sz="1500" b="1">
                  <a:solidFill>
                    <a:srgbClr val="F1F5F9"/>
                  </a:solidFill>
                  <a:latin typeface="Inter"/>
                  <a:ea typeface="Inter"/>
                  <a:cs typeface="Inter"/>
                  <a:sym typeface="Inter"/>
                </a:rPr>
                <a:t>yerel kontrast</a:t>
              </a:r>
              <a:r>
                <a:rPr lang="en-US" sz="1500" b="0">
                  <a:solidFill>
                    <a:srgbClr val="CBD5E1"/>
                  </a:solidFill>
                  <a:latin typeface="Inter"/>
                  <a:ea typeface="Inter"/>
                  <a:cs typeface="Inter"/>
                  <a:sym typeface="Inter"/>
                </a:rPr>
                <a:t> maksimize edildi.</a:t>
              </a:r>
              <a:endParaRPr sz="1500" b="0">
                <a:solidFill>
                  <a:srgbClr val="CBD5E1"/>
                </a:solidFill>
                <a:latin typeface="Inter"/>
                <a:ea typeface="Inter"/>
                <a:cs typeface="Inter"/>
                <a:sym typeface="Inter"/>
              </a:endParaRPr>
            </a:p>
          </p:txBody>
        </p:sp>
      </p:grpSp>
      <p:sp>
        <p:nvSpPr>
          <p:cNvPr id="244" name="Google Shape;244;p24"/>
          <p:cNvSpPr/>
          <p:nvPr/>
        </p:nvSpPr>
        <p:spPr>
          <a:xfrm>
            <a:off x="581025" y="5715000"/>
            <a:ext cx="11030100" cy="9600"/>
          </a:xfrm>
          <a:prstGeom prst="rect">
            <a:avLst/>
          </a:prstGeom>
          <a:solidFill>
            <a:srgbClr val="33415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5" name="Google Shape;245;p24"/>
          <p:cNvSpPr txBox="1"/>
          <p:nvPr/>
        </p:nvSpPr>
        <p:spPr>
          <a:xfrm>
            <a:off x="581025" y="5905500"/>
            <a:ext cx="110301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0">
                <a:solidFill>
                  <a:srgbClr val="94A3B8"/>
                </a:solidFill>
                <a:latin typeface="Inter"/>
                <a:ea typeface="Inter"/>
                <a:cs typeface="Inter"/>
                <a:sym typeface="Inter"/>
              </a:rPr>
              <a:t>GÖRÜNTÜ İŞLEME: Teşhis doğruluğunu artırmak için dokusal detayların vurgulanması süreci.</a:t>
            </a:r>
            <a:endParaRPr sz="1400" b="0">
              <a:solidFill>
                <a:srgbClr val="94A3B8"/>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9"/>
        <p:cNvGrpSpPr/>
        <p:nvPr/>
      </p:nvGrpSpPr>
      <p:grpSpPr>
        <a:xfrm>
          <a:off x="0" y="0"/>
          <a:ext cx="0" cy="0"/>
          <a:chOff x="0" y="0"/>
          <a:chExt cx="0" cy="0"/>
        </a:xfrm>
      </p:grpSpPr>
      <p:sp>
        <p:nvSpPr>
          <p:cNvPr id="250" name="Google Shape;250;p25"/>
          <p:cNvSpPr/>
          <p:nvPr/>
        </p:nvSpPr>
        <p:spPr>
          <a:xfrm>
            <a:off x="581025" y="581025"/>
            <a:ext cx="57300" cy="4857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1" name="Google Shape;251;p25"/>
          <p:cNvSpPr txBox="1"/>
          <p:nvPr/>
        </p:nvSpPr>
        <p:spPr>
          <a:xfrm>
            <a:off x="771525" y="581025"/>
            <a:ext cx="10477500" cy="48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150" b="1">
                <a:solidFill>
                  <a:srgbClr val="60A5FA"/>
                </a:solidFill>
                <a:latin typeface="Urbanist"/>
                <a:ea typeface="Urbanist"/>
                <a:cs typeface="Urbanist"/>
                <a:sym typeface="Urbanist"/>
              </a:rPr>
              <a:t>Veri Artırma (Augmentation)</a:t>
            </a:r>
            <a:endParaRPr sz="3150" b="1">
              <a:solidFill>
                <a:srgbClr val="60A5FA"/>
              </a:solidFill>
              <a:latin typeface="Urbanist"/>
              <a:ea typeface="Urbanist"/>
              <a:cs typeface="Urbanist"/>
              <a:sym typeface="Urbanist"/>
            </a:endParaRPr>
          </a:p>
        </p:txBody>
      </p:sp>
      <p:pic>
        <p:nvPicPr>
          <p:cNvPr id="252" name="Google Shape;252;p25" descr="A grid of four retinal fundus images showing data augmentation techniques like rotation, flipping, and brightness changes in a scientific medical visualization style."/>
          <p:cNvPicPr preferRelativeResize="0"/>
          <p:nvPr/>
        </p:nvPicPr>
        <p:blipFill rotWithShape="1">
          <a:blip r:embed="rId4">
            <a:alphaModFix/>
          </a:blip>
          <a:srcRect t="2381" b="2381"/>
          <a:stretch/>
        </p:blipFill>
        <p:spPr>
          <a:xfrm>
            <a:off x="581025" y="1524000"/>
            <a:ext cx="5334000" cy="3810000"/>
          </a:xfrm>
          <a:prstGeom prst="roundRect">
            <a:avLst>
              <a:gd name="adj" fmla="val 4000"/>
            </a:avLst>
          </a:prstGeom>
          <a:noFill/>
          <a:ln>
            <a:noFill/>
          </a:ln>
        </p:spPr>
      </p:pic>
      <p:sp>
        <p:nvSpPr>
          <p:cNvPr id="253" name="Google Shape;253;p25"/>
          <p:cNvSpPr/>
          <p:nvPr/>
        </p:nvSpPr>
        <p:spPr>
          <a:xfrm>
            <a:off x="581025" y="1524000"/>
            <a:ext cx="5334000" cy="3810000"/>
          </a:xfrm>
          <a:prstGeom prst="roundRect">
            <a:avLst>
              <a:gd name="adj" fmla="val 4000"/>
            </a:avLst>
          </a:prstGeom>
          <a:solidFill>
            <a:srgbClr val="000000">
              <a:alpha val="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54" name="Google Shape;254;p25"/>
          <p:cNvGrpSpPr/>
          <p:nvPr/>
        </p:nvGrpSpPr>
        <p:grpSpPr>
          <a:xfrm>
            <a:off x="6286500" y="1524000"/>
            <a:ext cx="5334000" cy="3810000"/>
            <a:chOff x="6286500" y="1524000"/>
            <a:chExt cx="5334000" cy="3810000"/>
          </a:xfrm>
        </p:grpSpPr>
        <p:sp>
          <p:nvSpPr>
            <p:cNvPr id="255" name="Google Shape;255;p25"/>
            <p:cNvSpPr/>
            <p:nvPr/>
          </p:nvSpPr>
          <p:spPr>
            <a:xfrm>
              <a:off x="6286500" y="1524000"/>
              <a:ext cx="5334000" cy="3810000"/>
            </a:xfrm>
            <a:prstGeom prst="roundRect">
              <a:avLst>
                <a:gd name="adj" fmla="val 4000"/>
              </a:avLst>
            </a:prstGeom>
            <a:solidFill>
              <a:srgbClr val="1E293B">
                <a:alpha val="4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6" name="Google Shape;256;p25"/>
            <p:cNvSpPr txBox="1"/>
            <p:nvPr/>
          </p:nvSpPr>
          <p:spPr>
            <a:xfrm>
              <a:off x="6572250" y="1873377"/>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b="0" dirty="0">
                <a:solidFill>
                  <a:srgbClr val="60A5FA"/>
                </a:solidFill>
                <a:latin typeface="Material Icons"/>
                <a:ea typeface="Material Icons"/>
                <a:cs typeface="Material Icons"/>
                <a:sym typeface="Material Icons"/>
              </a:endParaRPr>
            </a:p>
          </p:txBody>
        </p:sp>
        <p:sp>
          <p:nvSpPr>
            <p:cNvPr id="257" name="Google Shape;257;p25"/>
            <p:cNvSpPr txBox="1"/>
            <p:nvPr/>
          </p:nvSpPr>
          <p:spPr>
            <a:xfrm>
              <a:off x="7048500" y="1809750"/>
              <a:ext cx="4286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60A5FA"/>
                  </a:solidFill>
                  <a:latin typeface="Urbanist"/>
                  <a:ea typeface="Urbanist"/>
                  <a:cs typeface="Urbanist"/>
                  <a:sym typeface="Urbanist"/>
                </a:rPr>
                <a:t>Çeşitlilik ve Dayanıklılık</a:t>
              </a:r>
              <a:endParaRPr sz="2200" b="1">
                <a:solidFill>
                  <a:srgbClr val="60A5FA"/>
                </a:solidFill>
                <a:latin typeface="Urbanist"/>
                <a:ea typeface="Urbanist"/>
                <a:cs typeface="Urbanist"/>
                <a:sym typeface="Urbanist"/>
              </a:endParaRPr>
            </a:p>
          </p:txBody>
        </p:sp>
        <p:sp>
          <p:nvSpPr>
            <p:cNvPr id="258" name="Google Shape;258;p25"/>
            <p:cNvSpPr txBox="1"/>
            <p:nvPr/>
          </p:nvSpPr>
          <p:spPr>
            <a:xfrm>
              <a:off x="6572250" y="2381250"/>
              <a:ext cx="4762500" cy="2667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500" b="0">
                  <a:solidFill>
                    <a:srgbClr val="CBD5E1"/>
                  </a:solidFill>
                  <a:latin typeface="Inter"/>
                  <a:ea typeface="Inter"/>
                  <a:cs typeface="Inter"/>
                  <a:sym typeface="Inter"/>
                </a:rPr>
                <a:t>Modelin farklı çekim açılarına karşı bağışıklık kazanması için:</a:t>
              </a:r>
              <a:endParaRPr sz="1500" b="0">
                <a:solidFill>
                  <a:srgbClr val="CBD5E1"/>
                </a:solidFill>
                <a:latin typeface="Inter"/>
                <a:ea typeface="Inter"/>
                <a:cs typeface="Inter"/>
                <a:sym typeface="Inter"/>
              </a:endParaRPr>
            </a:p>
            <a:p>
              <a:pPr marL="457200" lvl="0" indent="-323850" algn="l" rtl="0">
                <a:spcBef>
                  <a:spcPts val="900"/>
                </a:spcBef>
                <a:spcAft>
                  <a:spcPts val="0"/>
                </a:spcAft>
                <a:buClr>
                  <a:srgbClr val="CBD5E1"/>
                </a:buClr>
                <a:buSzPts val="1500"/>
                <a:buFont typeface="Inter"/>
                <a:buChar char="●"/>
              </a:pPr>
              <a:r>
                <a:rPr lang="en-US" sz="1500" b="1">
                  <a:solidFill>
                    <a:srgbClr val="F1F5F9"/>
                  </a:solidFill>
                  <a:latin typeface="Inter"/>
                  <a:ea typeface="Inter"/>
                  <a:cs typeface="Inter"/>
                  <a:sym typeface="Inter"/>
                </a:rPr>
                <a:t>Rastgele döndürme</a:t>
              </a:r>
              <a:r>
                <a:rPr lang="en-US" sz="1500" b="0">
                  <a:solidFill>
                    <a:srgbClr val="CBD5E1"/>
                  </a:solidFill>
                  <a:latin typeface="Inter"/>
                  <a:ea typeface="Inter"/>
                  <a:cs typeface="Inter"/>
                  <a:sym typeface="Inter"/>
                </a:rPr>
                <a:t> (Rotation)</a:t>
              </a:r>
              <a:endParaRPr sz="1500" b="0">
                <a:solidFill>
                  <a:srgbClr val="CBD5E1"/>
                </a:solidFill>
                <a:latin typeface="Inter"/>
                <a:ea typeface="Inter"/>
                <a:cs typeface="Inter"/>
                <a:sym typeface="Inter"/>
              </a:endParaRPr>
            </a:p>
            <a:p>
              <a:pPr marL="457200" lvl="0" indent="-323850" algn="l" rtl="0">
                <a:spcBef>
                  <a:spcPts val="675"/>
                </a:spcBef>
                <a:spcAft>
                  <a:spcPts val="0"/>
                </a:spcAft>
                <a:buClr>
                  <a:srgbClr val="CBD5E1"/>
                </a:buClr>
                <a:buSzPts val="1500"/>
                <a:buFont typeface="Inter"/>
                <a:buChar char="●"/>
              </a:pPr>
              <a:r>
                <a:rPr lang="en-US" sz="1500" b="1">
                  <a:solidFill>
                    <a:srgbClr val="F1F5F9"/>
                  </a:solidFill>
                  <a:latin typeface="Inter"/>
                  <a:ea typeface="Inter"/>
                  <a:cs typeface="Inter"/>
                  <a:sym typeface="Inter"/>
                </a:rPr>
                <a:t>Yatay çevirme</a:t>
              </a:r>
              <a:r>
                <a:rPr lang="en-US" sz="1500" b="0">
                  <a:solidFill>
                    <a:srgbClr val="CBD5E1"/>
                  </a:solidFill>
                  <a:latin typeface="Inter"/>
                  <a:ea typeface="Inter"/>
                  <a:cs typeface="Inter"/>
                  <a:sym typeface="Inter"/>
                </a:rPr>
                <a:t> (Horizontal Flip)</a:t>
              </a:r>
              <a:endParaRPr sz="1500" b="0">
                <a:solidFill>
                  <a:srgbClr val="CBD5E1"/>
                </a:solidFill>
                <a:latin typeface="Inter"/>
                <a:ea typeface="Inter"/>
                <a:cs typeface="Inter"/>
                <a:sym typeface="Inter"/>
              </a:endParaRPr>
            </a:p>
            <a:p>
              <a:pPr marL="457200" lvl="0" indent="-323850" algn="l" rtl="0">
                <a:spcBef>
                  <a:spcPts val="675"/>
                </a:spcBef>
                <a:spcAft>
                  <a:spcPts val="0"/>
                </a:spcAft>
                <a:buClr>
                  <a:srgbClr val="CBD5E1"/>
                </a:buClr>
                <a:buSzPts val="1500"/>
                <a:buFont typeface="Inter"/>
                <a:buChar char="●"/>
              </a:pPr>
              <a:r>
                <a:rPr lang="en-US" sz="1500" b="1">
                  <a:solidFill>
                    <a:srgbClr val="F1F5F9"/>
                  </a:solidFill>
                  <a:latin typeface="Inter"/>
                  <a:ea typeface="Inter"/>
                  <a:cs typeface="Inter"/>
                  <a:sym typeface="Inter"/>
                </a:rPr>
                <a:t>Parlaklık ve kontrast</a:t>
              </a:r>
              <a:r>
                <a:rPr lang="en-US" sz="1500" b="0">
                  <a:solidFill>
                    <a:srgbClr val="CBD5E1"/>
                  </a:solidFill>
                  <a:latin typeface="Inter"/>
                  <a:ea typeface="Inter"/>
                  <a:cs typeface="Inter"/>
                  <a:sym typeface="Inter"/>
                </a:rPr>
                <a:t> değişimleri</a:t>
              </a:r>
              <a:endParaRPr sz="1500" b="0">
                <a:solidFill>
                  <a:srgbClr val="CBD5E1"/>
                </a:solidFill>
                <a:latin typeface="Inter"/>
                <a:ea typeface="Inter"/>
                <a:cs typeface="Inter"/>
                <a:sym typeface="Inter"/>
              </a:endParaRPr>
            </a:p>
            <a:p>
              <a:pPr marL="0" lvl="0" indent="0" algn="l" rtl="0">
                <a:spcBef>
                  <a:spcPts val="1125"/>
                </a:spcBef>
                <a:spcAft>
                  <a:spcPts val="0"/>
                </a:spcAft>
                <a:buNone/>
              </a:pPr>
              <a:r>
                <a:rPr lang="en-US" sz="1500" b="0">
                  <a:solidFill>
                    <a:srgbClr val="CBD5E1"/>
                  </a:solidFill>
                  <a:latin typeface="Inter"/>
                  <a:ea typeface="Inter"/>
                  <a:cs typeface="Inter"/>
                  <a:sym typeface="Inter"/>
                </a:rPr>
                <a:t>Bu sayede model, sınırlı veriye rağmen </a:t>
              </a:r>
              <a:r>
                <a:rPr lang="en-US" sz="1500" b="1">
                  <a:solidFill>
                    <a:srgbClr val="F1F5F9"/>
                  </a:solidFill>
                  <a:latin typeface="Inter"/>
                  <a:ea typeface="Inter"/>
                  <a:cs typeface="Inter"/>
                  <a:sym typeface="Inter"/>
                </a:rPr>
                <a:t>"ezberlemek"</a:t>
              </a:r>
              <a:r>
                <a:rPr lang="en-US" sz="1500" b="0">
                  <a:solidFill>
                    <a:srgbClr val="CBD5E1"/>
                  </a:solidFill>
                  <a:latin typeface="Inter"/>
                  <a:ea typeface="Inter"/>
                  <a:cs typeface="Inter"/>
                  <a:sym typeface="Inter"/>
                </a:rPr>
                <a:t> yerine </a:t>
              </a:r>
              <a:r>
                <a:rPr lang="en-US" sz="1500" b="1">
                  <a:solidFill>
                    <a:srgbClr val="F1F5F9"/>
                  </a:solidFill>
                  <a:latin typeface="Inter"/>
                  <a:ea typeface="Inter"/>
                  <a:cs typeface="Inter"/>
                  <a:sym typeface="Inter"/>
                </a:rPr>
                <a:t>"öğrenmeyi"</a:t>
              </a:r>
              <a:r>
                <a:rPr lang="en-US" sz="1500" b="0">
                  <a:solidFill>
                    <a:srgbClr val="CBD5E1"/>
                  </a:solidFill>
                  <a:latin typeface="Inter"/>
                  <a:ea typeface="Inter"/>
                  <a:cs typeface="Inter"/>
                  <a:sym typeface="Inter"/>
                </a:rPr>
                <a:t> gerçekleştirir.</a:t>
              </a:r>
              <a:endParaRPr sz="1500" b="0">
                <a:solidFill>
                  <a:srgbClr val="CBD5E1"/>
                </a:solidFill>
                <a:latin typeface="Inter"/>
                <a:ea typeface="Inter"/>
                <a:cs typeface="Inter"/>
                <a:sym typeface="Inter"/>
              </a:endParaRPr>
            </a:p>
          </p:txBody>
        </p:sp>
      </p:grpSp>
      <p:sp>
        <p:nvSpPr>
          <p:cNvPr id="259" name="Google Shape;259;p25"/>
          <p:cNvSpPr/>
          <p:nvPr/>
        </p:nvSpPr>
        <p:spPr>
          <a:xfrm>
            <a:off x="581025" y="5715000"/>
            <a:ext cx="11030100" cy="9600"/>
          </a:xfrm>
          <a:prstGeom prst="rect">
            <a:avLst/>
          </a:prstGeom>
          <a:solidFill>
            <a:srgbClr val="33415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0" name="Google Shape;260;p25"/>
          <p:cNvSpPr txBox="1"/>
          <p:nvPr/>
        </p:nvSpPr>
        <p:spPr>
          <a:xfrm>
            <a:off x="581025" y="5905500"/>
            <a:ext cx="110301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0">
                <a:solidFill>
                  <a:srgbClr val="94A3B8"/>
                </a:solidFill>
                <a:latin typeface="Inter"/>
                <a:ea typeface="Inter"/>
                <a:cs typeface="Inter"/>
                <a:sym typeface="Inter"/>
              </a:rPr>
              <a:t>VERİ ARTIRMA: Modelin genelleme yeteneğini artırmak için sentetik varyasyon oluşturma süreci.</a:t>
            </a:r>
            <a:endParaRPr sz="1400" b="0">
              <a:solidFill>
                <a:srgbClr val="94A3B8"/>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4"/>
        <p:cNvGrpSpPr/>
        <p:nvPr/>
      </p:nvGrpSpPr>
      <p:grpSpPr>
        <a:xfrm>
          <a:off x="0" y="0"/>
          <a:ext cx="0" cy="0"/>
          <a:chOff x="0" y="0"/>
          <a:chExt cx="0" cy="0"/>
        </a:xfrm>
      </p:grpSpPr>
      <p:sp>
        <p:nvSpPr>
          <p:cNvPr id="265" name="Google Shape;265;p26"/>
          <p:cNvSpPr/>
          <p:nvPr/>
        </p:nvSpPr>
        <p:spPr>
          <a:xfrm>
            <a:off x="581025" y="581025"/>
            <a:ext cx="57300" cy="4857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6" name="Google Shape;266;p26"/>
          <p:cNvSpPr txBox="1"/>
          <p:nvPr/>
        </p:nvSpPr>
        <p:spPr>
          <a:xfrm>
            <a:off x="771525" y="581025"/>
            <a:ext cx="10477500" cy="48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150" b="1">
                <a:solidFill>
                  <a:srgbClr val="60A5FA"/>
                </a:solidFill>
                <a:latin typeface="Urbanist"/>
                <a:ea typeface="Urbanist"/>
                <a:cs typeface="Urbanist"/>
                <a:sym typeface="Urbanist"/>
              </a:rPr>
              <a:t>Sınıf Dengesizliği Çözümü</a:t>
            </a:r>
            <a:endParaRPr sz="3150" b="1">
              <a:solidFill>
                <a:srgbClr val="60A5FA"/>
              </a:solidFill>
              <a:latin typeface="Urbanist"/>
              <a:ea typeface="Urbanist"/>
              <a:cs typeface="Urbanist"/>
              <a:sym typeface="Urbanist"/>
            </a:endParaRPr>
          </a:p>
        </p:txBody>
      </p:sp>
      <p:pic>
        <p:nvPicPr>
          <p:cNvPr id="267" name="Google Shape;267;p26" descr="A sophisticated 3D visualization of a neural network loss landscape with deep valleys and high peaks, representing a complex mathematical optimization process, in a dark medical tech aesthetic with blue glowing highlights."/>
          <p:cNvPicPr preferRelativeResize="0"/>
          <p:nvPr/>
        </p:nvPicPr>
        <p:blipFill rotWithShape="1">
          <a:blip r:embed="rId4">
            <a:alphaModFix/>
          </a:blip>
          <a:srcRect t="2381" b="2381"/>
          <a:stretch/>
        </p:blipFill>
        <p:spPr>
          <a:xfrm>
            <a:off x="581025" y="1524000"/>
            <a:ext cx="5334000" cy="3810000"/>
          </a:xfrm>
          <a:prstGeom prst="roundRect">
            <a:avLst>
              <a:gd name="adj" fmla="val 4000"/>
            </a:avLst>
          </a:prstGeom>
          <a:noFill/>
          <a:ln>
            <a:noFill/>
          </a:ln>
        </p:spPr>
      </p:pic>
      <p:sp>
        <p:nvSpPr>
          <p:cNvPr id="268" name="Google Shape;268;p26"/>
          <p:cNvSpPr/>
          <p:nvPr/>
        </p:nvSpPr>
        <p:spPr>
          <a:xfrm>
            <a:off x="581025" y="1524000"/>
            <a:ext cx="5334000" cy="3810000"/>
          </a:xfrm>
          <a:prstGeom prst="roundRect">
            <a:avLst>
              <a:gd name="adj" fmla="val 4000"/>
            </a:avLst>
          </a:prstGeom>
          <a:solidFill>
            <a:srgbClr val="000000">
              <a:alpha val="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9" name="Google Shape;269;p26"/>
          <p:cNvSpPr/>
          <p:nvPr/>
        </p:nvSpPr>
        <p:spPr>
          <a:xfrm>
            <a:off x="6286500" y="1524000"/>
            <a:ext cx="5334000" cy="3810000"/>
          </a:xfrm>
          <a:prstGeom prst="roundRect">
            <a:avLst>
              <a:gd name="adj" fmla="val 4000"/>
            </a:avLst>
          </a:prstGeom>
          <a:solidFill>
            <a:srgbClr val="1E293B">
              <a:alpha val="4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0" name="Google Shape;270;p26"/>
          <p:cNvSpPr txBox="1"/>
          <p:nvPr/>
        </p:nvSpPr>
        <p:spPr>
          <a:xfrm>
            <a:off x="6572250" y="1901952"/>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271" name="Google Shape;271;p26"/>
          <p:cNvSpPr txBox="1"/>
          <p:nvPr/>
        </p:nvSpPr>
        <p:spPr>
          <a:xfrm>
            <a:off x="7048500" y="1809750"/>
            <a:ext cx="4286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60A5FA"/>
                </a:solidFill>
                <a:latin typeface="Urbanist"/>
                <a:ea typeface="Urbanist"/>
                <a:cs typeface="Urbanist"/>
                <a:sym typeface="Urbanist"/>
              </a:rPr>
              <a:t>Weighted Binary Crossentropy</a:t>
            </a:r>
            <a:endParaRPr sz="2200" b="1">
              <a:solidFill>
                <a:srgbClr val="60A5FA"/>
              </a:solidFill>
              <a:latin typeface="Urbanist"/>
              <a:ea typeface="Urbanist"/>
              <a:cs typeface="Urbanist"/>
              <a:sym typeface="Urbanist"/>
            </a:endParaRPr>
          </a:p>
        </p:txBody>
      </p:sp>
      <p:sp>
        <p:nvSpPr>
          <p:cNvPr id="272" name="Google Shape;272;p26"/>
          <p:cNvSpPr txBox="1"/>
          <p:nvPr/>
        </p:nvSpPr>
        <p:spPr>
          <a:xfrm>
            <a:off x="6572250" y="2381250"/>
            <a:ext cx="4762500" cy="304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500" b="0">
                <a:solidFill>
                  <a:srgbClr val="CBD5E1"/>
                </a:solidFill>
                <a:latin typeface="Inter"/>
                <a:ea typeface="Inter"/>
                <a:cs typeface="Inter"/>
                <a:sym typeface="Inter"/>
              </a:rPr>
              <a:t>Çoklu etiketleme problemlerinde nadir hastalıkların (örn. Glokom) tespiti için:</a:t>
            </a:r>
            <a:endParaRPr sz="1500" b="0">
              <a:solidFill>
                <a:srgbClr val="CBD5E1"/>
              </a:solidFill>
              <a:latin typeface="Inter"/>
              <a:ea typeface="Inter"/>
              <a:cs typeface="Inter"/>
              <a:sym typeface="Inter"/>
            </a:endParaRPr>
          </a:p>
          <a:p>
            <a:pPr marL="457200" lvl="0" indent="-323850" algn="l" rtl="0">
              <a:spcBef>
                <a:spcPts val="1200"/>
              </a:spcBef>
              <a:spcAft>
                <a:spcPts val="0"/>
              </a:spcAft>
              <a:buClr>
                <a:srgbClr val="CBD5E1"/>
              </a:buClr>
              <a:buSzPts val="1500"/>
              <a:buFont typeface="Inter"/>
              <a:buChar char="●"/>
            </a:pPr>
            <a:r>
              <a:rPr lang="en-US" sz="1500" b="1">
                <a:solidFill>
                  <a:srgbClr val="F1F5F9"/>
                </a:solidFill>
                <a:latin typeface="Inter"/>
                <a:ea typeface="Inter"/>
                <a:cs typeface="Inter"/>
                <a:sym typeface="Inter"/>
              </a:rPr>
              <a:t>Nadir sınıfların</a:t>
            </a:r>
            <a:r>
              <a:rPr lang="en-US" sz="1500" b="0">
                <a:solidFill>
                  <a:srgbClr val="CBD5E1"/>
                </a:solidFill>
                <a:latin typeface="Inter"/>
                <a:ea typeface="Inter"/>
                <a:cs typeface="Inter"/>
                <a:sym typeface="Inter"/>
              </a:rPr>
              <a:t> eğitimdeki ağırlığı artırılarak modelin bu vakalara hassasiyeti yükseltildi.</a:t>
            </a:r>
            <a:endParaRPr sz="1500" b="0">
              <a:solidFill>
                <a:srgbClr val="CBD5E1"/>
              </a:solidFill>
              <a:latin typeface="Inter"/>
              <a:ea typeface="Inter"/>
              <a:cs typeface="Inter"/>
              <a:sym typeface="Inter"/>
            </a:endParaRPr>
          </a:p>
          <a:p>
            <a:pPr marL="457200" lvl="0" indent="-323850" algn="l" rtl="0">
              <a:spcBef>
                <a:spcPts val="900"/>
              </a:spcBef>
              <a:spcAft>
                <a:spcPts val="0"/>
              </a:spcAft>
              <a:buClr>
                <a:srgbClr val="CBD5E1"/>
              </a:buClr>
              <a:buSzPts val="1500"/>
              <a:buFont typeface="Inter"/>
              <a:buChar char="●"/>
            </a:pPr>
            <a:r>
              <a:rPr lang="en-US" sz="1500" b="0">
                <a:solidFill>
                  <a:srgbClr val="CBD5E1"/>
                </a:solidFill>
                <a:latin typeface="Inter"/>
                <a:ea typeface="Inter"/>
                <a:cs typeface="Inter"/>
                <a:sym typeface="Inter"/>
              </a:rPr>
              <a:t>Modelin sadece "Normal" diyerek yüksek doğruluk alması (ezberlemesi) </a:t>
            </a:r>
            <a:r>
              <a:rPr lang="en-US" sz="1500" b="1">
                <a:solidFill>
                  <a:srgbClr val="F1F5F9"/>
                </a:solidFill>
                <a:latin typeface="Inter"/>
                <a:ea typeface="Inter"/>
                <a:cs typeface="Inter"/>
                <a:sym typeface="Inter"/>
              </a:rPr>
              <a:t>engellendi</a:t>
            </a:r>
            <a:r>
              <a:rPr lang="en-US" sz="1500" b="0">
                <a:solidFill>
                  <a:srgbClr val="CBD5E1"/>
                </a:solidFill>
                <a:latin typeface="Inter"/>
                <a:ea typeface="Inter"/>
                <a:cs typeface="Inter"/>
                <a:sym typeface="Inter"/>
              </a:rPr>
              <a:t>.</a:t>
            </a:r>
            <a:endParaRPr sz="1500" b="0">
              <a:solidFill>
                <a:srgbClr val="CBD5E1"/>
              </a:solidFill>
              <a:latin typeface="Inter"/>
              <a:ea typeface="Inter"/>
              <a:cs typeface="Inter"/>
              <a:sym typeface="Inter"/>
            </a:endParaRPr>
          </a:p>
          <a:p>
            <a:pPr marL="457200" lvl="0" indent="-323850" algn="l" rtl="0">
              <a:spcBef>
                <a:spcPts val="900"/>
              </a:spcBef>
              <a:spcAft>
                <a:spcPts val="900"/>
              </a:spcAft>
              <a:buClr>
                <a:srgbClr val="CBD5E1"/>
              </a:buClr>
              <a:buSzPts val="1500"/>
              <a:buFont typeface="Inter"/>
              <a:buChar char="●"/>
            </a:pPr>
            <a:r>
              <a:rPr lang="en-US" sz="1500" b="0">
                <a:solidFill>
                  <a:srgbClr val="CBD5E1"/>
                </a:solidFill>
                <a:latin typeface="Inter"/>
                <a:ea typeface="Inter"/>
                <a:cs typeface="Inter"/>
                <a:sym typeface="Inter"/>
              </a:rPr>
              <a:t>Her bir etiket için </a:t>
            </a:r>
            <a:r>
              <a:rPr lang="en-US" sz="1500" b="1">
                <a:solidFill>
                  <a:srgbClr val="F1F5F9"/>
                </a:solidFill>
                <a:latin typeface="Inter"/>
                <a:ea typeface="Inter"/>
                <a:cs typeface="Inter"/>
                <a:sym typeface="Inter"/>
              </a:rPr>
              <a:t>kayıp fonksiyonu</a:t>
            </a:r>
            <a:r>
              <a:rPr lang="en-US" sz="1500" b="0">
                <a:solidFill>
                  <a:srgbClr val="CBD5E1"/>
                </a:solidFill>
                <a:latin typeface="Inter"/>
                <a:ea typeface="Inter"/>
                <a:cs typeface="Inter"/>
                <a:sym typeface="Inter"/>
              </a:rPr>
              <a:t> diğerlerinden bağımsız olarak optimize edildi.</a:t>
            </a:r>
            <a:endParaRPr sz="1500" b="0">
              <a:solidFill>
                <a:srgbClr val="CBD5E1"/>
              </a:solidFill>
              <a:latin typeface="Inter"/>
              <a:ea typeface="Inter"/>
              <a:cs typeface="Inter"/>
              <a:sym typeface="Inter"/>
            </a:endParaRPr>
          </a:p>
        </p:txBody>
      </p:sp>
      <p:sp>
        <p:nvSpPr>
          <p:cNvPr id="273" name="Google Shape;273;p26"/>
          <p:cNvSpPr/>
          <p:nvPr/>
        </p:nvSpPr>
        <p:spPr>
          <a:xfrm>
            <a:off x="581025" y="5715000"/>
            <a:ext cx="11030100" cy="9600"/>
          </a:xfrm>
          <a:prstGeom prst="rect">
            <a:avLst/>
          </a:prstGeom>
          <a:solidFill>
            <a:srgbClr val="33415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4" name="Google Shape;274;p26"/>
          <p:cNvSpPr txBox="1"/>
          <p:nvPr/>
        </p:nvSpPr>
        <p:spPr>
          <a:xfrm>
            <a:off x="581025" y="5905500"/>
            <a:ext cx="110301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0">
                <a:solidFill>
                  <a:srgbClr val="94A3B8"/>
                </a:solidFill>
                <a:latin typeface="Inter"/>
                <a:ea typeface="Inter"/>
                <a:cs typeface="Inter"/>
                <a:sym typeface="Inter"/>
              </a:rPr>
              <a:t>DENGELEME STRATEJİSİ: Nadir hastalıkların teşhis başarısını artırmak için kullanılan matematiksel ceza yöntemi.</a:t>
            </a:r>
            <a:endParaRPr sz="1400" b="0">
              <a:solidFill>
                <a:srgbClr val="94A3B8"/>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78"/>
        <p:cNvGrpSpPr/>
        <p:nvPr/>
      </p:nvGrpSpPr>
      <p:grpSpPr>
        <a:xfrm>
          <a:off x="0" y="0"/>
          <a:ext cx="0" cy="0"/>
          <a:chOff x="0" y="0"/>
          <a:chExt cx="0" cy="0"/>
        </a:xfrm>
      </p:grpSpPr>
      <p:pic>
        <p:nvPicPr>
          <p:cNvPr id="279" name="Google Shape;279;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0" name="Google Shape;280;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1" name="Google Shape;281;p27" title="Ekran görüntüsü 2026-05-18 205441.png"/>
          <p:cNvPicPr preferRelativeResize="0"/>
          <p:nvPr/>
        </p:nvPicPr>
        <p:blipFill>
          <a:blip r:embed="rId4">
            <a:alphaModFix/>
          </a:blip>
          <a:stretch>
            <a:fillRect/>
          </a:stretch>
        </p:blipFill>
        <p:spPr>
          <a:xfrm>
            <a:off x="49112" y="64973"/>
            <a:ext cx="12093774" cy="6728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6" name="Google Shape;286;p28" title="Ekran görüntüsü 2026-05-18 205925.png"/>
          <p:cNvPicPr preferRelativeResize="0"/>
          <p:nvPr/>
        </p:nvPicPr>
        <p:blipFill>
          <a:blip r:embed="rId3">
            <a:alphaModFix/>
          </a:blip>
          <a:stretch>
            <a:fillRect/>
          </a:stretch>
        </p:blipFill>
        <p:spPr>
          <a:xfrm>
            <a:off x="-518250" y="-87900"/>
            <a:ext cx="13182150" cy="7033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0"/>
        <p:cNvGrpSpPr/>
        <p:nvPr/>
      </p:nvGrpSpPr>
      <p:grpSpPr>
        <a:xfrm>
          <a:off x="0" y="0"/>
          <a:ext cx="0" cy="0"/>
          <a:chOff x="0" y="0"/>
          <a:chExt cx="0" cy="0"/>
        </a:xfrm>
      </p:grpSpPr>
      <p:pic>
        <p:nvPicPr>
          <p:cNvPr id="291" name="Google Shape;291;p29"/>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292" name="Google Shape;292;p29"/>
          <p:cNvSpPr/>
          <p:nvPr/>
        </p:nvSpPr>
        <p:spPr>
          <a:xfrm>
            <a:off x="581025" y="581025"/>
            <a:ext cx="57300" cy="4857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3" name="Google Shape;293;p29"/>
          <p:cNvSpPr txBox="1"/>
          <p:nvPr/>
        </p:nvSpPr>
        <p:spPr>
          <a:xfrm>
            <a:off x="771525" y="581025"/>
            <a:ext cx="10668000" cy="485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3150" b="1">
                <a:solidFill>
                  <a:srgbClr val="60A5FA"/>
                </a:solidFill>
                <a:latin typeface="Urbanist"/>
                <a:ea typeface="Urbanist"/>
                <a:cs typeface="Urbanist"/>
                <a:sym typeface="Urbanist"/>
              </a:rPr>
              <a:t>Aktarımlı Öğrenme (Transfer Learning)</a:t>
            </a:r>
            <a:endParaRPr sz="3150" b="1">
              <a:solidFill>
                <a:srgbClr val="60A5FA"/>
              </a:solidFill>
              <a:latin typeface="Urbanist"/>
              <a:ea typeface="Urbanist"/>
              <a:cs typeface="Urbanist"/>
              <a:sym typeface="Urbanist"/>
            </a:endParaRPr>
          </a:p>
        </p:txBody>
      </p:sp>
      <p:sp>
        <p:nvSpPr>
          <p:cNvPr id="294" name="Google Shape;294;p29"/>
          <p:cNvSpPr txBox="1"/>
          <p:nvPr/>
        </p:nvSpPr>
        <p:spPr>
          <a:xfrm>
            <a:off x="581025" y="1333500"/>
            <a:ext cx="11030100" cy="1143000"/>
          </a:xfrm>
          <a:prstGeom prst="rect">
            <a:avLst/>
          </a:prstGeom>
          <a:solidFill>
            <a:srgbClr val="1E293B">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60A5FA"/>
                </a:solidFill>
                <a:latin typeface="Urbanist"/>
                <a:ea typeface="Urbanist"/>
                <a:cs typeface="Urbanist"/>
                <a:sym typeface="Urbanist"/>
              </a:rPr>
              <a:t>EfficientNetB0 Mimarisi</a:t>
            </a:r>
            <a:endParaRPr sz="1800" b="1">
              <a:solidFill>
                <a:srgbClr val="60A5FA"/>
              </a:solidFill>
              <a:latin typeface="Urbanist"/>
              <a:ea typeface="Urbanist"/>
              <a:cs typeface="Urbanist"/>
              <a:sym typeface="Urbanist"/>
            </a:endParaRPr>
          </a:p>
          <a:p>
            <a:pPr marL="0" lvl="0" indent="0" algn="l" rtl="0">
              <a:spcBef>
                <a:spcPts val="600"/>
              </a:spcBef>
              <a:spcAft>
                <a:spcPts val="0"/>
              </a:spcAft>
              <a:buNone/>
            </a:pPr>
            <a:r>
              <a:rPr lang="en-US" sz="1500" b="0">
                <a:solidFill>
                  <a:srgbClr val="CBD5E1"/>
                </a:solidFill>
                <a:latin typeface="Urbanist"/>
                <a:ea typeface="Urbanist"/>
                <a:cs typeface="Urbanist"/>
                <a:sym typeface="Urbanist"/>
              </a:rPr>
              <a:t>Projede sıfırdan bir model tasarlamak yerine, ImageNet üzerinde önceden eğitilmiş güçlü bir temel olan EfficientNetB0 mimarisi kullanılmıştır.</a:t>
            </a:r>
            <a:endParaRPr sz="1500" b="0">
              <a:solidFill>
                <a:srgbClr val="CBD5E1"/>
              </a:solidFill>
              <a:latin typeface="Urbanist"/>
              <a:ea typeface="Urbanist"/>
              <a:cs typeface="Urbanist"/>
              <a:sym typeface="Urbanist"/>
            </a:endParaRPr>
          </a:p>
        </p:txBody>
      </p:sp>
      <p:grpSp>
        <p:nvGrpSpPr>
          <p:cNvPr id="295" name="Google Shape;295;p29"/>
          <p:cNvGrpSpPr/>
          <p:nvPr/>
        </p:nvGrpSpPr>
        <p:grpSpPr>
          <a:xfrm>
            <a:off x="581025" y="2667000"/>
            <a:ext cx="5372100" cy="2667000"/>
            <a:chOff x="581025" y="2667000"/>
            <a:chExt cx="5372100" cy="2667000"/>
          </a:xfrm>
        </p:grpSpPr>
        <p:sp>
          <p:nvSpPr>
            <p:cNvPr id="296" name="Google Shape;296;p29"/>
            <p:cNvSpPr/>
            <p:nvPr/>
          </p:nvSpPr>
          <p:spPr>
            <a:xfrm>
              <a:off x="581025" y="2667000"/>
              <a:ext cx="5372100" cy="2667000"/>
            </a:xfrm>
            <a:prstGeom prst="roundRect">
              <a:avLst>
                <a:gd name="adj" fmla="val 4285"/>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7" name="Google Shape;297;p29"/>
            <p:cNvSpPr txBox="1"/>
            <p:nvPr/>
          </p:nvSpPr>
          <p:spPr>
            <a:xfrm>
              <a:off x="866775" y="2999486"/>
              <a:ext cx="48006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3200" dirty="0">
                <a:solidFill>
                  <a:srgbClr val="60A5FA"/>
                </a:solidFill>
                <a:latin typeface="Material Icons"/>
                <a:ea typeface="Material Icons"/>
                <a:cs typeface="Material Icons"/>
                <a:sym typeface="Material Icons"/>
              </a:endParaRPr>
            </a:p>
          </p:txBody>
        </p:sp>
        <p:sp>
          <p:nvSpPr>
            <p:cNvPr id="298" name="Google Shape;298;p29"/>
            <p:cNvSpPr txBox="1"/>
            <p:nvPr/>
          </p:nvSpPr>
          <p:spPr>
            <a:xfrm>
              <a:off x="866775" y="3619500"/>
              <a:ext cx="48006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Düşük Veri Avantajı</a:t>
              </a:r>
              <a:endParaRPr sz="2000" b="1">
                <a:solidFill>
                  <a:srgbClr val="F8FAFC"/>
                </a:solidFill>
                <a:latin typeface="Urbanist"/>
                <a:ea typeface="Urbanist"/>
                <a:cs typeface="Urbanist"/>
                <a:sym typeface="Urbanist"/>
              </a:endParaRPr>
            </a:p>
            <a:p>
              <a:pPr marL="0" lvl="0" indent="0" algn="l" rtl="0">
                <a:spcBef>
                  <a:spcPts val="900"/>
                </a:spcBef>
                <a:spcAft>
                  <a:spcPts val="0"/>
                </a:spcAft>
                <a:buNone/>
              </a:pPr>
              <a:r>
                <a:rPr lang="en-US" sz="1400" b="0">
                  <a:solidFill>
                    <a:srgbClr val="CBD5E1"/>
                  </a:solidFill>
                  <a:latin typeface="Inter"/>
                  <a:ea typeface="Inter"/>
                  <a:cs typeface="Inter"/>
                  <a:sym typeface="Inter"/>
                </a:rPr>
                <a:t>Tıbbi veri setlerinin kısıtlı olması nedeniyle hazır bilgi birikimi kullanılmıştır.</a:t>
              </a:r>
              <a:endParaRPr sz="1400" b="0">
                <a:solidFill>
                  <a:srgbClr val="CBD5E1"/>
                </a:solidFill>
                <a:latin typeface="Inter"/>
                <a:ea typeface="Inter"/>
                <a:cs typeface="Inter"/>
                <a:sym typeface="Inter"/>
              </a:endParaRPr>
            </a:p>
          </p:txBody>
        </p:sp>
      </p:grpSp>
      <p:grpSp>
        <p:nvGrpSpPr>
          <p:cNvPr id="299" name="Google Shape;299;p29"/>
          <p:cNvGrpSpPr/>
          <p:nvPr/>
        </p:nvGrpSpPr>
        <p:grpSpPr>
          <a:xfrm>
            <a:off x="6238875" y="2667000"/>
            <a:ext cx="5372100" cy="2667000"/>
            <a:chOff x="6238875" y="2667000"/>
            <a:chExt cx="5372100" cy="2667000"/>
          </a:xfrm>
        </p:grpSpPr>
        <p:sp>
          <p:nvSpPr>
            <p:cNvPr id="300" name="Google Shape;300;p29"/>
            <p:cNvSpPr/>
            <p:nvPr/>
          </p:nvSpPr>
          <p:spPr>
            <a:xfrm>
              <a:off x="6238875" y="2667000"/>
              <a:ext cx="5372100" cy="2667000"/>
            </a:xfrm>
            <a:prstGeom prst="roundRect">
              <a:avLst>
                <a:gd name="adj" fmla="val 4285"/>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1" name="Google Shape;301;p29"/>
            <p:cNvSpPr txBox="1"/>
            <p:nvPr/>
          </p:nvSpPr>
          <p:spPr>
            <a:xfrm>
              <a:off x="6524625" y="2999486"/>
              <a:ext cx="48006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3200" dirty="0">
                <a:solidFill>
                  <a:srgbClr val="60A5FA"/>
                </a:solidFill>
                <a:latin typeface="Material Icons"/>
                <a:ea typeface="Material Icons"/>
                <a:cs typeface="Material Icons"/>
                <a:sym typeface="Material Icons"/>
              </a:endParaRPr>
            </a:p>
          </p:txBody>
        </p:sp>
        <p:sp>
          <p:nvSpPr>
            <p:cNvPr id="302" name="Google Shape;302;p29"/>
            <p:cNvSpPr txBox="1"/>
            <p:nvPr/>
          </p:nvSpPr>
          <p:spPr>
            <a:xfrm>
              <a:off x="6524625" y="3619500"/>
              <a:ext cx="48006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Sabit Filtre Yapısı</a:t>
              </a:r>
              <a:endParaRPr sz="2000" b="1">
                <a:solidFill>
                  <a:srgbClr val="F8FAFC"/>
                </a:solidFill>
                <a:latin typeface="Urbanist"/>
                <a:ea typeface="Urbanist"/>
                <a:cs typeface="Urbanist"/>
                <a:sym typeface="Urbanist"/>
              </a:endParaRPr>
            </a:p>
            <a:p>
              <a:pPr marL="0" lvl="0" indent="0" algn="l" rtl="0">
                <a:spcBef>
                  <a:spcPts val="900"/>
                </a:spcBef>
                <a:spcAft>
                  <a:spcPts val="0"/>
                </a:spcAft>
                <a:buNone/>
              </a:pPr>
              <a:r>
                <a:rPr lang="en-US" sz="1400" b="0">
                  <a:solidFill>
                    <a:srgbClr val="CBD5E1"/>
                  </a:solidFill>
                  <a:latin typeface="Inter"/>
                  <a:ea typeface="Inter"/>
                  <a:cs typeface="Inter"/>
                  <a:sym typeface="Inter"/>
                </a:rPr>
                <a:t>Filtre sayıları ImageNet başarısı için optimize edildiğinden, hiperparametre olarak değiştirilmemiş, ağırlıklar korunmuştur.</a:t>
              </a:r>
              <a:endParaRPr sz="1400" b="0">
                <a:solidFill>
                  <a:srgbClr val="CBD5E1"/>
                </a:solidFill>
                <a:latin typeface="Inter"/>
                <a:ea typeface="Inter"/>
                <a:cs typeface="Inter"/>
                <a:sym typeface="Inte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p30"/>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08" name="Google Shape;308;p30"/>
          <p:cNvSpPr/>
          <p:nvPr/>
        </p:nvSpPr>
        <p:spPr>
          <a:xfrm>
            <a:off x="581025" y="581025"/>
            <a:ext cx="57300" cy="4857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9" name="Google Shape;309;p30"/>
          <p:cNvSpPr txBox="1"/>
          <p:nvPr/>
        </p:nvSpPr>
        <p:spPr>
          <a:xfrm>
            <a:off x="771525" y="581025"/>
            <a:ext cx="10668000" cy="48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960" b="1">
                <a:solidFill>
                  <a:srgbClr val="60A5FA"/>
                </a:solidFill>
                <a:latin typeface="Urbanist"/>
                <a:ea typeface="Urbanist"/>
                <a:cs typeface="Urbanist"/>
                <a:sym typeface="Urbanist"/>
              </a:rPr>
              <a:t>EfficientNetB0 Tabanlı Mimari</a:t>
            </a:r>
            <a:endParaRPr sz="2960" b="1">
              <a:solidFill>
                <a:srgbClr val="60A5FA"/>
              </a:solidFill>
              <a:latin typeface="Urbanist"/>
              <a:ea typeface="Urbanist"/>
              <a:cs typeface="Urbanist"/>
              <a:sym typeface="Urbanist"/>
            </a:endParaRPr>
          </a:p>
        </p:txBody>
      </p:sp>
      <p:grpSp>
        <p:nvGrpSpPr>
          <p:cNvPr id="310" name="Google Shape;310;p30"/>
          <p:cNvGrpSpPr/>
          <p:nvPr/>
        </p:nvGrpSpPr>
        <p:grpSpPr>
          <a:xfrm>
            <a:off x="581025" y="1333500"/>
            <a:ext cx="6477000" cy="2095500"/>
            <a:chOff x="0" y="0"/>
            <a:chExt cx="6477000" cy="2095500"/>
          </a:xfrm>
        </p:grpSpPr>
        <p:sp>
          <p:nvSpPr>
            <p:cNvPr id="311" name="Google Shape;311;p30"/>
            <p:cNvSpPr/>
            <p:nvPr/>
          </p:nvSpPr>
          <p:spPr>
            <a:xfrm>
              <a:off x="0" y="0"/>
              <a:ext cx="6477000" cy="2095500"/>
            </a:xfrm>
            <a:prstGeom prst="roundRect">
              <a:avLst>
                <a:gd name="adj" fmla="val 5454"/>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2" name="Google Shape;312;p30"/>
            <p:cNvSpPr txBox="1"/>
            <p:nvPr/>
          </p:nvSpPr>
          <p:spPr>
            <a:xfrm>
              <a:off x="285750" y="285750"/>
              <a:ext cx="5905500" cy="15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000" b="1">
                  <a:solidFill>
                    <a:srgbClr val="60A5FA"/>
                  </a:solidFill>
                  <a:latin typeface="Urbanist"/>
                  <a:ea typeface="Urbanist"/>
                  <a:cs typeface="Urbanist"/>
                  <a:sym typeface="Urbanist"/>
                </a:rPr>
                <a:t>Neden EfficientNetB0?</a:t>
              </a:r>
              <a:endParaRPr sz="2000" b="1">
                <a:solidFill>
                  <a:srgbClr val="60A5FA"/>
                </a:solidFill>
                <a:latin typeface="Urbanist"/>
                <a:ea typeface="Urbanist"/>
                <a:cs typeface="Urbanist"/>
                <a:sym typeface="Urbanist"/>
              </a:endParaRPr>
            </a:p>
            <a:p>
              <a:pPr marL="0" lvl="0" indent="0" algn="l" rtl="0">
                <a:spcBef>
                  <a:spcPts val="900"/>
                </a:spcBef>
                <a:spcAft>
                  <a:spcPts val="0"/>
                </a:spcAft>
                <a:buNone/>
              </a:pPr>
              <a:r>
                <a:rPr lang="en-US" sz="1500" b="0">
                  <a:solidFill>
                    <a:srgbClr val="CBD5E1"/>
                  </a:solidFill>
                  <a:latin typeface="Urbanist"/>
                  <a:ea typeface="Urbanist"/>
                  <a:cs typeface="Urbanist"/>
                  <a:sym typeface="Urbanist"/>
                </a:rPr>
                <a:t>Model, ImageNet ağırlıkları ile ilklendirilmiş EfficientNetB0 mimarisini temel alır.</a:t>
              </a:r>
              <a:endParaRPr sz="1500" b="0">
                <a:solidFill>
                  <a:srgbClr val="CBD5E1"/>
                </a:solidFill>
                <a:latin typeface="Urbanist"/>
                <a:ea typeface="Urbanist"/>
                <a:cs typeface="Urbanist"/>
                <a:sym typeface="Urbanist"/>
              </a:endParaRPr>
            </a:p>
            <a:p>
              <a:pPr marL="0" lvl="0" indent="0" algn="l" rtl="0">
                <a:spcBef>
                  <a:spcPts val="0"/>
                </a:spcBef>
                <a:spcAft>
                  <a:spcPts val="0"/>
                </a:spcAft>
                <a:buNone/>
              </a:pPr>
              <a:endParaRPr sz="1500">
                <a:solidFill>
                  <a:srgbClr val="CBD5E1"/>
                </a:solidFill>
                <a:latin typeface="Urbanist"/>
                <a:ea typeface="Urbanist"/>
                <a:cs typeface="Urbanist"/>
                <a:sym typeface="Urbanist"/>
              </a:endParaRPr>
            </a:p>
            <a:p>
              <a:pPr marL="0" lvl="0" indent="0" algn="l" rtl="0">
                <a:spcBef>
                  <a:spcPts val="0"/>
                </a:spcBef>
                <a:spcAft>
                  <a:spcPts val="0"/>
                </a:spcAft>
                <a:buNone/>
              </a:pPr>
              <a:r>
                <a:rPr lang="en-US" sz="1500" b="0">
                  <a:solidFill>
                    <a:srgbClr val="CBD5E1"/>
                  </a:solidFill>
                  <a:latin typeface="Urbanist"/>
                  <a:ea typeface="Urbanist"/>
                  <a:cs typeface="Urbanist"/>
                  <a:sym typeface="Urbanist"/>
                </a:rPr>
                <a:t> "Compound Scaling" yöntemi sayesinde derinlik, genişlik ve çözünürlük arasında optimal denge kurarak yüksek verimlilik sağlar.</a:t>
              </a:r>
              <a:endParaRPr sz="1500" b="0">
                <a:solidFill>
                  <a:srgbClr val="CBD5E1"/>
                </a:solidFill>
                <a:latin typeface="Urbanist"/>
                <a:ea typeface="Urbanist"/>
                <a:cs typeface="Urbanist"/>
                <a:sym typeface="Urbanist"/>
              </a:endParaRPr>
            </a:p>
          </p:txBody>
        </p:sp>
      </p:grpSp>
      <p:grpSp>
        <p:nvGrpSpPr>
          <p:cNvPr id="313" name="Google Shape;313;p30"/>
          <p:cNvGrpSpPr/>
          <p:nvPr/>
        </p:nvGrpSpPr>
        <p:grpSpPr>
          <a:xfrm>
            <a:off x="581025" y="3619500"/>
            <a:ext cx="6477000" cy="2667000"/>
            <a:chOff x="0" y="0"/>
            <a:chExt cx="6477000" cy="2667000"/>
          </a:xfrm>
        </p:grpSpPr>
        <p:sp>
          <p:nvSpPr>
            <p:cNvPr id="314" name="Google Shape;314;p30"/>
            <p:cNvSpPr/>
            <p:nvPr/>
          </p:nvSpPr>
          <p:spPr>
            <a:xfrm>
              <a:off x="0" y="0"/>
              <a:ext cx="6477000" cy="2667000"/>
            </a:xfrm>
            <a:prstGeom prst="roundRect">
              <a:avLst>
                <a:gd name="adj" fmla="val 4285"/>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315" name="Google Shape;315;p30"/>
            <p:cNvGrpSpPr/>
            <p:nvPr/>
          </p:nvGrpSpPr>
          <p:grpSpPr>
            <a:xfrm>
              <a:off x="285750" y="285750"/>
              <a:ext cx="5905500" cy="2000400"/>
              <a:chOff x="0" y="0"/>
              <a:chExt cx="5905500" cy="2000400"/>
            </a:xfrm>
          </p:grpSpPr>
          <p:sp>
            <p:nvSpPr>
              <p:cNvPr id="316" name="Google Shape;316;p30"/>
              <p:cNvSpPr txBox="1"/>
              <p:nvPr/>
            </p:nvSpPr>
            <p:spPr>
              <a:xfrm>
                <a:off x="0" y="0"/>
                <a:ext cx="14289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60A5FA"/>
                    </a:solidFill>
                    <a:latin typeface="Inter"/>
                    <a:ea typeface="Inter"/>
                    <a:cs typeface="Inter"/>
                    <a:sym typeface="Inter"/>
                  </a:rPr>
                  <a:t>Base Model</a:t>
                </a:r>
                <a:endParaRPr sz="1400" b="1">
                  <a:solidFill>
                    <a:srgbClr val="60A5FA"/>
                  </a:solidFill>
                  <a:latin typeface="Inter"/>
                  <a:ea typeface="Inter"/>
                  <a:cs typeface="Inter"/>
                  <a:sym typeface="Inter"/>
                </a:endParaRPr>
              </a:p>
            </p:txBody>
          </p:sp>
          <p:sp>
            <p:nvSpPr>
              <p:cNvPr id="317" name="Google Shape;317;p30"/>
              <p:cNvSpPr txBox="1"/>
              <p:nvPr/>
            </p:nvSpPr>
            <p:spPr>
              <a:xfrm>
                <a:off x="1714500" y="0"/>
                <a:ext cx="4191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F8FAFC"/>
                    </a:solidFill>
                    <a:latin typeface="Inter"/>
                    <a:ea typeface="Inter"/>
                    <a:cs typeface="Inter"/>
                    <a:sym typeface="Inter"/>
                  </a:rPr>
                  <a:t>Trainable: False (1. Aşama)</a:t>
                </a:r>
                <a:endParaRPr sz="1400" b="0">
                  <a:solidFill>
                    <a:srgbClr val="F8FAFC"/>
                  </a:solidFill>
                  <a:latin typeface="Inter"/>
                  <a:ea typeface="Inter"/>
                  <a:cs typeface="Inter"/>
                  <a:sym typeface="Inter"/>
                </a:endParaRPr>
              </a:p>
            </p:txBody>
          </p:sp>
          <p:sp>
            <p:nvSpPr>
              <p:cNvPr id="318" name="Google Shape;318;p30"/>
              <p:cNvSpPr/>
              <p:nvPr/>
            </p:nvSpPr>
            <p:spPr>
              <a:xfrm>
                <a:off x="0" y="428625"/>
                <a:ext cx="5905500" cy="9600"/>
              </a:xfrm>
              <a:prstGeom prst="rect">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9" name="Google Shape;319;p30"/>
              <p:cNvSpPr txBox="1"/>
              <p:nvPr/>
            </p:nvSpPr>
            <p:spPr>
              <a:xfrm>
                <a:off x="0" y="571500"/>
                <a:ext cx="14289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60A5FA"/>
                    </a:solidFill>
                    <a:latin typeface="Inter"/>
                    <a:ea typeface="Inter"/>
                    <a:cs typeface="Inter"/>
                    <a:sym typeface="Inter"/>
                  </a:rPr>
                  <a:t>Pooling</a:t>
                </a:r>
                <a:endParaRPr sz="1400" b="1">
                  <a:solidFill>
                    <a:srgbClr val="60A5FA"/>
                  </a:solidFill>
                  <a:latin typeface="Inter"/>
                  <a:ea typeface="Inter"/>
                  <a:cs typeface="Inter"/>
                  <a:sym typeface="Inter"/>
                </a:endParaRPr>
              </a:p>
            </p:txBody>
          </p:sp>
          <p:sp>
            <p:nvSpPr>
              <p:cNvPr id="320" name="Google Shape;320;p30"/>
              <p:cNvSpPr txBox="1"/>
              <p:nvPr/>
            </p:nvSpPr>
            <p:spPr>
              <a:xfrm>
                <a:off x="1714500" y="571500"/>
                <a:ext cx="4191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F8FAFC"/>
                    </a:solidFill>
                    <a:latin typeface="Inter"/>
                    <a:ea typeface="Inter"/>
                    <a:cs typeface="Inter"/>
                    <a:sym typeface="Inter"/>
                  </a:rPr>
                  <a:t>GlobalAveragePooling2D</a:t>
                </a:r>
                <a:endParaRPr sz="1400" b="0">
                  <a:solidFill>
                    <a:srgbClr val="F8FAFC"/>
                  </a:solidFill>
                  <a:latin typeface="Inter"/>
                  <a:ea typeface="Inter"/>
                  <a:cs typeface="Inter"/>
                  <a:sym typeface="Inter"/>
                </a:endParaRPr>
              </a:p>
            </p:txBody>
          </p:sp>
          <p:sp>
            <p:nvSpPr>
              <p:cNvPr id="321" name="Google Shape;321;p30"/>
              <p:cNvSpPr/>
              <p:nvPr/>
            </p:nvSpPr>
            <p:spPr>
              <a:xfrm>
                <a:off x="0" y="1000125"/>
                <a:ext cx="5905500" cy="9600"/>
              </a:xfrm>
              <a:prstGeom prst="rect">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2" name="Google Shape;322;p30"/>
              <p:cNvSpPr txBox="1"/>
              <p:nvPr/>
            </p:nvSpPr>
            <p:spPr>
              <a:xfrm>
                <a:off x="0" y="1143000"/>
                <a:ext cx="14289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60A5FA"/>
                    </a:solidFill>
                    <a:latin typeface="Inter"/>
                    <a:ea typeface="Inter"/>
                    <a:cs typeface="Inter"/>
                    <a:sym typeface="Inter"/>
                  </a:rPr>
                  <a:t>Normalization</a:t>
                </a:r>
                <a:endParaRPr sz="1400" b="1">
                  <a:solidFill>
                    <a:srgbClr val="60A5FA"/>
                  </a:solidFill>
                  <a:latin typeface="Inter"/>
                  <a:ea typeface="Inter"/>
                  <a:cs typeface="Inter"/>
                  <a:sym typeface="Inter"/>
                </a:endParaRPr>
              </a:p>
            </p:txBody>
          </p:sp>
          <p:sp>
            <p:nvSpPr>
              <p:cNvPr id="323" name="Google Shape;323;p30"/>
              <p:cNvSpPr txBox="1"/>
              <p:nvPr/>
            </p:nvSpPr>
            <p:spPr>
              <a:xfrm>
                <a:off x="1714500" y="1143000"/>
                <a:ext cx="4191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F8FAFC"/>
                    </a:solidFill>
                    <a:latin typeface="Inter"/>
                    <a:ea typeface="Inter"/>
                    <a:cs typeface="Inter"/>
                    <a:sym typeface="Inter"/>
                  </a:rPr>
                  <a:t>Batch Normalization</a:t>
                </a:r>
                <a:endParaRPr sz="1400" b="0">
                  <a:solidFill>
                    <a:srgbClr val="F8FAFC"/>
                  </a:solidFill>
                  <a:latin typeface="Inter"/>
                  <a:ea typeface="Inter"/>
                  <a:cs typeface="Inter"/>
                  <a:sym typeface="Inter"/>
                </a:endParaRPr>
              </a:p>
            </p:txBody>
          </p:sp>
          <p:sp>
            <p:nvSpPr>
              <p:cNvPr id="324" name="Google Shape;324;p30"/>
              <p:cNvSpPr/>
              <p:nvPr/>
            </p:nvSpPr>
            <p:spPr>
              <a:xfrm>
                <a:off x="0" y="1571625"/>
                <a:ext cx="5905500" cy="9600"/>
              </a:xfrm>
              <a:prstGeom prst="rect">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5" name="Google Shape;325;p30"/>
              <p:cNvSpPr txBox="1"/>
              <p:nvPr/>
            </p:nvSpPr>
            <p:spPr>
              <a:xfrm>
                <a:off x="0" y="1714500"/>
                <a:ext cx="14289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60A5FA"/>
                    </a:solidFill>
                    <a:latin typeface="Inter"/>
                    <a:ea typeface="Inter"/>
                    <a:cs typeface="Inter"/>
                    <a:sym typeface="Inter"/>
                  </a:rPr>
                  <a:t>Activation</a:t>
                </a:r>
                <a:endParaRPr sz="1400" b="1">
                  <a:solidFill>
                    <a:srgbClr val="60A5FA"/>
                  </a:solidFill>
                  <a:latin typeface="Inter"/>
                  <a:ea typeface="Inter"/>
                  <a:cs typeface="Inter"/>
                  <a:sym typeface="Inter"/>
                </a:endParaRPr>
              </a:p>
            </p:txBody>
          </p:sp>
          <p:sp>
            <p:nvSpPr>
              <p:cNvPr id="326" name="Google Shape;326;p30"/>
              <p:cNvSpPr txBox="1"/>
              <p:nvPr/>
            </p:nvSpPr>
            <p:spPr>
              <a:xfrm>
                <a:off x="1714500" y="1714500"/>
                <a:ext cx="4191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F8FAFC"/>
                    </a:solidFill>
                    <a:latin typeface="Inter"/>
                    <a:ea typeface="Inter"/>
                    <a:cs typeface="Inter"/>
                    <a:sym typeface="Inter"/>
                  </a:rPr>
                  <a:t>Sigmoid (Çok Etiketli Çıkış)</a:t>
                </a:r>
                <a:endParaRPr sz="1400" b="0">
                  <a:solidFill>
                    <a:srgbClr val="F8FAFC"/>
                  </a:solidFill>
                  <a:latin typeface="Inter"/>
                  <a:ea typeface="Inter"/>
                  <a:cs typeface="Inter"/>
                  <a:sym typeface="Inter"/>
                </a:endParaRPr>
              </a:p>
            </p:txBody>
          </p:sp>
        </p:grpSp>
      </p:grpSp>
      <p:pic>
        <p:nvPicPr>
          <p:cNvPr id="327" name="Google Shape;327;p30" descr="A high-tech, futuristic visualization of a deep neural network architecture with glowing nodes and data pathways, sleek and professional aesthetic, navy blue and cyan color palette."/>
          <p:cNvPicPr preferRelativeResize="0"/>
          <p:nvPr/>
        </p:nvPicPr>
        <p:blipFill rotWithShape="1">
          <a:blip r:embed="rId4">
            <a:alphaModFix/>
          </a:blip>
          <a:srcRect t="6665" b="6665"/>
          <a:stretch/>
        </p:blipFill>
        <p:spPr>
          <a:xfrm>
            <a:off x="7324725" y="1333500"/>
            <a:ext cx="4286400" cy="4953000"/>
          </a:xfrm>
          <a:prstGeom prst="roundRect">
            <a:avLst>
              <a:gd name="adj" fmla="val 4444"/>
            </a:avLst>
          </a:prstGeom>
          <a:noFill/>
          <a:ln>
            <a:noFill/>
          </a:ln>
        </p:spPr>
      </p:pic>
      <p:pic>
        <p:nvPicPr>
          <p:cNvPr id="328" name="Google Shape;328;p30"/>
          <p:cNvPicPr preferRelativeResize="0"/>
          <p:nvPr/>
        </p:nvPicPr>
        <p:blipFill rotWithShape="1">
          <a:blip r:embed="rId5">
            <a:alphaModFix/>
          </a:blip>
          <a:srcRect/>
          <a:stretch/>
        </p:blipFill>
        <p:spPr>
          <a:xfrm>
            <a:off x="7315200" y="1323975"/>
            <a:ext cx="4305300" cy="4972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2"/>
        <p:cNvGrpSpPr/>
        <p:nvPr/>
      </p:nvGrpSpPr>
      <p:grpSpPr>
        <a:xfrm>
          <a:off x="0" y="0"/>
          <a:ext cx="0" cy="0"/>
          <a:chOff x="0" y="0"/>
          <a:chExt cx="0" cy="0"/>
        </a:xfrm>
      </p:grpSpPr>
      <p:sp>
        <p:nvSpPr>
          <p:cNvPr id="333" name="Google Shape;333;p31"/>
          <p:cNvSpPr/>
          <p:nvPr/>
        </p:nvSpPr>
        <p:spPr>
          <a:xfrm>
            <a:off x="571500" y="571500"/>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4" name="Google Shape;334;p31"/>
          <p:cNvSpPr txBox="1"/>
          <p:nvPr/>
        </p:nvSpPr>
        <p:spPr>
          <a:xfrm>
            <a:off x="809625" y="571500"/>
            <a:ext cx="108108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960" b="1">
                <a:solidFill>
                  <a:srgbClr val="60A5FA"/>
                </a:solidFill>
                <a:latin typeface="Urbanist"/>
                <a:ea typeface="Urbanist"/>
                <a:cs typeface="Urbanist"/>
                <a:sym typeface="Urbanist"/>
              </a:rPr>
              <a:t>Özelleştirilmiş Üst Katmanlar</a:t>
            </a:r>
            <a:endParaRPr sz="2960" b="1">
              <a:solidFill>
                <a:srgbClr val="60A5FA"/>
              </a:solidFill>
              <a:latin typeface="Urbanist"/>
              <a:ea typeface="Urbanist"/>
              <a:cs typeface="Urbanist"/>
              <a:sym typeface="Urbanist"/>
            </a:endParaRPr>
          </a:p>
        </p:txBody>
      </p:sp>
      <p:grpSp>
        <p:nvGrpSpPr>
          <p:cNvPr id="335" name="Google Shape;335;p31"/>
          <p:cNvGrpSpPr/>
          <p:nvPr/>
        </p:nvGrpSpPr>
        <p:grpSpPr>
          <a:xfrm>
            <a:off x="571500" y="1333500"/>
            <a:ext cx="6477000" cy="1428900"/>
            <a:chOff x="0" y="0"/>
            <a:chExt cx="6477000" cy="1428900"/>
          </a:xfrm>
        </p:grpSpPr>
        <p:sp>
          <p:nvSpPr>
            <p:cNvPr id="336" name="Google Shape;336;p31"/>
            <p:cNvSpPr/>
            <p:nvPr/>
          </p:nvSpPr>
          <p:spPr>
            <a:xfrm>
              <a:off x="0" y="0"/>
              <a:ext cx="6477000" cy="1428900"/>
            </a:xfrm>
            <a:prstGeom prst="roundRect">
              <a:avLst>
                <a:gd name="adj" fmla="val 8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7" name="Google Shape;337;p31"/>
            <p:cNvSpPr txBox="1"/>
            <p:nvPr/>
          </p:nvSpPr>
          <p:spPr>
            <a:xfrm>
              <a:off x="285750" y="290703"/>
              <a:ext cx="571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3600" dirty="0">
                <a:solidFill>
                  <a:srgbClr val="60A5FA"/>
                </a:solidFill>
                <a:latin typeface="Material Icons"/>
                <a:ea typeface="Material Icons"/>
                <a:cs typeface="Material Icons"/>
                <a:sym typeface="Material Icons"/>
              </a:endParaRPr>
            </a:p>
          </p:txBody>
        </p:sp>
        <p:sp>
          <p:nvSpPr>
            <p:cNvPr id="338" name="Google Shape;338;p31"/>
            <p:cNvSpPr txBox="1"/>
            <p:nvPr/>
          </p:nvSpPr>
          <p:spPr>
            <a:xfrm>
              <a:off x="1047750" y="238125"/>
              <a:ext cx="51435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F8FAFC"/>
                  </a:solidFill>
                  <a:latin typeface="Urbanist"/>
                  <a:ea typeface="Urbanist"/>
                  <a:cs typeface="Urbanist"/>
                  <a:sym typeface="Urbanist"/>
                </a:rPr>
                <a:t>Fully Connected</a:t>
              </a:r>
              <a:endParaRPr sz="2200" b="1">
                <a:solidFill>
                  <a:srgbClr val="F8FAFC"/>
                </a:solidFill>
                <a:latin typeface="Urbanist"/>
                <a:ea typeface="Urbanist"/>
                <a:cs typeface="Urbanist"/>
                <a:sym typeface="Urbanist"/>
              </a:endParaRPr>
            </a:p>
          </p:txBody>
        </p:sp>
        <p:sp>
          <p:nvSpPr>
            <p:cNvPr id="339" name="Google Shape;339;p31"/>
            <p:cNvSpPr txBox="1"/>
            <p:nvPr/>
          </p:nvSpPr>
          <p:spPr>
            <a:xfrm>
              <a:off x="1047750" y="714375"/>
              <a:ext cx="5143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400" b="0">
                  <a:solidFill>
                    <a:srgbClr val="CBD5E1"/>
                  </a:solidFill>
                  <a:latin typeface="Inter"/>
                  <a:ea typeface="Inter"/>
                  <a:cs typeface="Inter"/>
                  <a:sym typeface="Inter"/>
                </a:rPr>
                <a:t>256 nöronlu ReLU aktivasyonlu yoğun katman, özniteliklerin hastalıklara özgü temsillerini öğrenir.</a:t>
              </a:r>
              <a:endParaRPr sz="1400" b="0">
                <a:solidFill>
                  <a:srgbClr val="CBD5E1"/>
                </a:solidFill>
                <a:latin typeface="Inter"/>
                <a:ea typeface="Inter"/>
                <a:cs typeface="Inter"/>
                <a:sym typeface="Inter"/>
              </a:endParaRPr>
            </a:p>
          </p:txBody>
        </p:sp>
      </p:grpSp>
      <p:grpSp>
        <p:nvGrpSpPr>
          <p:cNvPr id="340" name="Google Shape;340;p31"/>
          <p:cNvGrpSpPr/>
          <p:nvPr/>
        </p:nvGrpSpPr>
        <p:grpSpPr>
          <a:xfrm>
            <a:off x="571500" y="2952750"/>
            <a:ext cx="6477000" cy="1428900"/>
            <a:chOff x="0" y="0"/>
            <a:chExt cx="6477000" cy="1428900"/>
          </a:xfrm>
        </p:grpSpPr>
        <p:sp>
          <p:nvSpPr>
            <p:cNvPr id="341" name="Google Shape;341;p31"/>
            <p:cNvSpPr/>
            <p:nvPr/>
          </p:nvSpPr>
          <p:spPr>
            <a:xfrm>
              <a:off x="0" y="0"/>
              <a:ext cx="6477000" cy="1428900"/>
            </a:xfrm>
            <a:prstGeom prst="roundRect">
              <a:avLst>
                <a:gd name="adj" fmla="val 8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2" name="Google Shape;342;p31"/>
            <p:cNvSpPr txBox="1"/>
            <p:nvPr/>
          </p:nvSpPr>
          <p:spPr>
            <a:xfrm>
              <a:off x="285750" y="290703"/>
              <a:ext cx="571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3600" dirty="0">
                <a:solidFill>
                  <a:srgbClr val="60A5FA"/>
                </a:solidFill>
                <a:latin typeface="Material Icons"/>
                <a:ea typeface="Material Icons"/>
                <a:cs typeface="Material Icons"/>
                <a:sym typeface="Material Icons"/>
              </a:endParaRPr>
            </a:p>
          </p:txBody>
        </p:sp>
        <p:sp>
          <p:nvSpPr>
            <p:cNvPr id="343" name="Google Shape;343;p31"/>
            <p:cNvSpPr txBox="1"/>
            <p:nvPr/>
          </p:nvSpPr>
          <p:spPr>
            <a:xfrm>
              <a:off x="1047750" y="238125"/>
              <a:ext cx="51435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F8FAFC"/>
                  </a:solidFill>
                  <a:latin typeface="Urbanist"/>
                  <a:ea typeface="Urbanist"/>
                  <a:cs typeface="Urbanist"/>
                  <a:sym typeface="Urbanist"/>
                </a:rPr>
                <a:t>Regularizasyon</a:t>
              </a:r>
              <a:endParaRPr sz="2200" b="1">
                <a:solidFill>
                  <a:srgbClr val="F8FAFC"/>
                </a:solidFill>
                <a:latin typeface="Urbanist"/>
                <a:ea typeface="Urbanist"/>
                <a:cs typeface="Urbanist"/>
                <a:sym typeface="Urbanist"/>
              </a:endParaRPr>
            </a:p>
          </p:txBody>
        </p:sp>
        <p:sp>
          <p:nvSpPr>
            <p:cNvPr id="344" name="Google Shape;344;p31"/>
            <p:cNvSpPr txBox="1"/>
            <p:nvPr/>
          </p:nvSpPr>
          <p:spPr>
            <a:xfrm>
              <a:off x="1047750" y="714375"/>
              <a:ext cx="5143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400" b="0">
                  <a:solidFill>
                    <a:srgbClr val="CBD5E1"/>
                  </a:solidFill>
                  <a:latin typeface="Inter"/>
                  <a:ea typeface="Inter"/>
                  <a:cs typeface="Inter"/>
                  <a:sym typeface="Inter"/>
                </a:rPr>
                <a:t>Dropout (0.35) ve Batch Normalization kullanılarak aşırı öğrenme (overfitting) engellenmiştir.</a:t>
              </a:r>
              <a:endParaRPr sz="1400" b="0">
                <a:solidFill>
                  <a:srgbClr val="CBD5E1"/>
                </a:solidFill>
                <a:latin typeface="Inter"/>
                <a:ea typeface="Inter"/>
                <a:cs typeface="Inter"/>
                <a:sym typeface="Inter"/>
              </a:endParaRPr>
            </a:p>
          </p:txBody>
        </p:sp>
      </p:grpSp>
      <p:grpSp>
        <p:nvGrpSpPr>
          <p:cNvPr id="345" name="Google Shape;345;p31"/>
          <p:cNvGrpSpPr/>
          <p:nvPr/>
        </p:nvGrpSpPr>
        <p:grpSpPr>
          <a:xfrm>
            <a:off x="571500" y="4572000"/>
            <a:ext cx="6477000" cy="1428900"/>
            <a:chOff x="0" y="0"/>
            <a:chExt cx="6477000" cy="1428900"/>
          </a:xfrm>
        </p:grpSpPr>
        <p:sp>
          <p:nvSpPr>
            <p:cNvPr id="346" name="Google Shape;346;p31"/>
            <p:cNvSpPr/>
            <p:nvPr/>
          </p:nvSpPr>
          <p:spPr>
            <a:xfrm>
              <a:off x="0" y="0"/>
              <a:ext cx="6477000" cy="1428900"/>
            </a:xfrm>
            <a:prstGeom prst="roundRect">
              <a:avLst>
                <a:gd name="adj" fmla="val 8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7" name="Google Shape;347;p31"/>
            <p:cNvSpPr txBox="1"/>
            <p:nvPr/>
          </p:nvSpPr>
          <p:spPr>
            <a:xfrm>
              <a:off x="285750" y="290703"/>
              <a:ext cx="571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3600" dirty="0">
                <a:solidFill>
                  <a:srgbClr val="60A5FA"/>
                </a:solidFill>
                <a:latin typeface="Material Icons"/>
                <a:ea typeface="Material Icons"/>
                <a:cs typeface="Material Icons"/>
                <a:sym typeface="Material Icons"/>
              </a:endParaRPr>
            </a:p>
          </p:txBody>
        </p:sp>
        <p:sp>
          <p:nvSpPr>
            <p:cNvPr id="348" name="Google Shape;348;p31"/>
            <p:cNvSpPr txBox="1"/>
            <p:nvPr/>
          </p:nvSpPr>
          <p:spPr>
            <a:xfrm>
              <a:off x="1047750" y="238125"/>
              <a:ext cx="51435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F8FAFC"/>
                  </a:solidFill>
                  <a:latin typeface="Urbanist"/>
                  <a:ea typeface="Urbanist"/>
                  <a:cs typeface="Urbanist"/>
                  <a:sym typeface="Urbanist"/>
                </a:rPr>
                <a:t>Çıkış Katmanı</a:t>
              </a:r>
              <a:endParaRPr sz="2200" b="1">
                <a:solidFill>
                  <a:srgbClr val="F8FAFC"/>
                </a:solidFill>
                <a:latin typeface="Urbanist"/>
                <a:ea typeface="Urbanist"/>
                <a:cs typeface="Urbanist"/>
                <a:sym typeface="Urbanist"/>
              </a:endParaRPr>
            </a:p>
          </p:txBody>
        </p:sp>
        <p:sp>
          <p:nvSpPr>
            <p:cNvPr id="349" name="Google Shape;349;p31"/>
            <p:cNvSpPr txBox="1"/>
            <p:nvPr/>
          </p:nvSpPr>
          <p:spPr>
            <a:xfrm>
              <a:off x="1047750" y="714375"/>
              <a:ext cx="5143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400" b="0">
                  <a:solidFill>
                    <a:srgbClr val="CBD5E1"/>
                  </a:solidFill>
                  <a:latin typeface="Inter"/>
                  <a:ea typeface="Inter"/>
                  <a:cs typeface="Inter"/>
                  <a:sym typeface="Inter"/>
                </a:rPr>
                <a:t>8 adet hastalık sınıfı için Sigmoid aktivasyonu kullanılarak bağımsız olasılıklar üretilir.</a:t>
              </a:r>
              <a:endParaRPr sz="1400" b="0">
                <a:solidFill>
                  <a:srgbClr val="CBD5E1"/>
                </a:solidFill>
                <a:latin typeface="Inter"/>
                <a:ea typeface="Inter"/>
                <a:cs typeface="Inter"/>
                <a:sym typeface="Inter"/>
              </a:endParaRPr>
            </a:p>
          </p:txBody>
        </p:sp>
      </p:grpSp>
      <p:pic>
        <p:nvPicPr>
          <p:cNvPr id="350" name="Google Shape;350;p31" descr="A sleek, futuristic visualization of a multi-label neural network output layer. Glowing paths leading to 8 distinct digital labels representing medical diagnosis. Dark navy background with cyan neon accents."/>
          <p:cNvPicPr preferRelativeResize="0"/>
          <p:nvPr/>
        </p:nvPicPr>
        <p:blipFill rotWithShape="1">
          <a:blip r:embed="rId4">
            <a:alphaModFix/>
          </a:blip>
          <a:srcRect l="5768" r="5768"/>
          <a:stretch/>
        </p:blipFill>
        <p:spPr>
          <a:xfrm>
            <a:off x="7239000" y="1333500"/>
            <a:ext cx="4381500" cy="4953000"/>
          </a:xfrm>
          <a:prstGeom prst="roundRect">
            <a:avLst>
              <a:gd name="adj" fmla="val 4347"/>
            </a:avLst>
          </a:prstGeom>
          <a:noFill/>
          <a:ln>
            <a:noFill/>
          </a:ln>
        </p:spPr>
      </p:pic>
      <p:sp>
        <p:nvSpPr>
          <p:cNvPr id="351" name="Google Shape;351;p31"/>
          <p:cNvSpPr/>
          <p:nvPr/>
        </p:nvSpPr>
        <p:spPr>
          <a:xfrm>
            <a:off x="7239000" y="1333500"/>
            <a:ext cx="4381500" cy="4953000"/>
          </a:xfrm>
          <a:prstGeom prst="roundRect">
            <a:avLst>
              <a:gd name="adj" fmla="val 4347"/>
            </a:avLst>
          </a:prstGeom>
          <a:solidFill>
            <a:srgbClr val="000000">
              <a:alpha val="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5"/>
        <p:cNvGrpSpPr/>
        <p:nvPr/>
      </p:nvGrpSpPr>
      <p:grpSpPr>
        <a:xfrm>
          <a:off x="0" y="0"/>
          <a:ext cx="0" cy="0"/>
          <a:chOff x="0" y="0"/>
          <a:chExt cx="0" cy="0"/>
        </a:xfrm>
      </p:grpSpPr>
      <p:sp>
        <p:nvSpPr>
          <p:cNvPr id="356" name="Google Shape;356;p32"/>
          <p:cNvSpPr/>
          <p:nvPr/>
        </p:nvSpPr>
        <p:spPr>
          <a:xfrm>
            <a:off x="0" y="0"/>
            <a:ext cx="12192000" cy="6858000"/>
          </a:xfrm>
          <a:prstGeom prst="rect">
            <a:avLst/>
          </a:prstGeom>
          <a:solidFill>
            <a:srgbClr val="020617">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7" name="Google Shape;357;p32"/>
          <p:cNvSpPr/>
          <p:nvPr/>
        </p:nvSpPr>
        <p:spPr>
          <a:xfrm>
            <a:off x="581025" y="581025"/>
            <a:ext cx="57300" cy="4857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8" name="Google Shape;358;p32"/>
          <p:cNvSpPr txBox="1"/>
          <p:nvPr/>
        </p:nvSpPr>
        <p:spPr>
          <a:xfrm>
            <a:off x="771525" y="581025"/>
            <a:ext cx="10668000" cy="48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960" b="1">
                <a:solidFill>
                  <a:srgbClr val="60A5FA"/>
                </a:solidFill>
                <a:latin typeface="Urbanist"/>
                <a:ea typeface="Urbanist"/>
                <a:cs typeface="Urbanist"/>
                <a:sym typeface="Urbanist"/>
              </a:rPr>
              <a:t>Model Katmanları ve Parametreleri</a:t>
            </a:r>
            <a:endParaRPr sz="2960" b="1">
              <a:solidFill>
                <a:srgbClr val="60A5FA"/>
              </a:solidFill>
              <a:latin typeface="Urbanist"/>
              <a:ea typeface="Urbanist"/>
              <a:cs typeface="Urbanist"/>
              <a:sym typeface="Urbanist"/>
            </a:endParaRPr>
          </a:p>
        </p:txBody>
      </p:sp>
      <p:sp>
        <p:nvSpPr>
          <p:cNvPr id="359" name="Google Shape;359;p32"/>
          <p:cNvSpPr/>
          <p:nvPr/>
        </p:nvSpPr>
        <p:spPr>
          <a:xfrm>
            <a:off x="581025" y="1428750"/>
            <a:ext cx="11030100" cy="571500"/>
          </a:xfrm>
          <a:prstGeom prst="roundRect">
            <a:avLst>
              <a:gd name="adj" fmla="val 13333"/>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0" name="Google Shape;360;p32"/>
          <p:cNvSpPr txBox="1"/>
          <p:nvPr/>
        </p:nvSpPr>
        <p:spPr>
          <a:xfrm>
            <a:off x="771525" y="1428750"/>
            <a:ext cx="2095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F8FAFC"/>
                </a:solidFill>
                <a:latin typeface="Urbanist"/>
                <a:ea typeface="Urbanist"/>
                <a:cs typeface="Urbanist"/>
                <a:sym typeface="Urbanist"/>
              </a:rPr>
              <a:t>Katman Tipi</a:t>
            </a:r>
            <a:endParaRPr sz="1600" b="1">
              <a:solidFill>
                <a:srgbClr val="F8FAFC"/>
              </a:solidFill>
              <a:latin typeface="Urbanist"/>
              <a:ea typeface="Urbanist"/>
              <a:cs typeface="Urbanist"/>
              <a:sym typeface="Urbanist"/>
            </a:endParaRPr>
          </a:p>
        </p:txBody>
      </p:sp>
      <p:sp>
        <p:nvSpPr>
          <p:cNvPr id="361" name="Google Shape;361;p32"/>
          <p:cNvSpPr txBox="1"/>
          <p:nvPr/>
        </p:nvSpPr>
        <p:spPr>
          <a:xfrm>
            <a:off x="3057525" y="1428750"/>
            <a:ext cx="5334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F8FAFC"/>
                </a:solidFill>
                <a:latin typeface="Urbanist"/>
                <a:ea typeface="Urbanist"/>
                <a:cs typeface="Urbanist"/>
                <a:sym typeface="Urbanist"/>
              </a:rPr>
              <a:t>Açıklama / Fonksiyon</a:t>
            </a:r>
            <a:endParaRPr sz="1600" b="1">
              <a:solidFill>
                <a:srgbClr val="F8FAFC"/>
              </a:solidFill>
              <a:latin typeface="Urbanist"/>
              <a:ea typeface="Urbanist"/>
              <a:cs typeface="Urbanist"/>
              <a:sym typeface="Urbanist"/>
            </a:endParaRPr>
          </a:p>
        </p:txBody>
      </p:sp>
      <p:sp>
        <p:nvSpPr>
          <p:cNvPr id="362" name="Google Shape;362;p32"/>
          <p:cNvSpPr txBox="1"/>
          <p:nvPr/>
        </p:nvSpPr>
        <p:spPr>
          <a:xfrm>
            <a:off x="8582025" y="1428750"/>
            <a:ext cx="2838600" cy="571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600" b="1">
                <a:solidFill>
                  <a:srgbClr val="F8FAFC"/>
                </a:solidFill>
                <a:latin typeface="Urbanist"/>
                <a:ea typeface="Urbanist"/>
                <a:cs typeface="Urbanist"/>
                <a:sym typeface="Urbanist"/>
              </a:rPr>
              <a:t>Çıktı Şekli</a:t>
            </a:r>
            <a:endParaRPr sz="1600" b="1">
              <a:solidFill>
                <a:srgbClr val="F8FAFC"/>
              </a:solidFill>
              <a:latin typeface="Urbanist"/>
              <a:ea typeface="Urbanist"/>
              <a:cs typeface="Urbanist"/>
              <a:sym typeface="Urbanist"/>
            </a:endParaRPr>
          </a:p>
        </p:txBody>
      </p:sp>
      <p:sp>
        <p:nvSpPr>
          <p:cNvPr id="363" name="Google Shape;363;p32"/>
          <p:cNvSpPr/>
          <p:nvPr/>
        </p:nvSpPr>
        <p:spPr>
          <a:xfrm>
            <a:off x="581025" y="2095500"/>
            <a:ext cx="11030100" cy="714300"/>
          </a:xfrm>
          <a:prstGeom prst="roundRect">
            <a:avLst>
              <a:gd name="adj" fmla="val 10666"/>
            </a:avLst>
          </a:prstGeom>
          <a:solidFill>
            <a:srgbClr val="0F172A">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4" name="Google Shape;364;p32"/>
          <p:cNvSpPr txBox="1"/>
          <p:nvPr/>
        </p:nvSpPr>
        <p:spPr>
          <a:xfrm>
            <a:off x="771525" y="2095500"/>
            <a:ext cx="20955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60A5FA"/>
                </a:solidFill>
                <a:latin typeface="Inter"/>
                <a:ea typeface="Inter"/>
                <a:cs typeface="Inter"/>
                <a:sym typeface="Inter"/>
              </a:rPr>
              <a:t>EfficientNetB0</a:t>
            </a:r>
            <a:endParaRPr sz="1400" b="1">
              <a:solidFill>
                <a:srgbClr val="60A5FA"/>
              </a:solidFill>
              <a:latin typeface="Inter"/>
              <a:ea typeface="Inter"/>
              <a:cs typeface="Inter"/>
              <a:sym typeface="Inter"/>
            </a:endParaRPr>
          </a:p>
        </p:txBody>
      </p:sp>
      <p:sp>
        <p:nvSpPr>
          <p:cNvPr id="365" name="Google Shape;365;p32"/>
          <p:cNvSpPr txBox="1"/>
          <p:nvPr/>
        </p:nvSpPr>
        <p:spPr>
          <a:xfrm>
            <a:off x="3057525" y="2095500"/>
            <a:ext cx="53340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0">
                <a:solidFill>
                  <a:srgbClr val="CBD5E1"/>
                </a:solidFill>
                <a:latin typeface="Inter"/>
                <a:ea typeface="Inter"/>
                <a:cs typeface="Inter"/>
                <a:sym typeface="Inter"/>
              </a:rPr>
              <a:t>Dondurulmuş özellik çıkarıcı (Feature Extractor)</a:t>
            </a:r>
            <a:endParaRPr sz="1300" b="0">
              <a:solidFill>
                <a:srgbClr val="CBD5E1"/>
              </a:solidFill>
              <a:latin typeface="Inter"/>
              <a:ea typeface="Inter"/>
              <a:cs typeface="Inter"/>
              <a:sym typeface="Inter"/>
            </a:endParaRPr>
          </a:p>
        </p:txBody>
      </p:sp>
      <p:sp>
        <p:nvSpPr>
          <p:cNvPr id="366" name="Google Shape;366;p32"/>
          <p:cNvSpPr txBox="1"/>
          <p:nvPr/>
        </p:nvSpPr>
        <p:spPr>
          <a:xfrm>
            <a:off x="8582025" y="2095500"/>
            <a:ext cx="2838600" cy="714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300" b="1">
                <a:solidFill>
                  <a:srgbClr val="F8FAFC"/>
                </a:solidFill>
                <a:latin typeface="Inter"/>
                <a:ea typeface="Inter"/>
                <a:cs typeface="Inter"/>
                <a:sym typeface="Inter"/>
              </a:rPr>
              <a:t>(None, 7, 7, 1280)</a:t>
            </a:r>
            <a:endParaRPr sz="1300" b="1">
              <a:solidFill>
                <a:srgbClr val="F8FAFC"/>
              </a:solidFill>
              <a:latin typeface="Inter"/>
              <a:ea typeface="Inter"/>
              <a:cs typeface="Inter"/>
              <a:sym typeface="Inter"/>
            </a:endParaRPr>
          </a:p>
        </p:txBody>
      </p:sp>
      <p:sp>
        <p:nvSpPr>
          <p:cNvPr id="367" name="Google Shape;367;p32"/>
          <p:cNvSpPr/>
          <p:nvPr/>
        </p:nvSpPr>
        <p:spPr>
          <a:xfrm>
            <a:off x="581025" y="2905125"/>
            <a:ext cx="11030100" cy="714300"/>
          </a:xfrm>
          <a:prstGeom prst="roundRect">
            <a:avLst>
              <a:gd name="adj" fmla="val 10666"/>
            </a:avLst>
          </a:prstGeom>
          <a:solidFill>
            <a:srgbClr val="0F172A">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8" name="Google Shape;368;p32"/>
          <p:cNvSpPr txBox="1"/>
          <p:nvPr/>
        </p:nvSpPr>
        <p:spPr>
          <a:xfrm>
            <a:off x="771525" y="2905125"/>
            <a:ext cx="20955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60A5FA"/>
                </a:solidFill>
                <a:latin typeface="Inter"/>
                <a:ea typeface="Inter"/>
                <a:cs typeface="Inter"/>
                <a:sym typeface="Inter"/>
              </a:rPr>
              <a:t>GlobalAvgPool2D</a:t>
            </a:r>
            <a:endParaRPr sz="1400" b="1">
              <a:solidFill>
                <a:srgbClr val="60A5FA"/>
              </a:solidFill>
              <a:latin typeface="Inter"/>
              <a:ea typeface="Inter"/>
              <a:cs typeface="Inter"/>
              <a:sym typeface="Inter"/>
            </a:endParaRPr>
          </a:p>
        </p:txBody>
      </p:sp>
      <p:sp>
        <p:nvSpPr>
          <p:cNvPr id="369" name="Google Shape;369;p32"/>
          <p:cNvSpPr txBox="1"/>
          <p:nvPr/>
        </p:nvSpPr>
        <p:spPr>
          <a:xfrm>
            <a:off x="3057525" y="2905125"/>
            <a:ext cx="53340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0">
                <a:solidFill>
                  <a:srgbClr val="CBD5E1"/>
                </a:solidFill>
                <a:latin typeface="Inter"/>
                <a:ea typeface="Inter"/>
                <a:cs typeface="Inter"/>
                <a:sym typeface="Inter"/>
              </a:rPr>
              <a:t>Boyut azaltma ve vektörleştirme</a:t>
            </a:r>
            <a:endParaRPr sz="1300" b="0">
              <a:solidFill>
                <a:srgbClr val="CBD5E1"/>
              </a:solidFill>
              <a:latin typeface="Inter"/>
              <a:ea typeface="Inter"/>
              <a:cs typeface="Inter"/>
              <a:sym typeface="Inter"/>
            </a:endParaRPr>
          </a:p>
        </p:txBody>
      </p:sp>
      <p:sp>
        <p:nvSpPr>
          <p:cNvPr id="370" name="Google Shape;370;p32"/>
          <p:cNvSpPr txBox="1"/>
          <p:nvPr/>
        </p:nvSpPr>
        <p:spPr>
          <a:xfrm>
            <a:off x="8582025" y="2905125"/>
            <a:ext cx="2838600" cy="714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300" b="1">
                <a:solidFill>
                  <a:srgbClr val="F8FAFC"/>
                </a:solidFill>
                <a:latin typeface="Inter"/>
                <a:ea typeface="Inter"/>
                <a:cs typeface="Inter"/>
                <a:sym typeface="Inter"/>
              </a:rPr>
              <a:t>(None, 1280)</a:t>
            </a:r>
            <a:endParaRPr sz="1300" b="1">
              <a:solidFill>
                <a:srgbClr val="F8FAFC"/>
              </a:solidFill>
              <a:latin typeface="Inter"/>
              <a:ea typeface="Inter"/>
              <a:cs typeface="Inter"/>
              <a:sym typeface="Inter"/>
            </a:endParaRPr>
          </a:p>
        </p:txBody>
      </p:sp>
      <p:sp>
        <p:nvSpPr>
          <p:cNvPr id="371" name="Google Shape;371;p32"/>
          <p:cNvSpPr/>
          <p:nvPr/>
        </p:nvSpPr>
        <p:spPr>
          <a:xfrm>
            <a:off x="581025" y="3714750"/>
            <a:ext cx="11030100" cy="714300"/>
          </a:xfrm>
          <a:prstGeom prst="roundRect">
            <a:avLst>
              <a:gd name="adj" fmla="val 10666"/>
            </a:avLst>
          </a:prstGeom>
          <a:solidFill>
            <a:srgbClr val="0F172A">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2" name="Google Shape;372;p32"/>
          <p:cNvSpPr txBox="1"/>
          <p:nvPr/>
        </p:nvSpPr>
        <p:spPr>
          <a:xfrm>
            <a:off x="771525" y="3714750"/>
            <a:ext cx="20955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60A5FA"/>
                </a:solidFill>
                <a:latin typeface="Inter"/>
                <a:ea typeface="Inter"/>
                <a:cs typeface="Inter"/>
                <a:sym typeface="Inter"/>
              </a:rPr>
              <a:t>BatchNormalization</a:t>
            </a:r>
            <a:endParaRPr sz="1400" b="1">
              <a:solidFill>
                <a:srgbClr val="60A5FA"/>
              </a:solidFill>
              <a:latin typeface="Inter"/>
              <a:ea typeface="Inter"/>
              <a:cs typeface="Inter"/>
              <a:sym typeface="Inter"/>
            </a:endParaRPr>
          </a:p>
        </p:txBody>
      </p:sp>
      <p:sp>
        <p:nvSpPr>
          <p:cNvPr id="373" name="Google Shape;373;p32"/>
          <p:cNvSpPr txBox="1"/>
          <p:nvPr/>
        </p:nvSpPr>
        <p:spPr>
          <a:xfrm>
            <a:off x="3057525" y="3714750"/>
            <a:ext cx="53340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0">
                <a:solidFill>
                  <a:srgbClr val="CBD5E1"/>
                </a:solidFill>
                <a:latin typeface="Inter"/>
                <a:ea typeface="Inter"/>
                <a:cs typeface="Inter"/>
                <a:sym typeface="Inter"/>
              </a:rPr>
              <a:t>İçsel kovaryans kaymasını önleme</a:t>
            </a:r>
            <a:endParaRPr sz="1300" b="0">
              <a:solidFill>
                <a:srgbClr val="CBD5E1"/>
              </a:solidFill>
              <a:latin typeface="Inter"/>
              <a:ea typeface="Inter"/>
              <a:cs typeface="Inter"/>
              <a:sym typeface="Inter"/>
            </a:endParaRPr>
          </a:p>
        </p:txBody>
      </p:sp>
      <p:sp>
        <p:nvSpPr>
          <p:cNvPr id="374" name="Google Shape;374;p32"/>
          <p:cNvSpPr txBox="1"/>
          <p:nvPr/>
        </p:nvSpPr>
        <p:spPr>
          <a:xfrm>
            <a:off x="8582025" y="3714750"/>
            <a:ext cx="2838600" cy="714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300" b="1">
                <a:solidFill>
                  <a:srgbClr val="F8FAFC"/>
                </a:solidFill>
                <a:latin typeface="Inter"/>
                <a:ea typeface="Inter"/>
                <a:cs typeface="Inter"/>
                <a:sym typeface="Inter"/>
              </a:rPr>
              <a:t>(None, 1280)</a:t>
            </a:r>
            <a:endParaRPr sz="1300" b="1">
              <a:solidFill>
                <a:srgbClr val="F8FAFC"/>
              </a:solidFill>
              <a:latin typeface="Inter"/>
              <a:ea typeface="Inter"/>
              <a:cs typeface="Inter"/>
              <a:sym typeface="Inter"/>
            </a:endParaRPr>
          </a:p>
        </p:txBody>
      </p:sp>
      <p:sp>
        <p:nvSpPr>
          <p:cNvPr id="375" name="Google Shape;375;p32"/>
          <p:cNvSpPr/>
          <p:nvPr/>
        </p:nvSpPr>
        <p:spPr>
          <a:xfrm>
            <a:off x="581025" y="4524375"/>
            <a:ext cx="11030100" cy="714300"/>
          </a:xfrm>
          <a:prstGeom prst="roundRect">
            <a:avLst>
              <a:gd name="adj" fmla="val 10666"/>
            </a:avLst>
          </a:prstGeom>
          <a:solidFill>
            <a:srgbClr val="0F172A">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6" name="Google Shape;376;p32"/>
          <p:cNvSpPr txBox="1"/>
          <p:nvPr/>
        </p:nvSpPr>
        <p:spPr>
          <a:xfrm>
            <a:off x="771525" y="4524375"/>
            <a:ext cx="20955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60A5FA"/>
                </a:solidFill>
                <a:latin typeface="Inter"/>
                <a:ea typeface="Inter"/>
                <a:cs typeface="Inter"/>
                <a:sym typeface="Inter"/>
              </a:rPr>
              <a:t>Dense (ReLU)</a:t>
            </a:r>
            <a:endParaRPr sz="1400" b="1">
              <a:solidFill>
                <a:srgbClr val="60A5FA"/>
              </a:solidFill>
              <a:latin typeface="Inter"/>
              <a:ea typeface="Inter"/>
              <a:cs typeface="Inter"/>
              <a:sym typeface="Inter"/>
            </a:endParaRPr>
          </a:p>
        </p:txBody>
      </p:sp>
      <p:sp>
        <p:nvSpPr>
          <p:cNvPr id="377" name="Google Shape;377;p32"/>
          <p:cNvSpPr txBox="1"/>
          <p:nvPr/>
        </p:nvSpPr>
        <p:spPr>
          <a:xfrm>
            <a:off x="3057525" y="4524375"/>
            <a:ext cx="53340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0">
                <a:solidFill>
                  <a:srgbClr val="CBD5E1"/>
                </a:solidFill>
                <a:latin typeface="Inter"/>
                <a:ea typeface="Inter"/>
                <a:cs typeface="Inter"/>
                <a:sym typeface="Inter"/>
              </a:rPr>
              <a:t>256 üniteli tam bağlantılı katman</a:t>
            </a:r>
            <a:endParaRPr sz="1300" b="0">
              <a:solidFill>
                <a:srgbClr val="CBD5E1"/>
              </a:solidFill>
              <a:latin typeface="Inter"/>
              <a:ea typeface="Inter"/>
              <a:cs typeface="Inter"/>
              <a:sym typeface="Inter"/>
            </a:endParaRPr>
          </a:p>
        </p:txBody>
      </p:sp>
      <p:sp>
        <p:nvSpPr>
          <p:cNvPr id="378" name="Google Shape;378;p32"/>
          <p:cNvSpPr txBox="1"/>
          <p:nvPr/>
        </p:nvSpPr>
        <p:spPr>
          <a:xfrm>
            <a:off x="8582025" y="4524375"/>
            <a:ext cx="2838600" cy="714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300" b="1">
                <a:solidFill>
                  <a:srgbClr val="F8FAFC"/>
                </a:solidFill>
                <a:latin typeface="Inter"/>
                <a:ea typeface="Inter"/>
                <a:cs typeface="Inter"/>
                <a:sym typeface="Inter"/>
              </a:rPr>
              <a:t>(None, 256)</a:t>
            </a:r>
            <a:endParaRPr sz="1300" b="1">
              <a:solidFill>
                <a:srgbClr val="F8FAFC"/>
              </a:solidFill>
              <a:latin typeface="Inter"/>
              <a:ea typeface="Inter"/>
              <a:cs typeface="Inter"/>
              <a:sym typeface="Inter"/>
            </a:endParaRPr>
          </a:p>
        </p:txBody>
      </p:sp>
      <p:sp>
        <p:nvSpPr>
          <p:cNvPr id="379" name="Google Shape;379;p32"/>
          <p:cNvSpPr/>
          <p:nvPr/>
        </p:nvSpPr>
        <p:spPr>
          <a:xfrm>
            <a:off x="581025" y="5334000"/>
            <a:ext cx="11030100" cy="714300"/>
          </a:xfrm>
          <a:prstGeom prst="roundRect">
            <a:avLst>
              <a:gd name="adj" fmla="val 10666"/>
            </a:avLst>
          </a:prstGeom>
          <a:solidFill>
            <a:srgbClr val="0F172A">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0" name="Google Shape;380;p32"/>
          <p:cNvSpPr txBox="1"/>
          <p:nvPr/>
        </p:nvSpPr>
        <p:spPr>
          <a:xfrm>
            <a:off x="771525" y="5334000"/>
            <a:ext cx="20955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60A5FA"/>
                </a:solidFill>
                <a:latin typeface="Inter"/>
                <a:ea typeface="Inter"/>
                <a:cs typeface="Inter"/>
                <a:sym typeface="Inter"/>
              </a:rPr>
              <a:t>Dropout (0.35)</a:t>
            </a:r>
            <a:endParaRPr sz="1400" b="1">
              <a:solidFill>
                <a:srgbClr val="60A5FA"/>
              </a:solidFill>
              <a:latin typeface="Inter"/>
              <a:ea typeface="Inter"/>
              <a:cs typeface="Inter"/>
              <a:sym typeface="Inter"/>
            </a:endParaRPr>
          </a:p>
        </p:txBody>
      </p:sp>
      <p:sp>
        <p:nvSpPr>
          <p:cNvPr id="381" name="Google Shape;381;p32"/>
          <p:cNvSpPr txBox="1"/>
          <p:nvPr/>
        </p:nvSpPr>
        <p:spPr>
          <a:xfrm>
            <a:off x="3057525" y="5334000"/>
            <a:ext cx="53340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0">
                <a:solidFill>
                  <a:srgbClr val="CBD5E1"/>
                </a:solidFill>
                <a:latin typeface="Inter"/>
                <a:ea typeface="Inter"/>
                <a:cs typeface="Inter"/>
                <a:sym typeface="Inter"/>
              </a:rPr>
              <a:t>Ezberlemeyi (overfitting) engelleme</a:t>
            </a:r>
            <a:endParaRPr sz="1300" b="0">
              <a:solidFill>
                <a:srgbClr val="CBD5E1"/>
              </a:solidFill>
              <a:latin typeface="Inter"/>
              <a:ea typeface="Inter"/>
              <a:cs typeface="Inter"/>
              <a:sym typeface="Inter"/>
            </a:endParaRPr>
          </a:p>
        </p:txBody>
      </p:sp>
      <p:sp>
        <p:nvSpPr>
          <p:cNvPr id="382" name="Google Shape;382;p32"/>
          <p:cNvSpPr txBox="1"/>
          <p:nvPr/>
        </p:nvSpPr>
        <p:spPr>
          <a:xfrm>
            <a:off x="8582025" y="5334000"/>
            <a:ext cx="2838600" cy="714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300" b="1">
                <a:solidFill>
                  <a:srgbClr val="F8FAFC"/>
                </a:solidFill>
                <a:latin typeface="Inter"/>
                <a:ea typeface="Inter"/>
                <a:cs typeface="Inter"/>
                <a:sym typeface="Inter"/>
              </a:rPr>
              <a:t>(None, 256)</a:t>
            </a:r>
            <a:endParaRPr sz="1300" b="1">
              <a:solidFill>
                <a:srgbClr val="F8FAFC"/>
              </a:solidFill>
              <a:latin typeface="Inter"/>
              <a:ea typeface="Inter"/>
              <a:cs typeface="Inter"/>
              <a:sym typeface="Inter"/>
            </a:endParaRPr>
          </a:p>
        </p:txBody>
      </p:sp>
      <p:sp>
        <p:nvSpPr>
          <p:cNvPr id="383" name="Google Shape;383;p32"/>
          <p:cNvSpPr/>
          <p:nvPr/>
        </p:nvSpPr>
        <p:spPr>
          <a:xfrm>
            <a:off x="581025" y="6143625"/>
            <a:ext cx="11030100" cy="714300"/>
          </a:xfrm>
          <a:prstGeom prst="roundRect">
            <a:avLst>
              <a:gd name="adj" fmla="val 10666"/>
            </a:avLst>
          </a:prstGeom>
          <a:solidFill>
            <a:srgbClr val="0F172A">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4" name="Google Shape;384;p32"/>
          <p:cNvSpPr txBox="1"/>
          <p:nvPr/>
        </p:nvSpPr>
        <p:spPr>
          <a:xfrm>
            <a:off x="771525" y="6143625"/>
            <a:ext cx="20955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60A5FA"/>
                </a:solidFill>
                <a:latin typeface="Inter"/>
                <a:ea typeface="Inter"/>
                <a:cs typeface="Inter"/>
                <a:sym typeface="Inter"/>
              </a:rPr>
              <a:t>Dense (Sigmoid)</a:t>
            </a:r>
            <a:endParaRPr sz="1400" b="1">
              <a:solidFill>
                <a:srgbClr val="60A5FA"/>
              </a:solidFill>
              <a:latin typeface="Inter"/>
              <a:ea typeface="Inter"/>
              <a:cs typeface="Inter"/>
              <a:sym typeface="Inter"/>
            </a:endParaRPr>
          </a:p>
        </p:txBody>
      </p:sp>
      <p:sp>
        <p:nvSpPr>
          <p:cNvPr id="385" name="Google Shape;385;p32"/>
          <p:cNvSpPr txBox="1"/>
          <p:nvPr/>
        </p:nvSpPr>
        <p:spPr>
          <a:xfrm>
            <a:off x="3057525" y="6143625"/>
            <a:ext cx="53340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0">
                <a:solidFill>
                  <a:srgbClr val="CBD5E1"/>
                </a:solidFill>
                <a:latin typeface="Inter"/>
                <a:ea typeface="Inter"/>
                <a:cs typeface="Inter"/>
                <a:sym typeface="Inter"/>
              </a:rPr>
              <a:t>8 sınıflı çoklu etiket çıktısı</a:t>
            </a:r>
            <a:endParaRPr sz="1300" b="0">
              <a:solidFill>
                <a:srgbClr val="CBD5E1"/>
              </a:solidFill>
              <a:latin typeface="Inter"/>
              <a:ea typeface="Inter"/>
              <a:cs typeface="Inter"/>
              <a:sym typeface="Inter"/>
            </a:endParaRPr>
          </a:p>
        </p:txBody>
      </p:sp>
      <p:sp>
        <p:nvSpPr>
          <p:cNvPr id="386" name="Google Shape;386;p32"/>
          <p:cNvSpPr txBox="1"/>
          <p:nvPr/>
        </p:nvSpPr>
        <p:spPr>
          <a:xfrm>
            <a:off x="8582025" y="6143625"/>
            <a:ext cx="2838600" cy="714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300" b="1">
                <a:solidFill>
                  <a:srgbClr val="F8FAFC"/>
                </a:solidFill>
                <a:latin typeface="Inter"/>
                <a:ea typeface="Inter"/>
                <a:cs typeface="Inter"/>
                <a:sym typeface="Inter"/>
              </a:rPr>
              <a:t>(None, 8)</a:t>
            </a:r>
            <a:endParaRPr sz="1300" b="1">
              <a:solidFill>
                <a:srgbClr val="F8FAFC"/>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0"/>
        <p:cNvGrpSpPr/>
        <p:nvPr/>
      </p:nvGrpSpPr>
      <p:grpSpPr>
        <a:xfrm>
          <a:off x="0" y="0"/>
          <a:ext cx="0" cy="0"/>
          <a:chOff x="0" y="0"/>
          <a:chExt cx="0" cy="0"/>
        </a:xfrm>
      </p:grpSpPr>
      <p:sp>
        <p:nvSpPr>
          <p:cNvPr id="391" name="Google Shape;391;p33"/>
          <p:cNvSpPr/>
          <p:nvPr/>
        </p:nvSpPr>
        <p:spPr>
          <a:xfrm>
            <a:off x="581025" y="581025"/>
            <a:ext cx="57300" cy="4857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2" name="Google Shape;392;p33"/>
          <p:cNvSpPr txBox="1"/>
          <p:nvPr/>
        </p:nvSpPr>
        <p:spPr>
          <a:xfrm>
            <a:off x="771525" y="581025"/>
            <a:ext cx="10668000" cy="48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000" b="1">
                <a:solidFill>
                  <a:srgbClr val="60A5FA"/>
                </a:solidFill>
                <a:latin typeface="Urbanist"/>
                <a:ea typeface="Urbanist"/>
                <a:cs typeface="Urbanist"/>
                <a:sym typeface="Urbanist"/>
              </a:rPr>
              <a:t>Dinamik Eşik Değeri (Threshold Tuning) Stratejisi</a:t>
            </a:r>
            <a:endParaRPr sz="3000" b="1">
              <a:solidFill>
                <a:srgbClr val="60A5FA"/>
              </a:solidFill>
              <a:latin typeface="Urbanist"/>
              <a:ea typeface="Urbanist"/>
              <a:cs typeface="Urbanist"/>
              <a:sym typeface="Urbanist"/>
            </a:endParaRPr>
          </a:p>
        </p:txBody>
      </p:sp>
      <p:grpSp>
        <p:nvGrpSpPr>
          <p:cNvPr id="393" name="Google Shape;393;p33"/>
          <p:cNvGrpSpPr/>
          <p:nvPr/>
        </p:nvGrpSpPr>
        <p:grpSpPr>
          <a:xfrm>
            <a:off x="571500" y="1333500"/>
            <a:ext cx="6477000" cy="1428900"/>
            <a:chOff x="0" y="0"/>
            <a:chExt cx="6477000" cy="1428900"/>
          </a:xfrm>
        </p:grpSpPr>
        <p:sp>
          <p:nvSpPr>
            <p:cNvPr id="394" name="Google Shape;394;p33"/>
            <p:cNvSpPr/>
            <p:nvPr/>
          </p:nvSpPr>
          <p:spPr>
            <a:xfrm>
              <a:off x="0" y="0"/>
              <a:ext cx="6477000" cy="1428900"/>
            </a:xfrm>
            <a:prstGeom prst="roundRect">
              <a:avLst>
                <a:gd name="adj" fmla="val 8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5" name="Google Shape;395;p33"/>
            <p:cNvSpPr txBox="1"/>
            <p:nvPr/>
          </p:nvSpPr>
          <p:spPr>
            <a:xfrm>
              <a:off x="285750" y="285750"/>
              <a:ext cx="571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396" name="Google Shape;396;p33"/>
            <p:cNvSpPr txBox="1"/>
            <p:nvPr/>
          </p:nvSpPr>
          <p:spPr>
            <a:xfrm>
              <a:off x="1047750" y="238125"/>
              <a:ext cx="51435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F8FAFC"/>
                  </a:solidFill>
                  <a:latin typeface="Urbanist"/>
                  <a:ea typeface="Urbanist"/>
                  <a:cs typeface="Urbanist"/>
                  <a:sym typeface="Urbanist"/>
                </a:rPr>
                <a:t>Yöntem</a:t>
              </a:r>
              <a:endParaRPr/>
            </a:p>
          </p:txBody>
        </p:sp>
        <p:sp>
          <p:nvSpPr>
            <p:cNvPr id="397" name="Google Shape;397;p33"/>
            <p:cNvSpPr txBox="1"/>
            <p:nvPr/>
          </p:nvSpPr>
          <p:spPr>
            <a:xfrm>
              <a:off x="1047750" y="714375"/>
              <a:ext cx="5143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CBD5E1"/>
                  </a:solidFill>
                  <a:latin typeface="Inter"/>
                  <a:ea typeface="Inter"/>
                  <a:cs typeface="Inter"/>
                  <a:sym typeface="Inter"/>
                </a:rPr>
                <a:t>Validation seti üzerinde her hastalık sınıfı için F1-skorunu maksimize eden dinamik eşik değerleri optimize edilmiştir.</a:t>
              </a:r>
              <a:endParaRPr sz="1400" b="0">
                <a:solidFill>
                  <a:srgbClr val="CBD5E1"/>
                </a:solidFill>
                <a:latin typeface="Inter"/>
                <a:ea typeface="Inter"/>
                <a:cs typeface="Inter"/>
                <a:sym typeface="Inter"/>
              </a:endParaRPr>
            </a:p>
          </p:txBody>
        </p:sp>
      </p:grpSp>
      <p:grpSp>
        <p:nvGrpSpPr>
          <p:cNvPr id="398" name="Google Shape;398;p33"/>
          <p:cNvGrpSpPr/>
          <p:nvPr/>
        </p:nvGrpSpPr>
        <p:grpSpPr>
          <a:xfrm>
            <a:off x="571500" y="2952750"/>
            <a:ext cx="6477000" cy="1428900"/>
            <a:chOff x="0" y="0"/>
            <a:chExt cx="6477000" cy="1428900"/>
          </a:xfrm>
        </p:grpSpPr>
        <p:sp>
          <p:nvSpPr>
            <p:cNvPr id="399" name="Google Shape;399;p33"/>
            <p:cNvSpPr/>
            <p:nvPr/>
          </p:nvSpPr>
          <p:spPr>
            <a:xfrm>
              <a:off x="0" y="0"/>
              <a:ext cx="6477000" cy="1428900"/>
            </a:xfrm>
            <a:prstGeom prst="roundRect">
              <a:avLst>
                <a:gd name="adj" fmla="val 8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0" name="Google Shape;400;p33"/>
            <p:cNvSpPr txBox="1"/>
            <p:nvPr/>
          </p:nvSpPr>
          <p:spPr>
            <a:xfrm>
              <a:off x="285750" y="285750"/>
              <a:ext cx="571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401" name="Google Shape;401;p33"/>
            <p:cNvSpPr txBox="1"/>
            <p:nvPr/>
          </p:nvSpPr>
          <p:spPr>
            <a:xfrm>
              <a:off x="1047750" y="238125"/>
              <a:ext cx="51435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F8FAFC"/>
                  </a:solidFill>
                  <a:latin typeface="Urbanist"/>
                  <a:ea typeface="Urbanist"/>
                  <a:cs typeface="Urbanist"/>
                  <a:sym typeface="Urbanist"/>
                </a:rPr>
                <a:t>Gerekçe</a:t>
              </a:r>
              <a:endParaRPr/>
            </a:p>
          </p:txBody>
        </p:sp>
        <p:sp>
          <p:nvSpPr>
            <p:cNvPr id="402" name="Google Shape;402;p33"/>
            <p:cNvSpPr txBox="1"/>
            <p:nvPr/>
          </p:nvSpPr>
          <p:spPr>
            <a:xfrm>
              <a:off x="1047750" y="714375"/>
              <a:ext cx="5143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CBD5E1"/>
                  </a:solidFill>
                  <a:latin typeface="Inter"/>
                  <a:ea typeface="Inter"/>
                  <a:cs typeface="Inter"/>
                  <a:sym typeface="Inter"/>
                </a:rPr>
                <a:t>Standart 0.5 eşiği, nadir hastalıkların (Glokom, Miyopi vb.) gözden kaçmasına ve düşük duyarlılığa neden olmaktaydı.</a:t>
              </a:r>
              <a:endParaRPr sz="1400" b="0">
                <a:solidFill>
                  <a:srgbClr val="CBD5E1"/>
                </a:solidFill>
                <a:latin typeface="Inter"/>
                <a:ea typeface="Inter"/>
                <a:cs typeface="Inter"/>
                <a:sym typeface="Inter"/>
              </a:endParaRPr>
            </a:p>
          </p:txBody>
        </p:sp>
      </p:grpSp>
      <p:grpSp>
        <p:nvGrpSpPr>
          <p:cNvPr id="403" name="Google Shape;403;p33"/>
          <p:cNvGrpSpPr/>
          <p:nvPr/>
        </p:nvGrpSpPr>
        <p:grpSpPr>
          <a:xfrm>
            <a:off x="571500" y="4572000"/>
            <a:ext cx="6477000" cy="1428900"/>
            <a:chOff x="0" y="0"/>
            <a:chExt cx="6477000" cy="1428900"/>
          </a:xfrm>
        </p:grpSpPr>
        <p:sp>
          <p:nvSpPr>
            <p:cNvPr id="404" name="Google Shape;404;p33"/>
            <p:cNvSpPr/>
            <p:nvPr/>
          </p:nvSpPr>
          <p:spPr>
            <a:xfrm>
              <a:off x="0" y="0"/>
              <a:ext cx="6477000" cy="1428900"/>
            </a:xfrm>
            <a:prstGeom prst="roundRect">
              <a:avLst>
                <a:gd name="adj" fmla="val 8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5" name="Google Shape;405;p33"/>
            <p:cNvSpPr txBox="1"/>
            <p:nvPr/>
          </p:nvSpPr>
          <p:spPr>
            <a:xfrm>
              <a:off x="285750" y="285750"/>
              <a:ext cx="571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406" name="Google Shape;406;p33"/>
            <p:cNvSpPr txBox="1"/>
            <p:nvPr/>
          </p:nvSpPr>
          <p:spPr>
            <a:xfrm>
              <a:off x="1047750" y="238125"/>
              <a:ext cx="51435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F8FAFC"/>
                  </a:solidFill>
                  <a:latin typeface="Urbanist"/>
                  <a:ea typeface="Urbanist"/>
                  <a:cs typeface="Urbanist"/>
                  <a:sym typeface="Urbanist"/>
                </a:rPr>
                <a:t>Metrik Optimizasyonu</a:t>
              </a:r>
              <a:endParaRPr/>
            </a:p>
          </p:txBody>
        </p:sp>
        <p:sp>
          <p:nvSpPr>
            <p:cNvPr id="407" name="Google Shape;407;p33"/>
            <p:cNvSpPr txBox="1"/>
            <p:nvPr/>
          </p:nvSpPr>
          <p:spPr>
            <a:xfrm>
              <a:off x="1047750" y="714375"/>
              <a:ext cx="5143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CBD5E1"/>
                  </a:solidFill>
                  <a:latin typeface="Inter"/>
                  <a:ea typeface="Inter"/>
                  <a:cs typeface="Inter"/>
                  <a:sym typeface="Inter"/>
                </a:rPr>
                <a:t>Her sınıf için Precision-Recall eğrisi taranarak, klinik hata payını en aza indiren kararlı sınırlar belirlenmiştir.</a:t>
              </a:r>
              <a:endParaRPr sz="1400" b="0">
                <a:solidFill>
                  <a:srgbClr val="CBD5E1"/>
                </a:solidFill>
                <a:latin typeface="Inter"/>
                <a:ea typeface="Inter"/>
                <a:cs typeface="Inter"/>
                <a:sym typeface="Inter"/>
              </a:endParaRPr>
            </a:p>
          </p:txBody>
        </p:sp>
      </p:grpSp>
      <p:pic>
        <p:nvPicPr>
          <p:cNvPr id="408" name="Google Shape;408;p33" descr="A sleek, futuristic data visualization showing multiple probability curves (Precision-Recall) for different disease categories, with glowing neon highlight points at optimal thresholds. High-tech medical dashboard style, dark navy background with cyan and blue accents."/>
          <p:cNvPicPr preferRelativeResize="0"/>
          <p:nvPr/>
        </p:nvPicPr>
        <p:blipFill rotWithShape="1">
          <a:blip r:embed="rId4">
            <a:alphaModFix/>
          </a:blip>
          <a:srcRect l="5768" r="5768"/>
          <a:stretch/>
        </p:blipFill>
        <p:spPr>
          <a:xfrm>
            <a:off x="7239000" y="1333500"/>
            <a:ext cx="4381500" cy="4953000"/>
          </a:xfrm>
          <a:prstGeom prst="roundRect">
            <a:avLst>
              <a:gd name="adj" fmla="val 4347"/>
            </a:avLst>
          </a:prstGeom>
          <a:noFill/>
          <a:ln>
            <a:noFill/>
          </a:ln>
        </p:spPr>
      </p:pic>
      <p:sp>
        <p:nvSpPr>
          <p:cNvPr id="409" name="Google Shape;409;p33"/>
          <p:cNvSpPr/>
          <p:nvPr/>
        </p:nvSpPr>
        <p:spPr>
          <a:xfrm>
            <a:off x="7239000" y="1333500"/>
            <a:ext cx="4381500" cy="4953000"/>
          </a:xfrm>
          <a:prstGeom prst="roundRect">
            <a:avLst>
              <a:gd name="adj" fmla="val 4347"/>
            </a:avLst>
          </a:prstGeom>
          <a:solidFill>
            <a:srgbClr val="000000">
              <a:alpha val="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3"/>
        <p:cNvGrpSpPr/>
        <p:nvPr/>
      </p:nvGrpSpPr>
      <p:grpSpPr>
        <a:xfrm>
          <a:off x="0" y="0"/>
          <a:ext cx="0" cy="0"/>
          <a:chOff x="0" y="0"/>
          <a:chExt cx="0" cy="0"/>
        </a:xfrm>
      </p:grpSpPr>
      <p:sp>
        <p:nvSpPr>
          <p:cNvPr id="414" name="Google Shape;414;p34"/>
          <p:cNvSpPr/>
          <p:nvPr/>
        </p:nvSpPr>
        <p:spPr>
          <a:xfrm>
            <a:off x="581025" y="581025"/>
            <a:ext cx="57300" cy="4857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5" name="Google Shape;415;p34"/>
          <p:cNvSpPr txBox="1"/>
          <p:nvPr/>
        </p:nvSpPr>
        <p:spPr>
          <a:xfrm>
            <a:off x="771525" y="581025"/>
            <a:ext cx="10668000" cy="48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300"/>
              </a:spcAft>
              <a:buNone/>
            </a:pPr>
            <a:r>
              <a:rPr lang="en-US" sz="3000" b="1">
                <a:solidFill>
                  <a:srgbClr val="60A5FA"/>
                </a:solidFill>
                <a:latin typeface="Urbanist"/>
                <a:ea typeface="Urbanist"/>
                <a:cs typeface="Urbanist"/>
                <a:sym typeface="Urbanist"/>
              </a:rPr>
              <a:t>Model Karşılaştırma ve Performans Metrikleri</a:t>
            </a:r>
            <a:endParaRPr sz="3000" b="1">
              <a:solidFill>
                <a:srgbClr val="60A5FA"/>
              </a:solidFill>
              <a:latin typeface="Urbanist"/>
              <a:ea typeface="Urbanist"/>
              <a:cs typeface="Urbanist"/>
              <a:sym typeface="Urbanist"/>
            </a:endParaRPr>
          </a:p>
        </p:txBody>
      </p:sp>
      <p:grpSp>
        <p:nvGrpSpPr>
          <p:cNvPr id="416" name="Google Shape;416;p34"/>
          <p:cNvGrpSpPr/>
          <p:nvPr/>
        </p:nvGrpSpPr>
        <p:grpSpPr>
          <a:xfrm>
            <a:off x="571500" y="1333500"/>
            <a:ext cx="3286200" cy="2381400"/>
            <a:chOff x="571500" y="1333500"/>
            <a:chExt cx="3286200" cy="2381400"/>
          </a:xfrm>
        </p:grpSpPr>
        <p:sp>
          <p:nvSpPr>
            <p:cNvPr id="417" name="Google Shape;417;p34"/>
            <p:cNvSpPr/>
            <p:nvPr/>
          </p:nvSpPr>
          <p:spPr>
            <a:xfrm>
              <a:off x="571500" y="1333500"/>
              <a:ext cx="3286200" cy="2381400"/>
            </a:xfrm>
            <a:prstGeom prst="roundRect">
              <a:avLst>
                <a:gd name="adj" fmla="val 48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8" name="Google Shape;418;p34"/>
            <p:cNvSpPr txBox="1"/>
            <p:nvPr/>
          </p:nvSpPr>
          <p:spPr>
            <a:xfrm>
              <a:off x="809625" y="1570736"/>
              <a:ext cx="4764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300"/>
                </a:spcAft>
                <a:buNone/>
              </a:pPr>
              <a:endParaRPr sz="2960" dirty="0">
                <a:solidFill>
                  <a:srgbClr val="60A5FA"/>
                </a:solidFill>
                <a:latin typeface="Material Icons"/>
                <a:ea typeface="Material Icons"/>
                <a:cs typeface="Material Icons"/>
                <a:sym typeface="Material Icons"/>
              </a:endParaRPr>
            </a:p>
          </p:txBody>
        </p:sp>
        <p:sp>
          <p:nvSpPr>
            <p:cNvPr id="419" name="Google Shape;419;p34"/>
            <p:cNvSpPr txBox="1"/>
            <p:nvPr/>
          </p:nvSpPr>
          <p:spPr>
            <a:xfrm>
              <a:off x="1333500" y="1571625"/>
              <a:ext cx="2286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300"/>
                </a:spcAft>
                <a:buNone/>
              </a:pPr>
              <a:r>
                <a:rPr lang="en-US" sz="2000" b="1">
                  <a:solidFill>
                    <a:srgbClr val="F8FAFC"/>
                  </a:solidFill>
                  <a:latin typeface="Urbanist"/>
                  <a:ea typeface="Urbanist"/>
                  <a:cs typeface="Urbanist"/>
                  <a:sym typeface="Urbanist"/>
                </a:rPr>
                <a:t>1. PR-AUC</a:t>
              </a:r>
              <a:endParaRPr sz="2000" b="1">
                <a:solidFill>
                  <a:srgbClr val="F8FAFC"/>
                </a:solidFill>
                <a:latin typeface="Urbanist"/>
                <a:ea typeface="Urbanist"/>
                <a:cs typeface="Urbanist"/>
                <a:sym typeface="Urbanist"/>
              </a:endParaRPr>
            </a:p>
          </p:txBody>
        </p:sp>
        <p:sp>
          <p:nvSpPr>
            <p:cNvPr id="420" name="Google Shape;420;p34"/>
            <p:cNvSpPr txBox="1"/>
            <p:nvPr/>
          </p:nvSpPr>
          <p:spPr>
            <a:xfrm>
              <a:off x="809625" y="2095500"/>
              <a:ext cx="2857500" cy="1428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Ne İşe Yarar:</a:t>
              </a:r>
              <a:r>
                <a:rPr lang="en-US" sz="1200" b="0">
                  <a:solidFill>
                    <a:srgbClr val="CBD5E1"/>
                  </a:solidFill>
                  <a:latin typeface="Inter"/>
                  <a:ea typeface="Inter"/>
                  <a:cs typeface="Inter"/>
                  <a:sym typeface="Inter"/>
                </a:rPr>
                <a:t> Eşiklerden bağımsız, ham algoritmik yeteneği ve ayırt etme zekasını ölçer.</a:t>
              </a:r>
              <a:endParaRPr sz="1200" b="0">
                <a:solidFill>
                  <a:srgbClr val="CBD5E1"/>
                </a:solidFill>
                <a:latin typeface="Inter"/>
                <a:ea typeface="Inter"/>
                <a:cs typeface="Inter"/>
                <a:sym typeface="Inter"/>
              </a:endParaRPr>
            </a:p>
            <a:p>
              <a:pPr marL="0" lvl="0" indent="0" algn="l" rtl="0">
                <a:spcBef>
                  <a:spcPts val="750"/>
                </a:spcBef>
                <a:spcAft>
                  <a:spcPts val="300"/>
                </a:spcAft>
                <a:buNone/>
              </a:pPr>
              <a:r>
                <a:rPr lang="en-US" sz="1300" b="1">
                  <a:solidFill>
                    <a:srgbClr val="60A5FA"/>
                  </a:solidFill>
                  <a:latin typeface="Inter"/>
                  <a:ea typeface="Inter"/>
                  <a:cs typeface="Inter"/>
                  <a:sym typeface="Inter"/>
                </a:rPr>
                <a:t>Neden Seçtik:</a:t>
              </a:r>
              <a:r>
                <a:rPr lang="en-US" sz="1200" b="0">
                  <a:solidFill>
                    <a:srgbClr val="CBD5E1"/>
                  </a:solidFill>
                  <a:latin typeface="Inter"/>
                  <a:ea typeface="Inter"/>
                  <a:cs typeface="Inter"/>
                  <a:sym typeface="Inter"/>
                </a:rPr>
                <a:t> Aşırı sınıf dengesizliğinde en dürüst metriktir; nadir hastalıkları bulmadaki gerçek başarıyı yansıtır.</a:t>
              </a:r>
              <a:endParaRPr sz="1200" b="0">
                <a:solidFill>
                  <a:srgbClr val="CBD5E1"/>
                </a:solidFill>
                <a:latin typeface="Inter"/>
                <a:ea typeface="Inter"/>
                <a:cs typeface="Inter"/>
                <a:sym typeface="Inter"/>
              </a:endParaRPr>
            </a:p>
          </p:txBody>
        </p:sp>
      </p:grpSp>
      <p:grpSp>
        <p:nvGrpSpPr>
          <p:cNvPr id="421" name="Google Shape;421;p34"/>
          <p:cNvGrpSpPr/>
          <p:nvPr/>
        </p:nvGrpSpPr>
        <p:grpSpPr>
          <a:xfrm>
            <a:off x="4048125" y="1333500"/>
            <a:ext cx="3286200" cy="2381400"/>
            <a:chOff x="4048125" y="1333500"/>
            <a:chExt cx="3286200" cy="2381400"/>
          </a:xfrm>
        </p:grpSpPr>
        <p:sp>
          <p:nvSpPr>
            <p:cNvPr id="422" name="Google Shape;422;p34"/>
            <p:cNvSpPr/>
            <p:nvPr/>
          </p:nvSpPr>
          <p:spPr>
            <a:xfrm>
              <a:off x="4048125" y="1333500"/>
              <a:ext cx="3286200" cy="2381400"/>
            </a:xfrm>
            <a:prstGeom prst="roundRect">
              <a:avLst>
                <a:gd name="adj" fmla="val 48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3" name="Google Shape;423;p34"/>
            <p:cNvSpPr txBox="1"/>
            <p:nvPr/>
          </p:nvSpPr>
          <p:spPr>
            <a:xfrm>
              <a:off x="4286250" y="1570736"/>
              <a:ext cx="4764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300"/>
                </a:spcAft>
                <a:buNone/>
              </a:pPr>
              <a:endParaRPr sz="2960" dirty="0">
                <a:solidFill>
                  <a:srgbClr val="60A5FA"/>
                </a:solidFill>
                <a:latin typeface="Material Icons"/>
                <a:ea typeface="Material Icons"/>
                <a:cs typeface="Material Icons"/>
                <a:sym typeface="Material Icons"/>
              </a:endParaRPr>
            </a:p>
          </p:txBody>
        </p:sp>
        <p:sp>
          <p:nvSpPr>
            <p:cNvPr id="424" name="Google Shape;424;p34"/>
            <p:cNvSpPr txBox="1"/>
            <p:nvPr/>
          </p:nvSpPr>
          <p:spPr>
            <a:xfrm>
              <a:off x="4810125" y="1571625"/>
              <a:ext cx="2286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300"/>
                </a:spcAft>
                <a:buNone/>
              </a:pPr>
              <a:r>
                <a:rPr lang="en-US" sz="2000" b="1">
                  <a:solidFill>
                    <a:srgbClr val="F8FAFC"/>
                  </a:solidFill>
                  <a:latin typeface="Urbanist"/>
                  <a:ea typeface="Urbanist"/>
                  <a:cs typeface="Urbanist"/>
                  <a:sym typeface="Urbanist"/>
                </a:rPr>
                <a:t>2. Macro F1-Score</a:t>
              </a:r>
              <a:endParaRPr sz="2000" b="1">
                <a:solidFill>
                  <a:srgbClr val="F8FAFC"/>
                </a:solidFill>
                <a:latin typeface="Urbanist"/>
                <a:ea typeface="Urbanist"/>
                <a:cs typeface="Urbanist"/>
                <a:sym typeface="Urbanist"/>
              </a:endParaRPr>
            </a:p>
          </p:txBody>
        </p:sp>
        <p:sp>
          <p:nvSpPr>
            <p:cNvPr id="425" name="Google Shape;425;p34"/>
            <p:cNvSpPr txBox="1"/>
            <p:nvPr/>
          </p:nvSpPr>
          <p:spPr>
            <a:xfrm>
              <a:off x="4286250" y="2095500"/>
              <a:ext cx="2857500" cy="1428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Ne İşe Yarar:</a:t>
              </a:r>
              <a:r>
                <a:rPr lang="en-US" sz="1200" b="0">
                  <a:solidFill>
                    <a:srgbClr val="CBD5E1"/>
                  </a:solidFill>
                  <a:latin typeface="Inter"/>
                  <a:ea typeface="Inter"/>
                  <a:cs typeface="Inter"/>
                  <a:sym typeface="Inter"/>
                </a:rPr>
                <a:t> Olasılıklar karara dönüştüğünde net teşhis başarısını (Kesinlik/Duyarlılık) ölçer.</a:t>
              </a:r>
              <a:endParaRPr sz="1200" b="0">
                <a:solidFill>
                  <a:srgbClr val="CBD5E1"/>
                </a:solidFill>
                <a:latin typeface="Inter"/>
                <a:ea typeface="Inter"/>
                <a:cs typeface="Inter"/>
                <a:sym typeface="Inter"/>
              </a:endParaRPr>
            </a:p>
            <a:p>
              <a:pPr marL="0" lvl="0" indent="0" algn="l" rtl="0">
                <a:spcBef>
                  <a:spcPts val="750"/>
                </a:spcBef>
                <a:spcAft>
                  <a:spcPts val="300"/>
                </a:spcAft>
                <a:buNone/>
              </a:pPr>
              <a:r>
                <a:rPr lang="en-US" sz="1300" b="1">
                  <a:solidFill>
                    <a:srgbClr val="60A5FA"/>
                  </a:solidFill>
                  <a:latin typeface="Inter"/>
                  <a:ea typeface="Inter"/>
                  <a:cs typeface="Inter"/>
                  <a:sym typeface="Inter"/>
                </a:rPr>
                <a:t>Neden Seçtik:</a:t>
              </a:r>
              <a:r>
                <a:rPr lang="en-US" sz="1200" b="0">
                  <a:solidFill>
                    <a:srgbClr val="CBD5E1"/>
                  </a:solidFill>
                  <a:latin typeface="Inter"/>
                  <a:ea typeface="Inter"/>
                  <a:cs typeface="Inter"/>
                  <a:sym typeface="Inter"/>
                </a:rPr>
                <a:t> Threshold Tuning başarısını ölçer; nadir hastalık tahmin başarısını doğrudan ödüllendirir.</a:t>
              </a:r>
              <a:endParaRPr sz="1200" b="0">
                <a:solidFill>
                  <a:srgbClr val="CBD5E1"/>
                </a:solidFill>
                <a:latin typeface="Inter"/>
                <a:ea typeface="Inter"/>
                <a:cs typeface="Inter"/>
                <a:sym typeface="Inter"/>
              </a:endParaRPr>
            </a:p>
          </p:txBody>
        </p:sp>
      </p:grpSp>
      <p:grpSp>
        <p:nvGrpSpPr>
          <p:cNvPr id="426" name="Google Shape;426;p34"/>
          <p:cNvGrpSpPr/>
          <p:nvPr/>
        </p:nvGrpSpPr>
        <p:grpSpPr>
          <a:xfrm>
            <a:off x="571500" y="3905250"/>
            <a:ext cx="3286200" cy="2381400"/>
            <a:chOff x="571500" y="3905250"/>
            <a:chExt cx="3286200" cy="2381400"/>
          </a:xfrm>
        </p:grpSpPr>
        <p:sp>
          <p:nvSpPr>
            <p:cNvPr id="427" name="Google Shape;427;p34"/>
            <p:cNvSpPr/>
            <p:nvPr/>
          </p:nvSpPr>
          <p:spPr>
            <a:xfrm>
              <a:off x="571500" y="3905250"/>
              <a:ext cx="3286200" cy="2381400"/>
            </a:xfrm>
            <a:prstGeom prst="roundRect">
              <a:avLst>
                <a:gd name="adj" fmla="val 48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8" name="Google Shape;428;p34"/>
            <p:cNvSpPr txBox="1"/>
            <p:nvPr/>
          </p:nvSpPr>
          <p:spPr>
            <a:xfrm>
              <a:off x="809625" y="4142486"/>
              <a:ext cx="4764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300"/>
                </a:spcAft>
                <a:buNone/>
              </a:pPr>
              <a:endParaRPr sz="2960" dirty="0">
                <a:solidFill>
                  <a:srgbClr val="60A5FA"/>
                </a:solidFill>
                <a:latin typeface="Material Icons"/>
                <a:ea typeface="Material Icons"/>
                <a:cs typeface="Material Icons"/>
                <a:sym typeface="Material Icons"/>
              </a:endParaRPr>
            </a:p>
          </p:txBody>
        </p:sp>
        <p:sp>
          <p:nvSpPr>
            <p:cNvPr id="429" name="Google Shape;429;p34"/>
            <p:cNvSpPr txBox="1"/>
            <p:nvPr/>
          </p:nvSpPr>
          <p:spPr>
            <a:xfrm>
              <a:off x="1333500" y="4143375"/>
              <a:ext cx="2286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300"/>
                </a:spcAft>
                <a:buNone/>
              </a:pPr>
              <a:r>
                <a:rPr lang="en-US" sz="2000" b="1">
                  <a:solidFill>
                    <a:srgbClr val="F8FAFC"/>
                  </a:solidFill>
                  <a:latin typeface="Urbanist"/>
                  <a:ea typeface="Urbanist"/>
                  <a:cs typeface="Urbanist"/>
                  <a:sym typeface="Urbanist"/>
                </a:rPr>
                <a:t>3. Macro ROC-AUC</a:t>
              </a:r>
              <a:endParaRPr sz="2000" b="1">
                <a:solidFill>
                  <a:srgbClr val="F8FAFC"/>
                </a:solidFill>
                <a:latin typeface="Urbanist"/>
                <a:ea typeface="Urbanist"/>
                <a:cs typeface="Urbanist"/>
                <a:sym typeface="Urbanist"/>
              </a:endParaRPr>
            </a:p>
          </p:txBody>
        </p:sp>
        <p:sp>
          <p:nvSpPr>
            <p:cNvPr id="430" name="Google Shape;430;p34"/>
            <p:cNvSpPr txBox="1"/>
            <p:nvPr/>
          </p:nvSpPr>
          <p:spPr>
            <a:xfrm>
              <a:off x="809625" y="4667250"/>
              <a:ext cx="2857500" cy="1428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Ne İşe Yarar:</a:t>
              </a:r>
              <a:r>
                <a:rPr lang="en-US" sz="1200" b="0">
                  <a:solidFill>
                    <a:srgbClr val="CBD5E1"/>
                  </a:solidFill>
                  <a:latin typeface="Inter"/>
                  <a:ea typeface="Inter"/>
                  <a:cs typeface="Inter"/>
                  <a:sym typeface="Inter"/>
                </a:rPr>
                <a:t> Pozitif vakaya negatiften daha yüksek olasılık puanı verme yeteneğidir.</a:t>
              </a:r>
              <a:endParaRPr sz="1200" b="0">
                <a:solidFill>
                  <a:srgbClr val="CBD5E1"/>
                </a:solidFill>
                <a:latin typeface="Inter"/>
                <a:ea typeface="Inter"/>
                <a:cs typeface="Inter"/>
                <a:sym typeface="Inter"/>
              </a:endParaRPr>
            </a:p>
            <a:p>
              <a:pPr marL="0" lvl="0" indent="0" algn="l" rtl="0">
                <a:spcBef>
                  <a:spcPts val="750"/>
                </a:spcBef>
                <a:spcAft>
                  <a:spcPts val="300"/>
                </a:spcAft>
                <a:buNone/>
              </a:pPr>
              <a:r>
                <a:rPr lang="en-US" sz="1300" b="1">
                  <a:solidFill>
                    <a:srgbClr val="60A5FA"/>
                  </a:solidFill>
                  <a:latin typeface="Inter"/>
                  <a:ea typeface="Inter"/>
                  <a:cs typeface="Inter"/>
                  <a:sym typeface="Inter"/>
                </a:rPr>
                <a:t>Neden Seçtik:</a:t>
              </a:r>
              <a:r>
                <a:rPr lang="en-US" sz="1200" b="0">
                  <a:solidFill>
                    <a:srgbClr val="CBD5E1"/>
                  </a:solidFill>
                  <a:latin typeface="Inter"/>
                  <a:ea typeface="Inter"/>
                  <a:cs typeface="Inter"/>
                  <a:sym typeface="Inter"/>
                </a:rPr>
                <a:t> Literatür kıyaslaması ve model ayırt etme gücü için güçlü bir baseline oluşturur.</a:t>
              </a:r>
              <a:endParaRPr sz="1200" b="0">
                <a:solidFill>
                  <a:srgbClr val="CBD5E1"/>
                </a:solidFill>
                <a:latin typeface="Inter"/>
                <a:ea typeface="Inter"/>
                <a:cs typeface="Inter"/>
                <a:sym typeface="Inter"/>
              </a:endParaRPr>
            </a:p>
          </p:txBody>
        </p:sp>
      </p:grpSp>
      <p:grpSp>
        <p:nvGrpSpPr>
          <p:cNvPr id="431" name="Google Shape;431;p34"/>
          <p:cNvGrpSpPr/>
          <p:nvPr/>
        </p:nvGrpSpPr>
        <p:grpSpPr>
          <a:xfrm>
            <a:off x="4048125" y="3905250"/>
            <a:ext cx="3286200" cy="2381400"/>
            <a:chOff x="4048125" y="3905250"/>
            <a:chExt cx="3286200" cy="2381400"/>
          </a:xfrm>
        </p:grpSpPr>
        <p:sp>
          <p:nvSpPr>
            <p:cNvPr id="432" name="Google Shape;432;p34"/>
            <p:cNvSpPr/>
            <p:nvPr/>
          </p:nvSpPr>
          <p:spPr>
            <a:xfrm>
              <a:off x="4048125" y="3905250"/>
              <a:ext cx="3286200" cy="2381400"/>
            </a:xfrm>
            <a:prstGeom prst="roundRect">
              <a:avLst>
                <a:gd name="adj" fmla="val 48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3" name="Google Shape;433;p34"/>
            <p:cNvSpPr txBox="1"/>
            <p:nvPr/>
          </p:nvSpPr>
          <p:spPr>
            <a:xfrm>
              <a:off x="4286250" y="4142486"/>
              <a:ext cx="4764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300"/>
                </a:spcAft>
                <a:buNone/>
              </a:pPr>
              <a:endParaRPr sz="2960" dirty="0">
                <a:solidFill>
                  <a:srgbClr val="60A5FA"/>
                </a:solidFill>
                <a:latin typeface="Material Icons"/>
                <a:ea typeface="Material Icons"/>
                <a:cs typeface="Material Icons"/>
                <a:sym typeface="Material Icons"/>
              </a:endParaRPr>
            </a:p>
          </p:txBody>
        </p:sp>
        <p:sp>
          <p:nvSpPr>
            <p:cNvPr id="434" name="Google Shape;434;p34"/>
            <p:cNvSpPr txBox="1"/>
            <p:nvPr/>
          </p:nvSpPr>
          <p:spPr>
            <a:xfrm>
              <a:off x="4810125" y="4143375"/>
              <a:ext cx="2286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300"/>
                </a:spcAft>
                <a:buNone/>
              </a:pPr>
              <a:r>
                <a:rPr lang="en-US" sz="2000" b="1">
                  <a:solidFill>
                    <a:srgbClr val="F8FAFC"/>
                  </a:solidFill>
                  <a:latin typeface="Urbanist"/>
                  <a:ea typeface="Urbanist"/>
                  <a:cs typeface="Urbanist"/>
                  <a:sym typeface="Urbanist"/>
                </a:rPr>
                <a:t>4. Macro Recall</a:t>
              </a:r>
              <a:endParaRPr sz="2000" b="1">
                <a:solidFill>
                  <a:srgbClr val="F8FAFC"/>
                </a:solidFill>
                <a:latin typeface="Urbanist"/>
                <a:ea typeface="Urbanist"/>
                <a:cs typeface="Urbanist"/>
                <a:sym typeface="Urbanist"/>
              </a:endParaRPr>
            </a:p>
          </p:txBody>
        </p:sp>
        <p:sp>
          <p:nvSpPr>
            <p:cNvPr id="435" name="Google Shape;435;p34"/>
            <p:cNvSpPr txBox="1"/>
            <p:nvPr/>
          </p:nvSpPr>
          <p:spPr>
            <a:xfrm>
              <a:off x="4286250" y="4667250"/>
              <a:ext cx="2857500" cy="1428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Ne İşe Yarar:</a:t>
              </a:r>
              <a:r>
                <a:rPr lang="en-US" sz="1200" b="0">
                  <a:solidFill>
                    <a:srgbClr val="CBD5E1"/>
                  </a:solidFill>
                  <a:latin typeface="Inter"/>
                  <a:ea typeface="Inter"/>
                  <a:cs typeface="Inter"/>
                  <a:sym typeface="Inter"/>
                </a:rPr>
                <a:t> Hasta gözlerin model tarafından % kaç oranında doğru yakalanabildiğini ölçer.</a:t>
              </a:r>
              <a:endParaRPr sz="1200" b="0">
                <a:solidFill>
                  <a:srgbClr val="CBD5E1"/>
                </a:solidFill>
                <a:latin typeface="Inter"/>
                <a:ea typeface="Inter"/>
                <a:cs typeface="Inter"/>
                <a:sym typeface="Inter"/>
              </a:endParaRPr>
            </a:p>
            <a:p>
              <a:pPr marL="0" lvl="0" indent="0" algn="l" rtl="0">
                <a:spcBef>
                  <a:spcPts val="750"/>
                </a:spcBef>
                <a:spcAft>
                  <a:spcPts val="300"/>
                </a:spcAft>
                <a:buNone/>
              </a:pPr>
              <a:r>
                <a:rPr lang="en-US" sz="1300" b="1">
                  <a:solidFill>
                    <a:srgbClr val="60A5FA"/>
                  </a:solidFill>
                  <a:latin typeface="Inter"/>
                  <a:ea typeface="Inter"/>
                  <a:cs typeface="Inter"/>
                  <a:sym typeface="Inter"/>
                </a:rPr>
                <a:t>Gerekçe:</a:t>
              </a:r>
              <a:r>
                <a:rPr lang="en-US" sz="1200" b="0">
                  <a:solidFill>
                    <a:srgbClr val="CBD5E1"/>
                  </a:solidFill>
                  <a:latin typeface="Inter"/>
                  <a:ea typeface="Inter"/>
                  <a:cs typeface="Inter"/>
                  <a:sym typeface="Inter"/>
                </a:rPr>
                <a:t> Kritik medikal hata olan "Yalancı Negatifi" önlemek ve hiçbir hastayı gözden kaçırmamak içindir.</a:t>
              </a:r>
              <a:endParaRPr sz="1200" b="0">
                <a:solidFill>
                  <a:srgbClr val="CBD5E1"/>
                </a:solidFill>
                <a:latin typeface="Inter"/>
                <a:ea typeface="Inter"/>
                <a:cs typeface="Inter"/>
                <a:sym typeface="Inter"/>
              </a:endParaRPr>
            </a:p>
          </p:txBody>
        </p:sp>
      </p:grpSp>
      <p:pic>
        <p:nvPicPr>
          <p:cNvPr id="436" name="Google Shape;436;p34" descr="A high-tech medical assessment dashboard interface showing glowing neural network nodes and stylized performance metric icons like pulse lines and data charts. Dark navy blue aesthetic with neon cyan accents."/>
          <p:cNvPicPr preferRelativeResize="0"/>
          <p:nvPr/>
        </p:nvPicPr>
        <p:blipFill rotWithShape="1">
          <a:blip r:embed="rId4">
            <a:alphaModFix/>
          </a:blip>
          <a:srcRect l="5768" r="5768"/>
          <a:stretch/>
        </p:blipFill>
        <p:spPr>
          <a:xfrm>
            <a:off x="7524750" y="1333500"/>
            <a:ext cx="4381500" cy="4953000"/>
          </a:xfrm>
          <a:prstGeom prst="roundRect">
            <a:avLst>
              <a:gd name="adj" fmla="val 4347"/>
            </a:avLst>
          </a:prstGeom>
          <a:noFill/>
          <a:ln>
            <a:noFill/>
          </a:ln>
        </p:spPr>
      </p:pic>
      <p:sp>
        <p:nvSpPr>
          <p:cNvPr id="437" name="Google Shape;437;p34"/>
          <p:cNvSpPr/>
          <p:nvPr/>
        </p:nvSpPr>
        <p:spPr>
          <a:xfrm>
            <a:off x="7524750" y="1333500"/>
            <a:ext cx="4381500" cy="4953000"/>
          </a:xfrm>
          <a:prstGeom prst="roundRect">
            <a:avLst>
              <a:gd name="adj" fmla="val 4347"/>
            </a:avLst>
          </a:prstGeom>
          <a:solidFill>
            <a:srgbClr val="000000">
              <a:alpha val="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5"/>
          <p:cNvSpPr/>
          <p:nvPr/>
        </p:nvSpPr>
        <p:spPr>
          <a:xfrm>
            <a:off x="0" y="0"/>
            <a:ext cx="12192000" cy="6858000"/>
          </a:xfrm>
          <a:prstGeom prst="rect">
            <a:avLst/>
          </a:prstGeom>
          <a:solidFill>
            <a:srgbClr val="02061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443" name="Google Shape;443;p35"/>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44" name="Google Shape;444;p35"/>
          <p:cNvSpPr/>
          <p:nvPr/>
        </p:nvSpPr>
        <p:spPr>
          <a:xfrm>
            <a:off x="571500" y="571500"/>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5" name="Google Shape;445;p35"/>
          <p:cNvSpPr txBox="1"/>
          <p:nvPr/>
        </p:nvSpPr>
        <p:spPr>
          <a:xfrm>
            <a:off x="809625" y="571500"/>
            <a:ext cx="10477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CNN Model Hiperparametreleri</a:t>
            </a:r>
            <a:endParaRPr sz="3200" b="1">
              <a:solidFill>
                <a:srgbClr val="60A5FA"/>
              </a:solidFill>
              <a:latin typeface="Urbanist"/>
              <a:ea typeface="Urbanist"/>
              <a:cs typeface="Urbanist"/>
              <a:sym typeface="Urbanist"/>
            </a:endParaRPr>
          </a:p>
        </p:txBody>
      </p:sp>
      <p:sp>
        <p:nvSpPr>
          <p:cNvPr id="446" name="Google Shape;446;p35"/>
          <p:cNvSpPr/>
          <p:nvPr/>
        </p:nvSpPr>
        <p:spPr>
          <a:xfrm>
            <a:off x="571500" y="1333500"/>
            <a:ext cx="11049000" cy="476400"/>
          </a:xfrm>
          <a:prstGeom prst="roundRect">
            <a:avLst>
              <a:gd name="adj" fmla="val 16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7" name="Google Shape;447;p35"/>
          <p:cNvSpPr txBox="1"/>
          <p:nvPr/>
        </p:nvSpPr>
        <p:spPr>
          <a:xfrm>
            <a:off x="762000" y="1333500"/>
            <a:ext cx="20955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F8FAFC"/>
                </a:solidFill>
                <a:latin typeface="Urbanist"/>
                <a:ea typeface="Urbanist"/>
                <a:cs typeface="Urbanist"/>
                <a:sym typeface="Urbanist"/>
              </a:rPr>
              <a:t>Parametre</a:t>
            </a:r>
            <a:endParaRPr sz="1600" b="1">
              <a:solidFill>
                <a:srgbClr val="F8FAFC"/>
              </a:solidFill>
              <a:latin typeface="Urbanist"/>
              <a:ea typeface="Urbanist"/>
              <a:cs typeface="Urbanist"/>
              <a:sym typeface="Urbanist"/>
            </a:endParaRPr>
          </a:p>
        </p:txBody>
      </p:sp>
      <p:sp>
        <p:nvSpPr>
          <p:cNvPr id="448" name="Google Shape;448;p35"/>
          <p:cNvSpPr txBox="1"/>
          <p:nvPr/>
        </p:nvSpPr>
        <p:spPr>
          <a:xfrm>
            <a:off x="3048000" y="1333500"/>
            <a:ext cx="8382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F8FAFC"/>
                </a:solidFill>
                <a:latin typeface="Urbanist"/>
                <a:ea typeface="Urbanist"/>
                <a:cs typeface="Urbanist"/>
                <a:sym typeface="Urbanist"/>
              </a:rPr>
              <a:t>Açıklama ve CNN İçin Önemi</a:t>
            </a:r>
            <a:endParaRPr sz="1600" b="1">
              <a:solidFill>
                <a:srgbClr val="F8FAFC"/>
              </a:solidFill>
              <a:latin typeface="Urbanist"/>
              <a:ea typeface="Urbanist"/>
              <a:cs typeface="Urbanist"/>
              <a:sym typeface="Urbanist"/>
            </a:endParaRPr>
          </a:p>
        </p:txBody>
      </p:sp>
      <p:grpSp>
        <p:nvGrpSpPr>
          <p:cNvPr id="449" name="Google Shape;449;p35"/>
          <p:cNvGrpSpPr/>
          <p:nvPr/>
        </p:nvGrpSpPr>
        <p:grpSpPr>
          <a:xfrm>
            <a:off x="571500" y="1905000"/>
            <a:ext cx="11049000" cy="809700"/>
            <a:chOff x="571500" y="1905000"/>
            <a:chExt cx="11049000" cy="809700"/>
          </a:xfrm>
        </p:grpSpPr>
        <p:sp>
          <p:nvSpPr>
            <p:cNvPr id="450" name="Google Shape;450;p35"/>
            <p:cNvSpPr/>
            <p:nvPr/>
          </p:nvSpPr>
          <p:spPr>
            <a:xfrm>
              <a:off x="571500" y="1905000"/>
              <a:ext cx="11049000" cy="809700"/>
            </a:xfrm>
            <a:prstGeom prst="roundRect">
              <a:avLst>
                <a:gd name="adj" fmla="val 9411"/>
              </a:avLst>
            </a:prstGeom>
            <a:solidFill>
              <a:srgbClr val="0F172A">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1" name="Google Shape;451;p35"/>
            <p:cNvSpPr txBox="1"/>
            <p:nvPr/>
          </p:nvSpPr>
          <p:spPr>
            <a:xfrm>
              <a:off x="762000" y="1905000"/>
              <a:ext cx="20955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Base_line_model</a:t>
              </a:r>
              <a:endParaRPr sz="1300" b="1">
                <a:solidFill>
                  <a:srgbClr val="60A5FA"/>
                </a:solidFill>
                <a:latin typeface="Inter"/>
                <a:ea typeface="Inter"/>
                <a:cs typeface="Inter"/>
                <a:sym typeface="Inter"/>
              </a:endParaRPr>
            </a:p>
          </p:txBody>
        </p:sp>
        <p:sp>
          <p:nvSpPr>
            <p:cNvPr id="452" name="Google Shape;452;p35"/>
            <p:cNvSpPr txBox="1"/>
            <p:nvPr/>
          </p:nvSpPr>
          <p:spPr>
            <a:xfrm>
              <a:off x="3048000" y="1905000"/>
              <a:ext cx="83820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CBD5E1"/>
                  </a:solidFill>
                  <a:latin typeface="Inter"/>
                  <a:ea typeface="Inter"/>
                  <a:cs typeface="Inter"/>
                  <a:sym typeface="Inter"/>
                </a:rPr>
                <a:t>Transfer learning yönteminde dondurulacak katman sayısını ve eğitime açılacak son katmanları belirleyen temel yapı taşıdır.</a:t>
              </a:r>
              <a:endParaRPr sz="1100" b="0">
                <a:solidFill>
                  <a:srgbClr val="CBD5E1"/>
                </a:solidFill>
                <a:latin typeface="Inter"/>
                <a:ea typeface="Inter"/>
                <a:cs typeface="Inter"/>
                <a:sym typeface="Inter"/>
              </a:endParaRPr>
            </a:p>
          </p:txBody>
        </p:sp>
      </p:grpSp>
      <p:grpSp>
        <p:nvGrpSpPr>
          <p:cNvPr id="453" name="Google Shape;453;p35"/>
          <p:cNvGrpSpPr/>
          <p:nvPr/>
        </p:nvGrpSpPr>
        <p:grpSpPr>
          <a:xfrm>
            <a:off x="571500" y="2809875"/>
            <a:ext cx="11049000" cy="809700"/>
            <a:chOff x="571500" y="2809875"/>
            <a:chExt cx="11049000" cy="809700"/>
          </a:xfrm>
        </p:grpSpPr>
        <p:sp>
          <p:nvSpPr>
            <p:cNvPr id="454" name="Google Shape;454;p35"/>
            <p:cNvSpPr/>
            <p:nvPr/>
          </p:nvSpPr>
          <p:spPr>
            <a:xfrm>
              <a:off x="571500" y="2809875"/>
              <a:ext cx="11049000" cy="809700"/>
            </a:xfrm>
            <a:prstGeom prst="roundRect">
              <a:avLst>
                <a:gd name="adj" fmla="val 9411"/>
              </a:avLst>
            </a:prstGeom>
            <a:solidFill>
              <a:srgbClr val="0F172A">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5" name="Google Shape;455;p35"/>
            <p:cNvSpPr txBox="1"/>
            <p:nvPr/>
          </p:nvSpPr>
          <p:spPr>
            <a:xfrm>
              <a:off x="762000" y="2809875"/>
              <a:ext cx="20955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Batch Size</a:t>
              </a:r>
              <a:endParaRPr sz="1300" b="1">
                <a:solidFill>
                  <a:srgbClr val="60A5FA"/>
                </a:solidFill>
                <a:latin typeface="Inter"/>
                <a:ea typeface="Inter"/>
                <a:cs typeface="Inter"/>
                <a:sym typeface="Inter"/>
              </a:endParaRPr>
            </a:p>
          </p:txBody>
        </p:sp>
        <p:sp>
          <p:nvSpPr>
            <p:cNvPr id="456" name="Google Shape;456;p35"/>
            <p:cNvSpPr txBox="1"/>
            <p:nvPr/>
          </p:nvSpPr>
          <p:spPr>
            <a:xfrm>
              <a:off x="3048000" y="2809875"/>
              <a:ext cx="83820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CBD5E1"/>
                  </a:solidFill>
                  <a:latin typeface="Inter"/>
                  <a:ea typeface="Inter"/>
                  <a:cs typeface="Inter"/>
                  <a:sym typeface="Inter"/>
                </a:rPr>
                <a:t>Modelin ağırlıkları güncellemeden önce işlediği veri sayısıdır. GPU kullanımını ve gradyan gürültüsüyle yerel minimumlardan kaçma yeteneğini belirler.</a:t>
              </a:r>
              <a:endParaRPr sz="1100" b="0">
                <a:solidFill>
                  <a:srgbClr val="CBD5E1"/>
                </a:solidFill>
                <a:latin typeface="Inter"/>
                <a:ea typeface="Inter"/>
                <a:cs typeface="Inter"/>
                <a:sym typeface="Inter"/>
              </a:endParaRPr>
            </a:p>
          </p:txBody>
        </p:sp>
      </p:grpSp>
      <p:grpSp>
        <p:nvGrpSpPr>
          <p:cNvPr id="457" name="Google Shape;457;p35"/>
          <p:cNvGrpSpPr/>
          <p:nvPr/>
        </p:nvGrpSpPr>
        <p:grpSpPr>
          <a:xfrm>
            <a:off x="571500" y="3714750"/>
            <a:ext cx="11049000" cy="809700"/>
            <a:chOff x="571500" y="3714750"/>
            <a:chExt cx="11049000" cy="809700"/>
          </a:xfrm>
        </p:grpSpPr>
        <p:sp>
          <p:nvSpPr>
            <p:cNvPr id="458" name="Google Shape;458;p35"/>
            <p:cNvSpPr/>
            <p:nvPr/>
          </p:nvSpPr>
          <p:spPr>
            <a:xfrm>
              <a:off x="571500" y="3714750"/>
              <a:ext cx="11049000" cy="809700"/>
            </a:xfrm>
            <a:prstGeom prst="roundRect">
              <a:avLst>
                <a:gd name="adj" fmla="val 9411"/>
              </a:avLst>
            </a:prstGeom>
            <a:solidFill>
              <a:srgbClr val="0F172A">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9" name="Google Shape;459;p35"/>
            <p:cNvSpPr txBox="1"/>
            <p:nvPr/>
          </p:nvSpPr>
          <p:spPr>
            <a:xfrm>
              <a:off x="762000" y="3714750"/>
              <a:ext cx="20955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Epoch (Eğitim Turu)</a:t>
              </a:r>
              <a:endParaRPr sz="1300" b="1">
                <a:solidFill>
                  <a:srgbClr val="60A5FA"/>
                </a:solidFill>
                <a:latin typeface="Inter"/>
                <a:ea typeface="Inter"/>
                <a:cs typeface="Inter"/>
                <a:sym typeface="Inter"/>
              </a:endParaRPr>
            </a:p>
          </p:txBody>
        </p:sp>
        <p:sp>
          <p:nvSpPr>
            <p:cNvPr id="460" name="Google Shape;460;p35"/>
            <p:cNvSpPr txBox="1"/>
            <p:nvPr/>
          </p:nvSpPr>
          <p:spPr>
            <a:xfrm>
              <a:off x="3048000" y="3714750"/>
              <a:ext cx="83820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CBD5E1"/>
                  </a:solidFill>
                  <a:latin typeface="Inter"/>
                  <a:ea typeface="Inter"/>
                  <a:cs typeface="Inter"/>
                  <a:sym typeface="Inter"/>
                </a:rPr>
                <a:t>Modelin veri setini tam tur geçmesidir. İlk turlarda temel özellikler (kenarlar) öğrenilirken, sonraki turlarda örüntüler netleşir ve ince ayar yapılır.</a:t>
              </a:r>
              <a:endParaRPr sz="1100" b="0">
                <a:solidFill>
                  <a:srgbClr val="CBD5E1"/>
                </a:solidFill>
                <a:latin typeface="Inter"/>
                <a:ea typeface="Inter"/>
                <a:cs typeface="Inter"/>
                <a:sym typeface="Inter"/>
              </a:endParaRPr>
            </a:p>
          </p:txBody>
        </p:sp>
      </p:grpSp>
      <p:grpSp>
        <p:nvGrpSpPr>
          <p:cNvPr id="461" name="Google Shape;461;p35"/>
          <p:cNvGrpSpPr/>
          <p:nvPr/>
        </p:nvGrpSpPr>
        <p:grpSpPr>
          <a:xfrm>
            <a:off x="571500" y="4619625"/>
            <a:ext cx="11049000" cy="809700"/>
            <a:chOff x="571500" y="4619625"/>
            <a:chExt cx="11049000" cy="809700"/>
          </a:xfrm>
        </p:grpSpPr>
        <p:sp>
          <p:nvSpPr>
            <p:cNvPr id="462" name="Google Shape;462;p35"/>
            <p:cNvSpPr/>
            <p:nvPr/>
          </p:nvSpPr>
          <p:spPr>
            <a:xfrm>
              <a:off x="571500" y="4619625"/>
              <a:ext cx="11049000" cy="809700"/>
            </a:xfrm>
            <a:prstGeom prst="roundRect">
              <a:avLst>
                <a:gd name="adj" fmla="val 9411"/>
              </a:avLst>
            </a:prstGeom>
            <a:solidFill>
              <a:srgbClr val="0F172A">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3" name="Google Shape;463;p35"/>
            <p:cNvSpPr txBox="1"/>
            <p:nvPr/>
          </p:nvSpPr>
          <p:spPr>
            <a:xfrm>
              <a:off x="762000" y="4619625"/>
              <a:ext cx="20955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Dropout</a:t>
              </a:r>
              <a:endParaRPr sz="1300" b="1">
                <a:solidFill>
                  <a:srgbClr val="60A5FA"/>
                </a:solidFill>
                <a:latin typeface="Inter"/>
                <a:ea typeface="Inter"/>
                <a:cs typeface="Inter"/>
                <a:sym typeface="Inter"/>
              </a:endParaRPr>
            </a:p>
          </p:txBody>
        </p:sp>
        <p:sp>
          <p:nvSpPr>
            <p:cNvPr id="464" name="Google Shape;464;p35"/>
            <p:cNvSpPr txBox="1"/>
            <p:nvPr/>
          </p:nvSpPr>
          <p:spPr>
            <a:xfrm>
              <a:off x="3048000" y="4619625"/>
              <a:ext cx="83820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CBD5E1"/>
                  </a:solidFill>
                  <a:latin typeface="Inter"/>
                  <a:ea typeface="Inter"/>
                  <a:cs typeface="Inter"/>
                  <a:sym typeface="Inter"/>
                </a:rPr>
                <a:t>Rastgele seçilen nöronların geçici olarak devre dışı bırakılmasıdır. Modelin ezberlemesini (overfitting) engeller ve genelleme yeteneğini artırır.</a:t>
              </a:r>
              <a:endParaRPr sz="1100" b="0">
                <a:solidFill>
                  <a:srgbClr val="CBD5E1"/>
                </a:solidFill>
                <a:latin typeface="Inter"/>
                <a:ea typeface="Inter"/>
                <a:cs typeface="Inter"/>
                <a:sym typeface="Inter"/>
              </a:endParaRPr>
            </a:p>
          </p:txBody>
        </p:sp>
      </p:grpSp>
      <p:grpSp>
        <p:nvGrpSpPr>
          <p:cNvPr id="465" name="Google Shape;465;p35"/>
          <p:cNvGrpSpPr/>
          <p:nvPr/>
        </p:nvGrpSpPr>
        <p:grpSpPr>
          <a:xfrm>
            <a:off x="571500" y="5524500"/>
            <a:ext cx="11049000" cy="809700"/>
            <a:chOff x="571500" y="5524500"/>
            <a:chExt cx="11049000" cy="809700"/>
          </a:xfrm>
        </p:grpSpPr>
        <p:sp>
          <p:nvSpPr>
            <p:cNvPr id="466" name="Google Shape;466;p35"/>
            <p:cNvSpPr/>
            <p:nvPr/>
          </p:nvSpPr>
          <p:spPr>
            <a:xfrm>
              <a:off x="571500" y="5524500"/>
              <a:ext cx="11049000" cy="809700"/>
            </a:xfrm>
            <a:prstGeom prst="roundRect">
              <a:avLst>
                <a:gd name="adj" fmla="val 9411"/>
              </a:avLst>
            </a:prstGeom>
            <a:solidFill>
              <a:srgbClr val="0F172A">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7" name="Google Shape;467;p35"/>
            <p:cNvSpPr txBox="1"/>
            <p:nvPr/>
          </p:nvSpPr>
          <p:spPr>
            <a:xfrm>
              <a:off x="762000" y="5524500"/>
              <a:ext cx="20955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Learning Rate</a:t>
              </a:r>
              <a:endParaRPr sz="1300" b="1">
                <a:solidFill>
                  <a:srgbClr val="60A5FA"/>
                </a:solidFill>
                <a:latin typeface="Inter"/>
                <a:ea typeface="Inter"/>
                <a:cs typeface="Inter"/>
                <a:sym typeface="Inter"/>
              </a:endParaRPr>
            </a:p>
          </p:txBody>
        </p:sp>
        <p:sp>
          <p:nvSpPr>
            <p:cNvPr id="468" name="Google Shape;468;p35"/>
            <p:cNvSpPr txBox="1"/>
            <p:nvPr/>
          </p:nvSpPr>
          <p:spPr>
            <a:xfrm>
              <a:off x="3048000" y="5524500"/>
              <a:ext cx="83820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CBD5E1"/>
                  </a:solidFill>
                  <a:latin typeface="Inter"/>
                  <a:ea typeface="Inter"/>
                  <a:cs typeface="Inter"/>
                  <a:sym typeface="Inter"/>
                </a:rPr>
                <a:t>Modelin hatayı düzeltmek için attığı adım büyüklüğüdür. En kritik parametredir; çok büyükse ıraksama, çok küçükse sonsuz eğitim veya yanlış noktada takılma riski taşır.</a:t>
              </a:r>
              <a:endParaRPr sz="1100" b="0">
                <a:solidFill>
                  <a:srgbClr val="CBD5E1"/>
                </a:solidFill>
                <a:latin typeface="Inter"/>
                <a:ea typeface="Inter"/>
                <a:cs typeface="Inter"/>
                <a:sym typeface="Inter"/>
              </a:endParaRPr>
            </a:p>
          </p:txBody>
        </p:sp>
      </p:grpSp>
      <p:grpSp>
        <p:nvGrpSpPr>
          <p:cNvPr id="469" name="Google Shape;469;p35"/>
          <p:cNvGrpSpPr/>
          <p:nvPr/>
        </p:nvGrpSpPr>
        <p:grpSpPr>
          <a:xfrm>
            <a:off x="571500" y="6429375"/>
            <a:ext cx="11049000" cy="381000"/>
            <a:chOff x="571500" y="6429375"/>
            <a:chExt cx="11049000" cy="381000"/>
          </a:xfrm>
        </p:grpSpPr>
        <p:sp>
          <p:nvSpPr>
            <p:cNvPr id="470" name="Google Shape;470;p35"/>
            <p:cNvSpPr/>
            <p:nvPr/>
          </p:nvSpPr>
          <p:spPr>
            <a:xfrm>
              <a:off x="571500" y="6429375"/>
              <a:ext cx="11049000" cy="381000"/>
            </a:xfrm>
            <a:prstGeom prst="roundRect">
              <a:avLst>
                <a:gd name="adj" fmla="val 20000"/>
              </a:avLst>
            </a:prstGeom>
            <a:solidFill>
              <a:srgbClr val="0F172A">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1" name="Google Shape;471;p35"/>
            <p:cNvSpPr txBox="1"/>
            <p:nvPr/>
          </p:nvSpPr>
          <p:spPr>
            <a:xfrm>
              <a:off x="762000" y="6429375"/>
              <a:ext cx="10668000" cy="381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endParaRPr sz="1100" b="0">
                <a:solidFill>
                  <a:srgbClr val="CBD5E1"/>
                </a:solidFill>
                <a:latin typeface="Inter"/>
                <a:ea typeface="Inter"/>
                <a:cs typeface="Inter"/>
                <a:sym typeface="Inte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5"/>
        <p:cNvGrpSpPr/>
        <p:nvPr/>
      </p:nvGrpSpPr>
      <p:grpSpPr>
        <a:xfrm>
          <a:off x="0" y="0"/>
          <a:ext cx="0" cy="0"/>
          <a:chOff x="0" y="0"/>
          <a:chExt cx="0" cy="0"/>
        </a:xfrm>
      </p:grpSpPr>
      <p:sp>
        <p:nvSpPr>
          <p:cNvPr id="476" name="Google Shape;476;p36"/>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7" name="Google Shape;477;p36"/>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MODEL 1</a:t>
            </a:r>
            <a:endParaRPr sz="3200" b="1">
              <a:solidFill>
                <a:srgbClr val="60A5FA"/>
              </a:solidFill>
              <a:latin typeface="Urbanist"/>
              <a:ea typeface="Urbanist"/>
              <a:cs typeface="Urbanist"/>
              <a:sym typeface="Urbanist"/>
            </a:endParaRPr>
          </a:p>
        </p:txBody>
      </p:sp>
      <p:grpSp>
        <p:nvGrpSpPr>
          <p:cNvPr id="478" name="Google Shape;478;p36"/>
          <p:cNvGrpSpPr/>
          <p:nvPr/>
        </p:nvGrpSpPr>
        <p:grpSpPr>
          <a:xfrm>
            <a:off x="571500" y="1333500"/>
            <a:ext cx="3429000" cy="2381400"/>
            <a:chOff x="571500" y="1333500"/>
            <a:chExt cx="3429000" cy="2381400"/>
          </a:xfrm>
        </p:grpSpPr>
        <p:sp>
          <p:nvSpPr>
            <p:cNvPr id="479" name="Google Shape;479;p36"/>
            <p:cNvSpPr/>
            <p:nvPr/>
          </p:nvSpPr>
          <p:spPr>
            <a:xfrm>
              <a:off x="571500" y="1333500"/>
              <a:ext cx="3429000" cy="2381400"/>
            </a:xfrm>
            <a:prstGeom prst="roundRect">
              <a:avLst>
                <a:gd name="adj" fmla="val 48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0" name="Google Shape;480;p36"/>
            <p:cNvSpPr txBox="1"/>
            <p:nvPr/>
          </p:nvSpPr>
          <p:spPr>
            <a:xfrm>
              <a:off x="762000" y="1597152"/>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481" name="Google Shape;481;p36"/>
            <p:cNvSpPr txBox="1"/>
            <p:nvPr/>
          </p:nvSpPr>
          <p:spPr>
            <a:xfrm>
              <a:off x="1238250" y="1524000"/>
              <a:ext cx="2571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Mimari</a:t>
              </a:r>
              <a:endParaRPr sz="2000" b="1">
                <a:solidFill>
                  <a:srgbClr val="F8FAFC"/>
                </a:solidFill>
                <a:latin typeface="Urbanist"/>
                <a:ea typeface="Urbanist"/>
                <a:cs typeface="Urbanist"/>
                <a:sym typeface="Urbanist"/>
              </a:endParaRPr>
            </a:p>
          </p:txBody>
        </p:sp>
        <p:sp>
          <p:nvSpPr>
            <p:cNvPr id="482" name="Google Shape;482;p36"/>
            <p:cNvSpPr txBox="1"/>
            <p:nvPr/>
          </p:nvSpPr>
          <p:spPr>
            <a:xfrm>
              <a:off x="762000" y="2047875"/>
              <a:ext cx="3048000" cy="14763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300" b="0">
                  <a:solidFill>
                    <a:srgbClr val="F8FAFC"/>
                  </a:solidFill>
                  <a:latin typeface="Inter"/>
                  <a:ea typeface="Inter"/>
                  <a:cs typeface="Inter"/>
                  <a:sym typeface="Inter"/>
                </a:rPr>
                <a:t>• EfficientNetB0</a:t>
              </a:r>
              <a:endParaRPr sz="1300" b="0">
                <a:solidFill>
                  <a:srgbClr val="F8FAFC"/>
                </a:solidFill>
                <a:latin typeface="Inter"/>
                <a:ea typeface="Inter"/>
                <a:cs typeface="Inter"/>
                <a:sym typeface="Inter"/>
              </a:endParaRPr>
            </a:p>
            <a:p>
              <a:pPr marL="0" lvl="0" indent="0" algn="l" rtl="0">
                <a:spcBef>
                  <a:spcPts val="450"/>
                </a:spcBef>
                <a:spcAft>
                  <a:spcPts val="0"/>
                </a:spcAft>
                <a:buNone/>
              </a:pPr>
              <a:r>
                <a:rPr lang="en-US" sz="1300" b="0">
                  <a:solidFill>
                    <a:srgbClr val="F8FAFC"/>
                  </a:solidFill>
                  <a:latin typeface="Inter"/>
                  <a:ea typeface="Inter"/>
                  <a:cs typeface="Inter"/>
                  <a:sym typeface="Inter"/>
                </a:rPr>
                <a:t>• 256 Üniteli Dense + BN + Dropout</a:t>
              </a:r>
              <a:endParaRPr sz="1300" b="0">
                <a:solidFill>
                  <a:srgbClr val="F8FAFC"/>
                </a:solidFill>
                <a:latin typeface="Inter"/>
                <a:ea typeface="Inter"/>
                <a:cs typeface="Inter"/>
                <a:sym typeface="Inter"/>
              </a:endParaRPr>
            </a:p>
            <a:p>
              <a:pPr marL="0" lvl="0" indent="0" algn="l" rtl="0">
                <a:spcBef>
                  <a:spcPts val="450"/>
                </a:spcBef>
                <a:spcAft>
                  <a:spcPts val="0"/>
                </a:spcAft>
                <a:buNone/>
              </a:pPr>
              <a:r>
                <a:rPr lang="en-US" sz="1300" b="0">
                  <a:solidFill>
                    <a:srgbClr val="F8FAFC"/>
                  </a:solidFill>
                  <a:latin typeface="Inter"/>
                  <a:ea typeface="Inter"/>
                  <a:cs typeface="Inter"/>
                  <a:sym typeface="Inter"/>
                </a:rPr>
                <a:t>• Dropout: 0.35</a:t>
              </a:r>
              <a:endParaRPr sz="1300" b="0">
                <a:solidFill>
                  <a:srgbClr val="F8FAFC"/>
                </a:solidFill>
                <a:latin typeface="Inter"/>
                <a:ea typeface="Inter"/>
                <a:cs typeface="Inter"/>
                <a:sym typeface="Inter"/>
              </a:endParaRPr>
            </a:p>
            <a:p>
              <a:pPr marL="0" lvl="0" indent="0" algn="l" rtl="0">
                <a:spcBef>
                  <a:spcPts val="450"/>
                </a:spcBef>
                <a:spcAft>
                  <a:spcPts val="0"/>
                </a:spcAft>
                <a:buNone/>
              </a:pPr>
              <a:r>
                <a:rPr lang="en-US" sz="1300" b="0">
                  <a:solidFill>
                    <a:srgbClr val="F8FAFC"/>
                  </a:solidFill>
                  <a:latin typeface="Inter"/>
                  <a:ea typeface="Inter"/>
                  <a:cs typeface="Inter"/>
                  <a:sym typeface="Inter"/>
                </a:rPr>
                <a:t>• Aktivasyon: Sigmoid</a:t>
              </a:r>
              <a:endParaRPr sz="1300" b="0">
                <a:solidFill>
                  <a:srgbClr val="F8FAFC"/>
                </a:solidFill>
                <a:latin typeface="Inter"/>
                <a:ea typeface="Inter"/>
                <a:cs typeface="Inter"/>
                <a:sym typeface="Inter"/>
              </a:endParaRPr>
            </a:p>
            <a:p>
              <a:pPr marL="0" lvl="0" indent="0" algn="l" rtl="0">
                <a:spcBef>
                  <a:spcPts val="450"/>
                </a:spcBef>
                <a:spcAft>
                  <a:spcPts val="450"/>
                </a:spcAft>
                <a:buNone/>
              </a:pPr>
              <a:r>
                <a:rPr lang="en-US" sz="1300" b="0">
                  <a:solidFill>
                    <a:srgbClr val="F8FAFC"/>
                  </a:solidFill>
                  <a:latin typeface="Inter"/>
                  <a:ea typeface="Inter"/>
                  <a:cs typeface="Inter"/>
                  <a:sym typeface="Inter"/>
                </a:rPr>
                <a:t>• Batch Size: 32</a:t>
              </a:r>
              <a:endParaRPr sz="1300" b="0">
                <a:solidFill>
                  <a:srgbClr val="F8FAFC"/>
                </a:solidFill>
                <a:latin typeface="Inter"/>
                <a:ea typeface="Inter"/>
                <a:cs typeface="Inter"/>
                <a:sym typeface="Inter"/>
              </a:endParaRPr>
            </a:p>
          </p:txBody>
        </p:sp>
      </p:grpSp>
      <p:grpSp>
        <p:nvGrpSpPr>
          <p:cNvPr id="483" name="Google Shape;483;p36"/>
          <p:cNvGrpSpPr/>
          <p:nvPr/>
        </p:nvGrpSpPr>
        <p:grpSpPr>
          <a:xfrm>
            <a:off x="4191000" y="1333500"/>
            <a:ext cx="3429000" cy="2381400"/>
            <a:chOff x="4191000" y="1333500"/>
            <a:chExt cx="3429000" cy="2381400"/>
          </a:xfrm>
        </p:grpSpPr>
        <p:sp>
          <p:nvSpPr>
            <p:cNvPr id="484" name="Google Shape;484;p36"/>
            <p:cNvSpPr/>
            <p:nvPr/>
          </p:nvSpPr>
          <p:spPr>
            <a:xfrm>
              <a:off x="4191000" y="1333500"/>
              <a:ext cx="3429000" cy="2381400"/>
            </a:xfrm>
            <a:prstGeom prst="roundRect">
              <a:avLst>
                <a:gd name="adj" fmla="val 48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5" name="Google Shape;485;p36"/>
            <p:cNvSpPr txBox="1"/>
            <p:nvPr/>
          </p:nvSpPr>
          <p:spPr>
            <a:xfrm>
              <a:off x="4381500" y="1597152"/>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486" name="Google Shape;486;p36"/>
            <p:cNvSpPr txBox="1"/>
            <p:nvPr/>
          </p:nvSpPr>
          <p:spPr>
            <a:xfrm>
              <a:off x="4857750" y="1524000"/>
              <a:ext cx="2571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Eğitim Süreci</a:t>
              </a:r>
              <a:endParaRPr sz="2000" b="1">
                <a:solidFill>
                  <a:srgbClr val="F8FAFC"/>
                </a:solidFill>
                <a:latin typeface="Urbanist"/>
                <a:ea typeface="Urbanist"/>
                <a:cs typeface="Urbanist"/>
                <a:sym typeface="Urbanist"/>
              </a:endParaRPr>
            </a:p>
          </p:txBody>
        </p:sp>
        <p:sp>
          <p:nvSpPr>
            <p:cNvPr id="487" name="Google Shape;487;p36"/>
            <p:cNvSpPr txBox="1"/>
            <p:nvPr/>
          </p:nvSpPr>
          <p:spPr>
            <a:xfrm>
              <a:off x="4381500" y="2047875"/>
              <a:ext cx="3048000" cy="14763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Aşama 1 (Klasik)</a:t>
              </a:r>
              <a:endParaRPr sz="1300" b="1">
                <a:solidFill>
                  <a:srgbClr val="60A5FA"/>
                </a:solidFill>
                <a:latin typeface="Inter"/>
                <a:ea typeface="Inter"/>
                <a:cs typeface="Inter"/>
                <a:sym typeface="Inter"/>
              </a:endParaRPr>
            </a:p>
            <a:p>
              <a:pPr marL="0" lvl="0" indent="0" algn="l" rtl="0">
                <a:spcBef>
                  <a:spcPts val="225"/>
                </a:spcBef>
                <a:spcAft>
                  <a:spcPts val="0"/>
                </a:spcAft>
                <a:buNone/>
              </a:pPr>
              <a:r>
                <a:rPr lang="en-US" sz="1100" b="0">
                  <a:solidFill>
                    <a:srgbClr val="CBD5E1"/>
                  </a:solidFill>
                  <a:latin typeface="Inter"/>
                  <a:ea typeface="Inter"/>
                  <a:cs typeface="Inter"/>
                  <a:sym typeface="Inter"/>
                </a:rPr>
                <a:t>LR: 0.001 | 15 Epoch | Adam</a:t>
              </a:r>
              <a:endParaRPr sz="1100" b="0">
                <a:solidFill>
                  <a:srgbClr val="CBD5E1"/>
                </a:solidFill>
                <a:latin typeface="Inter"/>
                <a:ea typeface="Inter"/>
                <a:cs typeface="Inter"/>
                <a:sym typeface="Inter"/>
              </a:endParaRPr>
            </a:p>
            <a:p>
              <a:pPr marL="0" lvl="0" indent="0" algn="l" rtl="0">
                <a:spcBef>
                  <a:spcPts val="675"/>
                </a:spcBef>
                <a:spcAft>
                  <a:spcPts val="0"/>
                </a:spcAft>
                <a:buNone/>
              </a:pPr>
              <a:r>
                <a:rPr lang="en-US" sz="1300" b="1">
                  <a:solidFill>
                    <a:srgbClr val="60A5FA"/>
                  </a:solidFill>
                  <a:latin typeface="Inter"/>
                  <a:ea typeface="Inter"/>
                  <a:cs typeface="Inter"/>
                  <a:sym typeface="Inter"/>
                </a:rPr>
                <a:t>Aşama 2 (Fine-Tuning)</a:t>
              </a:r>
              <a:endParaRPr sz="1300" b="1">
                <a:solidFill>
                  <a:srgbClr val="60A5FA"/>
                </a:solidFill>
                <a:latin typeface="Inter"/>
                <a:ea typeface="Inter"/>
                <a:cs typeface="Inter"/>
                <a:sym typeface="Inter"/>
              </a:endParaRPr>
            </a:p>
            <a:p>
              <a:pPr marL="0" lvl="0" indent="0" algn="l" rtl="0">
                <a:spcBef>
                  <a:spcPts val="225"/>
                </a:spcBef>
                <a:spcAft>
                  <a:spcPts val="0"/>
                </a:spcAft>
                <a:buNone/>
              </a:pPr>
              <a:r>
                <a:rPr lang="en-US" sz="1100" b="0">
                  <a:solidFill>
                    <a:srgbClr val="CBD5E1"/>
                  </a:solidFill>
                  <a:latin typeface="Inter"/>
                  <a:ea typeface="Inter"/>
                  <a:cs typeface="Inter"/>
                  <a:sym typeface="Inter"/>
                </a:rPr>
                <a:t>Son 30 Katman Eğitilebilir | LR: 1e-5 | 30 Epoch</a:t>
              </a:r>
              <a:endParaRPr sz="1100" b="0">
                <a:solidFill>
                  <a:srgbClr val="CBD5E1"/>
                </a:solidFill>
                <a:latin typeface="Inter"/>
                <a:ea typeface="Inter"/>
                <a:cs typeface="Inter"/>
                <a:sym typeface="Inter"/>
              </a:endParaRPr>
            </a:p>
          </p:txBody>
        </p:sp>
      </p:grpSp>
      <p:grpSp>
        <p:nvGrpSpPr>
          <p:cNvPr id="488" name="Google Shape;488;p36"/>
          <p:cNvGrpSpPr/>
          <p:nvPr/>
        </p:nvGrpSpPr>
        <p:grpSpPr>
          <a:xfrm>
            <a:off x="571500" y="3810000"/>
            <a:ext cx="7048500" cy="1095300"/>
            <a:chOff x="571500" y="3810000"/>
            <a:chExt cx="7048500" cy="1095300"/>
          </a:xfrm>
        </p:grpSpPr>
        <p:sp>
          <p:nvSpPr>
            <p:cNvPr id="489" name="Google Shape;489;p36"/>
            <p:cNvSpPr/>
            <p:nvPr/>
          </p:nvSpPr>
          <p:spPr>
            <a:xfrm>
              <a:off x="571500" y="3810000"/>
              <a:ext cx="7048500" cy="1095300"/>
            </a:xfrm>
            <a:prstGeom prst="roundRect">
              <a:avLst>
                <a:gd name="adj" fmla="val 10434"/>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0" name="Google Shape;490;p36"/>
            <p:cNvSpPr txBox="1"/>
            <p:nvPr/>
          </p:nvSpPr>
          <p:spPr>
            <a:xfrm>
              <a:off x="762000" y="4156329"/>
              <a:ext cx="476400" cy="476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491" name="Google Shape;491;p36"/>
            <p:cNvSpPr txBox="1"/>
            <p:nvPr/>
          </p:nvSpPr>
          <p:spPr>
            <a:xfrm>
              <a:off x="1333500" y="3952875"/>
              <a:ext cx="6096000" cy="809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F8FAFC"/>
                  </a:solidFill>
                  <a:latin typeface="Urbanist"/>
                  <a:ea typeface="Urbanist"/>
                  <a:cs typeface="Urbanist"/>
                  <a:sym typeface="Urbanist"/>
                </a:rPr>
                <a:t>Threshold Stratejisi</a:t>
              </a:r>
              <a:endParaRPr sz="1600" b="1">
                <a:solidFill>
                  <a:srgbClr val="F8FAFC"/>
                </a:solidFill>
                <a:latin typeface="Urbanist"/>
                <a:ea typeface="Urbanist"/>
                <a:cs typeface="Urbanist"/>
                <a:sym typeface="Urbanist"/>
              </a:endParaRPr>
            </a:p>
            <a:p>
              <a:pPr marL="0" lvl="0" indent="0" algn="l" rtl="0">
                <a:spcBef>
                  <a:spcPts val="0"/>
                </a:spcBef>
                <a:spcAft>
                  <a:spcPts val="0"/>
                </a:spcAft>
                <a:buNone/>
              </a:pPr>
              <a:r>
                <a:rPr lang="en-US" sz="1100" b="0">
                  <a:solidFill>
                    <a:srgbClr val="CBD5E1"/>
                  </a:solidFill>
                  <a:latin typeface="Inter"/>
                  <a:ea typeface="Inter"/>
                  <a:cs typeface="Inter"/>
                  <a:sym typeface="Inter"/>
                </a:rPr>
                <a:t>Validasyon setine göre optimize edilmiş el ile ayarlanmış özel eşikler</a:t>
              </a:r>
              <a:endParaRPr sz="1100" b="0">
                <a:solidFill>
                  <a:srgbClr val="CBD5E1"/>
                </a:solidFill>
                <a:latin typeface="Inter"/>
                <a:ea typeface="Inter"/>
                <a:cs typeface="Inter"/>
                <a:sym typeface="Inter"/>
              </a:endParaRPr>
            </a:p>
            <a:p>
              <a:pPr marL="0" lvl="0" indent="0" algn="l" rtl="0">
                <a:spcBef>
                  <a:spcPts val="450"/>
                </a:spcBef>
                <a:spcAft>
                  <a:spcPts val="0"/>
                </a:spcAft>
                <a:buNone/>
              </a:pPr>
              <a:endParaRPr sz="1000" b="0" i="1">
                <a:solidFill>
                  <a:srgbClr val="60A5FA"/>
                </a:solidFill>
                <a:latin typeface="Inter"/>
                <a:ea typeface="Inter"/>
                <a:cs typeface="Inter"/>
                <a:sym typeface="Inter"/>
              </a:endParaRPr>
            </a:p>
          </p:txBody>
        </p:sp>
      </p:grpSp>
      <p:grpSp>
        <p:nvGrpSpPr>
          <p:cNvPr id="492" name="Google Shape;492;p36"/>
          <p:cNvGrpSpPr/>
          <p:nvPr/>
        </p:nvGrpSpPr>
        <p:grpSpPr>
          <a:xfrm>
            <a:off x="571500" y="5048250"/>
            <a:ext cx="7048500" cy="1428900"/>
            <a:chOff x="571500" y="5048250"/>
            <a:chExt cx="7048500" cy="1428900"/>
          </a:xfrm>
        </p:grpSpPr>
        <p:sp>
          <p:nvSpPr>
            <p:cNvPr id="493" name="Google Shape;493;p36"/>
            <p:cNvSpPr/>
            <p:nvPr/>
          </p:nvSpPr>
          <p:spPr>
            <a:xfrm>
              <a:off x="571500" y="5048250"/>
              <a:ext cx="7048500" cy="1428900"/>
            </a:xfrm>
            <a:prstGeom prst="roundRect">
              <a:avLst>
                <a:gd name="adj" fmla="val 8000"/>
              </a:avLst>
            </a:prstGeom>
            <a:solidFill>
              <a:srgbClr val="1E293B">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4" name="Google Shape;494;p36"/>
            <p:cNvSpPr txBox="1"/>
            <p:nvPr/>
          </p:nvSpPr>
          <p:spPr>
            <a:xfrm>
              <a:off x="762000" y="5191125"/>
              <a:ext cx="1905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CBD5E1"/>
                  </a:solidFill>
                  <a:latin typeface="Urbanist"/>
                  <a:ea typeface="Urbanist"/>
                  <a:cs typeface="Urbanist"/>
                  <a:sym typeface="Urbanist"/>
                </a:rPr>
                <a:t>Performans Özeti</a:t>
              </a:r>
              <a:endParaRPr sz="1400" b="1">
                <a:solidFill>
                  <a:srgbClr val="CBD5E1"/>
                </a:solidFill>
                <a:latin typeface="Urbanist"/>
                <a:ea typeface="Urbanist"/>
                <a:cs typeface="Urbanist"/>
                <a:sym typeface="Urbanist"/>
              </a:endParaRPr>
            </a:p>
          </p:txBody>
        </p:sp>
        <p:grpSp>
          <p:nvGrpSpPr>
            <p:cNvPr id="495" name="Google Shape;495;p36"/>
            <p:cNvGrpSpPr/>
            <p:nvPr/>
          </p:nvGrpSpPr>
          <p:grpSpPr>
            <a:xfrm>
              <a:off x="762000" y="5572125"/>
              <a:ext cx="1524000" cy="762000"/>
              <a:chOff x="762000" y="5572125"/>
              <a:chExt cx="1524000" cy="762000"/>
            </a:xfrm>
          </p:grpSpPr>
          <p:sp>
            <p:nvSpPr>
              <p:cNvPr id="496" name="Google Shape;496;p36"/>
              <p:cNvSpPr/>
              <p:nvPr/>
            </p:nvSpPr>
            <p:spPr>
              <a:xfrm>
                <a:off x="7620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7" name="Google Shape;497;p36"/>
              <p:cNvSpPr txBox="1"/>
              <p:nvPr/>
            </p:nvSpPr>
            <p:spPr>
              <a:xfrm>
                <a:off x="762000" y="5667375"/>
                <a:ext cx="1524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CBD5E1"/>
                    </a:solidFill>
                    <a:latin typeface="Urbanist"/>
                    <a:ea typeface="Urbanist"/>
                    <a:cs typeface="Urbanist"/>
                    <a:sym typeface="Urbanist"/>
                  </a:rPr>
                  <a:t>Macro F1</a:t>
                </a:r>
                <a:endParaRPr sz="1400" b="1">
                  <a:solidFill>
                    <a:srgbClr val="CBD5E1"/>
                  </a:solidFill>
                  <a:latin typeface="Urbanist"/>
                  <a:ea typeface="Urbanist"/>
                  <a:cs typeface="Urbanist"/>
                  <a:sym typeface="Urbanist"/>
                </a:endParaRPr>
              </a:p>
            </p:txBody>
          </p:sp>
          <p:sp>
            <p:nvSpPr>
              <p:cNvPr id="498" name="Google Shape;498;p36"/>
              <p:cNvSpPr txBox="1"/>
              <p:nvPr/>
            </p:nvSpPr>
            <p:spPr>
              <a:xfrm>
                <a:off x="762000" y="5953125"/>
                <a:ext cx="1524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i="0">
                    <a:solidFill>
                      <a:srgbClr val="60A5FA"/>
                    </a:solidFill>
                    <a:latin typeface="Inter"/>
                    <a:ea typeface="Inter"/>
                    <a:cs typeface="Inter"/>
                    <a:sym typeface="Inter"/>
                  </a:rPr>
                  <a:t>0.3912</a:t>
                </a:r>
                <a:endParaRPr sz="2000" b="1" i="0">
                  <a:solidFill>
                    <a:srgbClr val="60A5FA"/>
                  </a:solidFill>
                  <a:latin typeface="Inter"/>
                  <a:ea typeface="Inter"/>
                  <a:cs typeface="Inter"/>
                  <a:sym typeface="Inter"/>
                </a:endParaRPr>
              </a:p>
            </p:txBody>
          </p:sp>
        </p:grpSp>
        <p:grpSp>
          <p:nvGrpSpPr>
            <p:cNvPr id="499" name="Google Shape;499;p36"/>
            <p:cNvGrpSpPr/>
            <p:nvPr/>
          </p:nvGrpSpPr>
          <p:grpSpPr>
            <a:xfrm>
              <a:off x="2476500" y="5572125"/>
              <a:ext cx="1524000" cy="762000"/>
              <a:chOff x="2476500" y="5572125"/>
              <a:chExt cx="1524000" cy="762000"/>
            </a:xfrm>
          </p:grpSpPr>
          <p:sp>
            <p:nvSpPr>
              <p:cNvPr id="500" name="Google Shape;500;p36"/>
              <p:cNvSpPr/>
              <p:nvPr/>
            </p:nvSpPr>
            <p:spPr>
              <a:xfrm>
                <a:off x="24765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1" name="Google Shape;501;p36"/>
              <p:cNvSpPr txBox="1"/>
              <p:nvPr/>
            </p:nvSpPr>
            <p:spPr>
              <a:xfrm>
                <a:off x="2476500" y="5667375"/>
                <a:ext cx="1524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CBD5E1"/>
                    </a:solidFill>
                    <a:latin typeface="Urbanist"/>
                    <a:ea typeface="Urbanist"/>
                    <a:cs typeface="Urbanist"/>
                    <a:sym typeface="Urbanist"/>
                  </a:rPr>
                  <a:t>Recall</a:t>
                </a:r>
                <a:endParaRPr sz="1400" b="1">
                  <a:solidFill>
                    <a:srgbClr val="CBD5E1"/>
                  </a:solidFill>
                  <a:latin typeface="Urbanist"/>
                  <a:ea typeface="Urbanist"/>
                  <a:cs typeface="Urbanist"/>
                  <a:sym typeface="Urbanist"/>
                </a:endParaRPr>
              </a:p>
            </p:txBody>
          </p:sp>
          <p:sp>
            <p:nvSpPr>
              <p:cNvPr id="502" name="Google Shape;502;p36"/>
              <p:cNvSpPr txBox="1"/>
              <p:nvPr/>
            </p:nvSpPr>
            <p:spPr>
              <a:xfrm>
                <a:off x="2476500" y="5953125"/>
                <a:ext cx="1524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i="0">
                    <a:solidFill>
                      <a:srgbClr val="60A5FA"/>
                    </a:solidFill>
                    <a:latin typeface="Inter"/>
                    <a:ea typeface="Inter"/>
                    <a:cs typeface="Inter"/>
                    <a:sym typeface="Inter"/>
                  </a:rPr>
                  <a:t>0.5640</a:t>
                </a:r>
                <a:endParaRPr sz="2000" b="1" i="0">
                  <a:solidFill>
                    <a:srgbClr val="60A5FA"/>
                  </a:solidFill>
                  <a:latin typeface="Inter"/>
                  <a:ea typeface="Inter"/>
                  <a:cs typeface="Inter"/>
                  <a:sym typeface="Inter"/>
                </a:endParaRPr>
              </a:p>
            </p:txBody>
          </p:sp>
        </p:grpSp>
        <p:grpSp>
          <p:nvGrpSpPr>
            <p:cNvPr id="503" name="Google Shape;503;p36"/>
            <p:cNvGrpSpPr/>
            <p:nvPr/>
          </p:nvGrpSpPr>
          <p:grpSpPr>
            <a:xfrm>
              <a:off x="4191000" y="5572125"/>
              <a:ext cx="1524000" cy="762000"/>
              <a:chOff x="4191000" y="5572125"/>
              <a:chExt cx="1524000" cy="762000"/>
            </a:xfrm>
          </p:grpSpPr>
          <p:sp>
            <p:nvSpPr>
              <p:cNvPr id="504" name="Google Shape;504;p36"/>
              <p:cNvSpPr/>
              <p:nvPr/>
            </p:nvSpPr>
            <p:spPr>
              <a:xfrm>
                <a:off x="41910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5" name="Google Shape;505;p36"/>
              <p:cNvSpPr txBox="1"/>
              <p:nvPr/>
            </p:nvSpPr>
            <p:spPr>
              <a:xfrm>
                <a:off x="4191000" y="5667375"/>
                <a:ext cx="1524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CBD5E1"/>
                    </a:solidFill>
                    <a:latin typeface="Urbanist"/>
                    <a:ea typeface="Urbanist"/>
                    <a:cs typeface="Urbanist"/>
                    <a:sym typeface="Urbanist"/>
                  </a:rPr>
                  <a:t>ROC-AUC</a:t>
                </a:r>
                <a:endParaRPr sz="1400" b="1">
                  <a:solidFill>
                    <a:srgbClr val="CBD5E1"/>
                  </a:solidFill>
                  <a:latin typeface="Urbanist"/>
                  <a:ea typeface="Urbanist"/>
                  <a:cs typeface="Urbanist"/>
                  <a:sym typeface="Urbanist"/>
                </a:endParaRPr>
              </a:p>
            </p:txBody>
          </p:sp>
          <p:sp>
            <p:nvSpPr>
              <p:cNvPr id="506" name="Google Shape;506;p36"/>
              <p:cNvSpPr txBox="1"/>
              <p:nvPr/>
            </p:nvSpPr>
            <p:spPr>
              <a:xfrm>
                <a:off x="4191000" y="5953125"/>
                <a:ext cx="1524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i="0">
                    <a:solidFill>
                      <a:srgbClr val="60A5FA"/>
                    </a:solidFill>
                    <a:latin typeface="Inter"/>
                    <a:ea typeface="Inter"/>
                    <a:cs typeface="Inter"/>
                    <a:sym typeface="Inter"/>
                  </a:rPr>
                  <a:t>0.7739</a:t>
                </a:r>
                <a:endParaRPr sz="2000" b="1" i="0">
                  <a:solidFill>
                    <a:srgbClr val="60A5FA"/>
                  </a:solidFill>
                  <a:latin typeface="Inter"/>
                  <a:ea typeface="Inter"/>
                  <a:cs typeface="Inter"/>
                  <a:sym typeface="Inter"/>
                </a:endParaRPr>
              </a:p>
            </p:txBody>
          </p:sp>
        </p:grpSp>
        <p:grpSp>
          <p:nvGrpSpPr>
            <p:cNvPr id="507" name="Google Shape;507;p36"/>
            <p:cNvGrpSpPr/>
            <p:nvPr/>
          </p:nvGrpSpPr>
          <p:grpSpPr>
            <a:xfrm>
              <a:off x="5905500" y="5572125"/>
              <a:ext cx="1524000" cy="762000"/>
              <a:chOff x="5905500" y="5572125"/>
              <a:chExt cx="1524000" cy="762000"/>
            </a:xfrm>
          </p:grpSpPr>
          <p:sp>
            <p:nvSpPr>
              <p:cNvPr id="508" name="Google Shape;508;p36"/>
              <p:cNvSpPr/>
              <p:nvPr/>
            </p:nvSpPr>
            <p:spPr>
              <a:xfrm>
                <a:off x="59055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9" name="Google Shape;509;p36"/>
              <p:cNvSpPr txBox="1"/>
              <p:nvPr/>
            </p:nvSpPr>
            <p:spPr>
              <a:xfrm>
                <a:off x="5905500" y="5667375"/>
                <a:ext cx="1524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CBD5E1"/>
                    </a:solidFill>
                    <a:latin typeface="Urbanist"/>
                    <a:ea typeface="Urbanist"/>
                    <a:cs typeface="Urbanist"/>
                    <a:sym typeface="Urbanist"/>
                  </a:rPr>
                  <a:t>PR-AUC</a:t>
                </a:r>
                <a:endParaRPr sz="1400" b="1">
                  <a:solidFill>
                    <a:srgbClr val="CBD5E1"/>
                  </a:solidFill>
                  <a:latin typeface="Urbanist"/>
                  <a:ea typeface="Urbanist"/>
                  <a:cs typeface="Urbanist"/>
                  <a:sym typeface="Urbanist"/>
                </a:endParaRPr>
              </a:p>
            </p:txBody>
          </p:sp>
          <p:sp>
            <p:nvSpPr>
              <p:cNvPr id="510" name="Google Shape;510;p36"/>
              <p:cNvSpPr txBox="1"/>
              <p:nvPr/>
            </p:nvSpPr>
            <p:spPr>
              <a:xfrm>
                <a:off x="5905500" y="5953125"/>
                <a:ext cx="1524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i="0">
                    <a:solidFill>
                      <a:srgbClr val="60A5FA"/>
                    </a:solidFill>
                    <a:latin typeface="Inter"/>
                    <a:ea typeface="Inter"/>
                    <a:cs typeface="Inter"/>
                    <a:sym typeface="Inter"/>
                  </a:rPr>
                  <a:t>0.4439</a:t>
                </a:r>
                <a:endParaRPr sz="2000" b="1" i="0">
                  <a:solidFill>
                    <a:srgbClr val="60A5FA"/>
                  </a:solidFill>
                  <a:latin typeface="Inter"/>
                  <a:ea typeface="Inter"/>
                  <a:cs typeface="Inter"/>
                  <a:sym typeface="Inter"/>
                </a:endParaRPr>
              </a:p>
            </p:txBody>
          </p:sp>
        </p:grpSp>
      </p:grpSp>
      <p:pic>
        <p:nvPicPr>
          <p:cNvPr id="511" name="Google Shape;511;p36" descr="A high-tech neural network visualization with medical data points and probability nodes glowing in neon blue. The style is a futuristic medical dashboard, clean and clinical, showing complex connections between layers."/>
          <p:cNvPicPr preferRelativeResize="0"/>
          <p:nvPr/>
        </p:nvPicPr>
        <p:blipFill rotWithShape="1">
          <a:blip r:embed="rId4">
            <a:alphaModFix/>
          </a:blip>
          <a:srcRect l="19712" r="19712"/>
          <a:stretch/>
        </p:blipFill>
        <p:spPr>
          <a:xfrm>
            <a:off x="7810500" y="1333500"/>
            <a:ext cx="4000500" cy="4953000"/>
          </a:xfrm>
          <a:prstGeom prst="roundRect">
            <a:avLst>
              <a:gd name="adj" fmla="val 4761"/>
            </a:avLst>
          </a:prstGeom>
          <a:noFill/>
          <a:ln>
            <a:noFill/>
          </a:ln>
        </p:spPr>
      </p:pic>
      <p:sp>
        <p:nvSpPr>
          <p:cNvPr id="512" name="Google Shape;512;p36"/>
          <p:cNvSpPr/>
          <p:nvPr/>
        </p:nvSpPr>
        <p:spPr>
          <a:xfrm>
            <a:off x="7810500" y="1333500"/>
            <a:ext cx="4000500" cy="4953000"/>
          </a:xfrm>
          <a:prstGeom prst="roundRect">
            <a:avLst>
              <a:gd name="adj" fmla="val 4761"/>
            </a:avLst>
          </a:prstGeom>
          <a:solidFill>
            <a:srgbClr val="000000">
              <a:alpha val="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16"/>
        <p:cNvGrpSpPr/>
        <p:nvPr/>
      </p:nvGrpSpPr>
      <p:grpSpPr>
        <a:xfrm>
          <a:off x="0" y="0"/>
          <a:ext cx="0" cy="0"/>
          <a:chOff x="0" y="0"/>
          <a:chExt cx="0" cy="0"/>
        </a:xfrm>
      </p:grpSpPr>
      <p:sp>
        <p:nvSpPr>
          <p:cNvPr id="517" name="Google Shape;517;p37"/>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8" name="Google Shape;518;p37"/>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MODEL 2</a:t>
            </a:r>
            <a:endParaRPr sz="3200" b="1">
              <a:solidFill>
                <a:srgbClr val="60A5FA"/>
              </a:solidFill>
              <a:latin typeface="Urbanist"/>
              <a:ea typeface="Urbanist"/>
              <a:cs typeface="Urbanist"/>
              <a:sym typeface="Urbanist"/>
            </a:endParaRPr>
          </a:p>
        </p:txBody>
      </p:sp>
      <p:grpSp>
        <p:nvGrpSpPr>
          <p:cNvPr id="519" name="Google Shape;519;p37"/>
          <p:cNvGrpSpPr/>
          <p:nvPr/>
        </p:nvGrpSpPr>
        <p:grpSpPr>
          <a:xfrm>
            <a:off x="571500" y="1333500"/>
            <a:ext cx="3429000" cy="2381400"/>
            <a:chOff x="571500" y="1333500"/>
            <a:chExt cx="3429000" cy="2381400"/>
          </a:xfrm>
        </p:grpSpPr>
        <p:sp>
          <p:nvSpPr>
            <p:cNvPr id="520" name="Google Shape;520;p37"/>
            <p:cNvSpPr/>
            <p:nvPr/>
          </p:nvSpPr>
          <p:spPr>
            <a:xfrm>
              <a:off x="571500" y="1333500"/>
              <a:ext cx="3429000" cy="2381400"/>
            </a:xfrm>
            <a:prstGeom prst="roundRect">
              <a:avLst>
                <a:gd name="adj" fmla="val 48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1" name="Google Shape;521;p37"/>
            <p:cNvSpPr txBox="1"/>
            <p:nvPr/>
          </p:nvSpPr>
          <p:spPr>
            <a:xfrm>
              <a:off x="762000" y="1635252"/>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b="0" dirty="0">
                <a:solidFill>
                  <a:srgbClr val="60A5FA"/>
                </a:solidFill>
                <a:latin typeface="Material Icons"/>
                <a:ea typeface="Material Icons"/>
                <a:cs typeface="Material Icons"/>
                <a:sym typeface="Material Icons"/>
              </a:endParaRPr>
            </a:p>
          </p:txBody>
        </p:sp>
        <p:sp>
          <p:nvSpPr>
            <p:cNvPr id="522" name="Google Shape;522;p37"/>
            <p:cNvSpPr txBox="1"/>
            <p:nvPr/>
          </p:nvSpPr>
          <p:spPr>
            <a:xfrm>
              <a:off x="1238250" y="1524000"/>
              <a:ext cx="2571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Mimari</a:t>
              </a:r>
              <a:endParaRPr sz="2000" b="1">
                <a:solidFill>
                  <a:srgbClr val="F8FAFC"/>
                </a:solidFill>
                <a:latin typeface="Urbanist"/>
                <a:ea typeface="Urbanist"/>
                <a:cs typeface="Urbanist"/>
                <a:sym typeface="Urbanist"/>
              </a:endParaRPr>
            </a:p>
          </p:txBody>
        </p:sp>
        <p:sp>
          <p:nvSpPr>
            <p:cNvPr id="523" name="Google Shape;523;p37"/>
            <p:cNvSpPr txBox="1"/>
            <p:nvPr/>
          </p:nvSpPr>
          <p:spPr>
            <a:xfrm>
              <a:off x="762000" y="2047875"/>
              <a:ext cx="3048000" cy="1476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0">
                  <a:solidFill>
                    <a:srgbClr val="F8FAFC"/>
                  </a:solidFill>
                  <a:latin typeface="Inter"/>
                  <a:ea typeface="Inter"/>
                  <a:cs typeface="Inter"/>
                  <a:sym typeface="Inter"/>
                </a:rPr>
                <a:t>• EfficientNetB0</a:t>
              </a:r>
              <a:endParaRPr sz="1300" b="0">
                <a:solidFill>
                  <a:srgbClr val="F8FAFC"/>
                </a:solidFill>
                <a:latin typeface="Inter"/>
                <a:ea typeface="Inter"/>
                <a:cs typeface="Inter"/>
                <a:sym typeface="Inter"/>
              </a:endParaRPr>
            </a:p>
            <a:p>
              <a:pPr marL="0" lvl="0" indent="0" algn="l" rtl="0">
                <a:spcBef>
                  <a:spcPts val="375"/>
                </a:spcBef>
                <a:spcAft>
                  <a:spcPts val="0"/>
                </a:spcAft>
                <a:buNone/>
              </a:pPr>
              <a:r>
                <a:rPr lang="en-US" sz="1300" b="0">
                  <a:solidFill>
                    <a:srgbClr val="F8FAFC"/>
                  </a:solidFill>
                  <a:latin typeface="Inter"/>
                  <a:ea typeface="Inter"/>
                  <a:cs typeface="Inter"/>
                  <a:sym typeface="Inter"/>
                </a:rPr>
                <a:t>• 256 Üniteli Dense + BN + Dropout</a:t>
              </a:r>
              <a:endParaRPr sz="1300" b="0">
                <a:solidFill>
                  <a:srgbClr val="F8FAFC"/>
                </a:solidFill>
                <a:latin typeface="Inter"/>
                <a:ea typeface="Inter"/>
                <a:cs typeface="Inter"/>
                <a:sym typeface="Inter"/>
              </a:endParaRPr>
            </a:p>
            <a:p>
              <a:pPr marL="0" lvl="0" indent="0" algn="l" rtl="0">
                <a:spcBef>
                  <a:spcPts val="375"/>
                </a:spcBef>
                <a:spcAft>
                  <a:spcPts val="0"/>
                </a:spcAft>
                <a:buNone/>
              </a:pPr>
              <a:r>
                <a:rPr lang="en-US" sz="1300" b="0">
                  <a:solidFill>
                    <a:srgbClr val="F8FAFC"/>
                  </a:solidFill>
                  <a:latin typeface="Inter"/>
                  <a:ea typeface="Inter"/>
                  <a:cs typeface="Inter"/>
                  <a:sym typeface="Inter"/>
                </a:rPr>
                <a:t>• Dropout: 0.35</a:t>
              </a:r>
              <a:endParaRPr sz="1300" b="0">
                <a:solidFill>
                  <a:srgbClr val="F8FAFC"/>
                </a:solidFill>
                <a:latin typeface="Inter"/>
                <a:ea typeface="Inter"/>
                <a:cs typeface="Inter"/>
                <a:sym typeface="Inter"/>
              </a:endParaRPr>
            </a:p>
            <a:p>
              <a:pPr marL="0" lvl="0" indent="0" algn="l" rtl="0">
                <a:spcBef>
                  <a:spcPts val="375"/>
                </a:spcBef>
                <a:spcAft>
                  <a:spcPts val="0"/>
                </a:spcAft>
                <a:buNone/>
              </a:pPr>
              <a:r>
                <a:rPr lang="en-US" sz="1300" b="0">
                  <a:solidFill>
                    <a:srgbClr val="F8FAFC"/>
                  </a:solidFill>
                  <a:latin typeface="Inter"/>
                  <a:ea typeface="Inter"/>
                  <a:cs typeface="Inter"/>
                  <a:sym typeface="Inter"/>
                </a:rPr>
                <a:t>• Aktivasyon: Sigmoid</a:t>
              </a:r>
              <a:endParaRPr sz="1300" b="0">
                <a:solidFill>
                  <a:srgbClr val="F8FAFC"/>
                </a:solidFill>
                <a:latin typeface="Inter"/>
                <a:ea typeface="Inter"/>
                <a:cs typeface="Inter"/>
                <a:sym typeface="Inter"/>
              </a:endParaRPr>
            </a:p>
            <a:p>
              <a:pPr marL="0" lvl="0" indent="0" algn="l" rtl="0">
                <a:spcBef>
                  <a:spcPts val="375"/>
                </a:spcBef>
                <a:spcAft>
                  <a:spcPts val="375"/>
                </a:spcAft>
                <a:buNone/>
              </a:pPr>
              <a:r>
                <a:rPr lang="en-US" sz="1300" b="0">
                  <a:solidFill>
                    <a:srgbClr val="F8FAFC"/>
                  </a:solidFill>
                  <a:latin typeface="Inter"/>
                  <a:ea typeface="Inter"/>
                  <a:cs typeface="Inter"/>
                  <a:sym typeface="Inter"/>
                </a:rPr>
                <a:t>• Batch Size: 32</a:t>
              </a:r>
              <a:endParaRPr sz="1300" b="0">
                <a:solidFill>
                  <a:srgbClr val="F8FAFC"/>
                </a:solidFill>
                <a:latin typeface="Inter"/>
                <a:ea typeface="Inter"/>
                <a:cs typeface="Inter"/>
                <a:sym typeface="Inter"/>
              </a:endParaRPr>
            </a:p>
          </p:txBody>
        </p:sp>
      </p:grpSp>
      <p:grpSp>
        <p:nvGrpSpPr>
          <p:cNvPr id="524" name="Google Shape;524;p37"/>
          <p:cNvGrpSpPr/>
          <p:nvPr/>
        </p:nvGrpSpPr>
        <p:grpSpPr>
          <a:xfrm>
            <a:off x="4191000" y="1333500"/>
            <a:ext cx="3429000" cy="2381400"/>
            <a:chOff x="4191000" y="1333500"/>
            <a:chExt cx="3429000" cy="2381400"/>
          </a:xfrm>
        </p:grpSpPr>
        <p:sp>
          <p:nvSpPr>
            <p:cNvPr id="525" name="Google Shape;525;p37"/>
            <p:cNvSpPr/>
            <p:nvPr/>
          </p:nvSpPr>
          <p:spPr>
            <a:xfrm>
              <a:off x="4191000" y="1333500"/>
              <a:ext cx="3429000" cy="2381400"/>
            </a:xfrm>
            <a:prstGeom prst="roundRect">
              <a:avLst>
                <a:gd name="adj" fmla="val 48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6" name="Google Shape;526;p37"/>
            <p:cNvSpPr txBox="1"/>
            <p:nvPr/>
          </p:nvSpPr>
          <p:spPr>
            <a:xfrm>
              <a:off x="4381500" y="1635252"/>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b="0" dirty="0">
                <a:solidFill>
                  <a:srgbClr val="60A5FA"/>
                </a:solidFill>
                <a:latin typeface="Material Icons"/>
                <a:ea typeface="Material Icons"/>
                <a:cs typeface="Material Icons"/>
                <a:sym typeface="Material Icons"/>
              </a:endParaRPr>
            </a:p>
          </p:txBody>
        </p:sp>
        <p:sp>
          <p:nvSpPr>
            <p:cNvPr id="527" name="Google Shape;527;p37"/>
            <p:cNvSpPr txBox="1"/>
            <p:nvPr/>
          </p:nvSpPr>
          <p:spPr>
            <a:xfrm>
              <a:off x="4857750" y="1524000"/>
              <a:ext cx="2571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Eğitim Süreci</a:t>
              </a:r>
              <a:endParaRPr sz="2000" b="1">
                <a:solidFill>
                  <a:srgbClr val="F8FAFC"/>
                </a:solidFill>
                <a:latin typeface="Urbanist"/>
                <a:ea typeface="Urbanist"/>
                <a:cs typeface="Urbanist"/>
                <a:sym typeface="Urbanist"/>
              </a:endParaRPr>
            </a:p>
          </p:txBody>
        </p:sp>
        <p:sp>
          <p:nvSpPr>
            <p:cNvPr id="528" name="Google Shape;528;p37"/>
            <p:cNvSpPr txBox="1"/>
            <p:nvPr/>
          </p:nvSpPr>
          <p:spPr>
            <a:xfrm>
              <a:off x="4381500" y="2047875"/>
              <a:ext cx="3048000" cy="1476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Aşama 1 (Klasik)</a:t>
              </a:r>
              <a:endParaRPr sz="1300" b="1">
                <a:solidFill>
                  <a:srgbClr val="60A5FA"/>
                </a:solidFill>
                <a:latin typeface="Inter"/>
                <a:ea typeface="Inter"/>
                <a:cs typeface="Inter"/>
                <a:sym typeface="Inter"/>
              </a:endParaRPr>
            </a:p>
            <a:p>
              <a:pPr marL="0" lvl="0" indent="0" algn="l" rtl="0">
                <a:spcBef>
                  <a:spcPts val="150"/>
                </a:spcBef>
                <a:spcAft>
                  <a:spcPts val="0"/>
                </a:spcAft>
                <a:buNone/>
              </a:pPr>
              <a:r>
                <a:rPr lang="en-US" sz="1100" b="0">
                  <a:solidFill>
                    <a:srgbClr val="CBD5E1"/>
                  </a:solidFill>
                  <a:latin typeface="Inter"/>
                  <a:ea typeface="Inter"/>
                  <a:cs typeface="Inter"/>
                  <a:sym typeface="Inter"/>
                </a:rPr>
                <a:t>LR: 0.0005 | 15 Epoch | Adam</a:t>
              </a:r>
              <a:endParaRPr sz="1100" b="0">
                <a:solidFill>
                  <a:srgbClr val="CBD5E1"/>
                </a:solidFill>
                <a:latin typeface="Inter"/>
                <a:ea typeface="Inter"/>
                <a:cs typeface="Inter"/>
                <a:sym typeface="Inter"/>
              </a:endParaRPr>
            </a:p>
            <a:p>
              <a:pPr marL="0" lvl="0" indent="0" algn="l" rtl="0">
                <a:spcBef>
                  <a:spcPts val="525"/>
                </a:spcBef>
                <a:spcAft>
                  <a:spcPts val="0"/>
                </a:spcAft>
                <a:buNone/>
              </a:pPr>
              <a:r>
                <a:rPr lang="en-US" sz="1300" b="1">
                  <a:solidFill>
                    <a:srgbClr val="60A5FA"/>
                  </a:solidFill>
                  <a:latin typeface="Inter"/>
                  <a:ea typeface="Inter"/>
                  <a:cs typeface="Inter"/>
                  <a:sym typeface="Inter"/>
                </a:rPr>
                <a:t>Aşama 2 (Fine-Tuning)</a:t>
              </a:r>
              <a:endParaRPr sz="1300" b="1">
                <a:solidFill>
                  <a:srgbClr val="60A5FA"/>
                </a:solidFill>
                <a:latin typeface="Inter"/>
                <a:ea typeface="Inter"/>
                <a:cs typeface="Inter"/>
                <a:sym typeface="Inter"/>
              </a:endParaRPr>
            </a:p>
            <a:p>
              <a:pPr marL="0" lvl="0" indent="0" algn="l" rtl="0">
                <a:spcBef>
                  <a:spcPts val="150"/>
                </a:spcBef>
                <a:spcAft>
                  <a:spcPts val="0"/>
                </a:spcAft>
                <a:buNone/>
              </a:pPr>
              <a:r>
                <a:rPr lang="en-US" sz="1100" b="0">
                  <a:solidFill>
                    <a:srgbClr val="CBD5E1"/>
                  </a:solidFill>
                  <a:latin typeface="Inter"/>
                  <a:ea typeface="Inter"/>
                  <a:cs typeface="Inter"/>
                  <a:sym typeface="Inter"/>
                </a:rPr>
                <a:t>Son 30 Katman Eğitilebilir | LR: 1e-5 | 30 Epoch</a:t>
              </a:r>
              <a:endParaRPr sz="1100" b="0">
                <a:solidFill>
                  <a:srgbClr val="CBD5E1"/>
                </a:solidFill>
                <a:latin typeface="Inter"/>
                <a:ea typeface="Inter"/>
                <a:cs typeface="Inter"/>
                <a:sym typeface="Inter"/>
              </a:endParaRPr>
            </a:p>
          </p:txBody>
        </p:sp>
      </p:grpSp>
      <p:grpSp>
        <p:nvGrpSpPr>
          <p:cNvPr id="529" name="Google Shape;529;p37"/>
          <p:cNvGrpSpPr/>
          <p:nvPr/>
        </p:nvGrpSpPr>
        <p:grpSpPr>
          <a:xfrm>
            <a:off x="571500" y="3810000"/>
            <a:ext cx="7048500" cy="1095300"/>
            <a:chOff x="571500" y="3810000"/>
            <a:chExt cx="7048500" cy="1095300"/>
          </a:xfrm>
        </p:grpSpPr>
        <p:sp>
          <p:nvSpPr>
            <p:cNvPr id="530" name="Google Shape;530;p37"/>
            <p:cNvSpPr/>
            <p:nvPr/>
          </p:nvSpPr>
          <p:spPr>
            <a:xfrm>
              <a:off x="571500" y="3810000"/>
              <a:ext cx="7048500" cy="1095300"/>
            </a:xfrm>
            <a:prstGeom prst="roundRect">
              <a:avLst>
                <a:gd name="adj" fmla="val 10434"/>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1" name="Google Shape;531;p37"/>
            <p:cNvSpPr txBox="1"/>
            <p:nvPr/>
          </p:nvSpPr>
          <p:spPr>
            <a:xfrm>
              <a:off x="762000" y="4187952"/>
              <a:ext cx="4764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b="0" dirty="0">
                <a:solidFill>
                  <a:srgbClr val="60A5FA"/>
                </a:solidFill>
                <a:latin typeface="Material Icons"/>
                <a:ea typeface="Material Icons"/>
                <a:cs typeface="Material Icons"/>
                <a:sym typeface="Material Icons"/>
              </a:endParaRPr>
            </a:p>
          </p:txBody>
        </p:sp>
        <p:sp>
          <p:nvSpPr>
            <p:cNvPr id="532" name="Google Shape;532;p37"/>
            <p:cNvSpPr txBox="1"/>
            <p:nvPr/>
          </p:nvSpPr>
          <p:spPr>
            <a:xfrm>
              <a:off x="1333500" y="3952875"/>
              <a:ext cx="60960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Threshold Stratejisi</a:t>
              </a:r>
              <a:endParaRPr sz="2000" b="1">
                <a:solidFill>
                  <a:srgbClr val="F8FAFC"/>
                </a:solidFill>
                <a:latin typeface="Urbanist"/>
                <a:ea typeface="Urbanist"/>
                <a:cs typeface="Urbanist"/>
                <a:sym typeface="Urbanist"/>
              </a:endParaRPr>
            </a:p>
            <a:p>
              <a:pPr marL="0" lvl="0" indent="0" algn="l" rtl="0">
                <a:spcBef>
                  <a:spcPts val="0"/>
                </a:spcBef>
                <a:spcAft>
                  <a:spcPts val="0"/>
                </a:spcAft>
                <a:buNone/>
              </a:pPr>
              <a:r>
                <a:rPr lang="en-US" sz="1100" b="0">
                  <a:solidFill>
                    <a:srgbClr val="CBD5E1"/>
                  </a:solidFill>
                  <a:latin typeface="Inter"/>
                  <a:ea typeface="Inter"/>
                  <a:cs typeface="Inter"/>
                  <a:sym typeface="Inter"/>
                </a:rPr>
                <a:t>Validasyon setine göre optimize edilmiş el ile ayarlanmış özel eşikler</a:t>
              </a:r>
              <a:endParaRPr sz="1100" b="0">
                <a:solidFill>
                  <a:srgbClr val="CBD5E1"/>
                </a:solidFill>
                <a:latin typeface="Inter"/>
                <a:ea typeface="Inter"/>
                <a:cs typeface="Inter"/>
                <a:sym typeface="Inter"/>
              </a:endParaRPr>
            </a:p>
          </p:txBody>
        </p:sp>
      </p:grpSp>
      <p:grpSp>
        <p:nvGrpSpPr>
          <p:cNvPr id="533" name="Google Shape;533;p37"/>
          <p:cNvGrpSpPr/>
          <p:nvPr/>
        </p:nvGrpSpPr>
        <p:grpSpPr>
          <a:xfrm>
            <a:off x="571500" y="5048250"/>
            <a:ext cx="7048500" cy="1428900"/>
            <a:chOff x="571500" y="5048250"/>
            <a:chExt cx="7048500" cy="1428900"/>
          </a:xfrm>
        </p:grpSpPr>
        <p:sp>
          <p:nvSpPr>
            <p:cNvPr id="534" name="Google Shape;534;p37"/>
            <p:cNvSpPr/>
            <p:nvPr/>
          </p:nvSpPr>
          <p:spPr>
            <a:xfrm>
              <a:off x="571500" y="5048250"/>
              <a:ext cx="7048500" cy="1428900"/>
            </a:xfrm>
            <a:prstGeom prst="roundRect">
              <a:avLst>
                <a:gd name="adj" fmla="val 8000"/>
              </a:avLst>
            </a:prstGeom>
            <a:solidFill>
              <a:srgbClr val="1E293B">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5" name="Google Shape;535;p37"/>
            <p:cNvSpPr txBox="1"/>
            <p:nvPr/>
          </p:nvSpPr>
          <p:spPr>
            <a:xfrm>
              <a:off x="762000" y="5191125"/>
              <a:ext cx="1905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CBD5E1"/>
                  </a:solidFill>
                  <a:latin typeface="Urbanist"/>
                  <a:ea typeface="Urbanist"/>
                  <a:cs typeface="Urbanist"/>
                  <a:sym typeface="Urbanist"/>
                </a:rPr>
                <a:t>Performans Özeti</a:t>
              </a:r>
              <a:endParaRPr sz="1400" b="1">
                <a:solidFill>
                  <a:srgbClr val="CBD5E1"/>
                </a:solidFill>
                <a:latin typeface="Urbanist"/>
                <a:ea typeface="Urbanist"/>
                <a:cs typeface="Urbanist"/>
                <a:sym typeface="Urbanist"/>
              </a:endParaRPr>
            </a:p>
          </p:txBody>
        </p:sp>
        <p:grpSp>
          <p:nvGrpSpPr>
            <p:cNvPr id="536" name="Google Shape;536;p37"/>
            <p:cNvGrpSpPr/>
            <p:nvPr/>
          </p:nvGrpSpPr>
          <p:grpSpPr>
            <a:xfrm>
              <a:off x="762000" y="5572125"/>
              <a:ext cx="1524000" cy="762000"/>
              <a:chOff x="762000" y="5572125"/>
              <a:chExt cx="1524000" cy="762000"/>
            </a:xfrm>
          </p:grpSpPr>
          <p:sp>
            <p:nvSpPr>
              <p:cNvPr id="537" name="Google Shape;537;p37"/>
              <p:cNvSpPr/>
              <p:nvPr/>
            </p:nvSpPr>
            <p:spPr>
              <a:xfrm>
                <a:off x="7620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8" name="Google Shape;538;p37"/>
              <p:cNvSpPr txBox="1"/>
              <p:nvPr/>
            </p:nvSpPr>
            <p:spPr>
              <a:xfrm>
                <a:off x="762000" y="5667375"/>
                <a:ext cx="1524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CBD5E1"/>
                    </a:solidFill>
                    <a:latin typeface="Urbanist"/>
                    <a:ea typeface="Urbanist"/>
                    <a:cs typeface="Urbanist"/>
                    <a:sym typeface="Urbanist"/>
                  </a:rPr>
                  <a:t>Macro F1</a:t>
                </a:r>
                <a:endParaRPr sz="1400" b="1">
                  <a:solidFill>
                    <a:srgbClr val="CBD5E1"/>
                  </a:solidFill>
                  <a:latin typeface="Urbanist"/>
                  <a:ea typeface="Urbanist"/>
                  <a:cs typeface="Urbanist"/>
                  <a:sym typeface="Urbanist"/>
                </a:endParaRPr>
              </a:p>
            </p:txBody>
          </p:sp>
          <p:sp>
            <p:nvSpPr>
              <p:cNvPr id="539" name="Google Shape;539;p37"/>
              <p:cNvSpPr txBox="1"/>
              <p:nvPr/>
            </p:nvSpPr>
            <p:spPr>
              <a:xfrm>
                <a:off x="762000" y="5953125"/>
                <a:ext cx="1524000" cy="33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a:solidFill>
                      <a:srgbClr val="60A5FA"/>
                    </a:solidFill>
                    <a:latin typeface="Inter"/>
                    <a:ea typeface="Inter"/>
                    <a:cs typeface="Inter"/>
                    <a:sym typeface="Inter"/>
                  </a:rPr>
                  <a:t>0.4449</a:t>
                </a:r>
                <a:endParaRPr sz="2000" b="1">
                  <a:solidFill>
                    <a:srgbClr val="60A5FA"/>
                  </a:solidFill>
                  <a:latin typeface="Inter"/>
                  <a:ea typeface="Inter"/>
                  <a:cs typeface="Inter"/>
                  <a:sym typeface="Inter"/>
                </a:endParaRPr>
              </a:p>
            </p:txBody>
          </p:sp>
        </p:grpSp>
        <p:grpSp>
          <p:nvGrpSpPr>
            <p:cNvPr id="540" name="Google Shape;540;p37"/>
            <p:cNvGrpSpPr/>
            <p:nvPr/>
          </p:nvGrpSpPr>
          <p:grpSpPr>
            <a:xfrm>
              <a:off x="2476500" y="5572125"/>
              <a:ext cx="1524000" cy="762000"/>
              <a:chOff x="2476500" y="5572125"/>
              <a:chExt cx="1524000" cy="762000"/>
            </a:xfrm>
          </p:grpSpPr>
          <p:sp>
            <p:nvSpPr>
              <p:cNvPr id="541" name="Google Shape;541;p37"/>
              <p:cNvSpPr/>
              <p:nvPr/>
            </p:nvSpPr>
            <p:spPr>
              <a:xfrm>
                <a:off x="24765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2" name="Google Shape;542;p37"/>
              <p:cNvSpPr txBox="1"/>
              <p:nvPr/>
            </p:nvSpPr>
            <p:spPr>
              <a:xfrm>
                <a:off x="2476500" y="5667375"/>
                <a:ext cx="1524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CBD5E1"/>
                    </a:solidFill>
                    <a:latin typeface="Urbanist"/>
                    <a:ea typeface="Urbanist"/>
                    <a:cs typeface="Urbanist"/>
                    <a:sym typeface="Urbanist"/>
                  </a:rPr>
                  <a:t>Recall</a:t>
                </a:r>
                <a:endParaRPr sz="1400" b="1">
                  <a:solidFill>
                    <a:srgbClr val="CBD5E1"/>
                  </a:solidFill>
                  <a:latin typeface="Urbanist"/>
                  <a:ea typeface="Urbanist"/>
                  <a:cs typeface="Urbanist"/>
                  <a:sym typeface="Urbanist"/>
                </a:endParaRPr>
              </a:p>
            </p:txBody>
          </p:sp>
          <p:sp>
            <p:nvSpPr>
              <p:cNvPr id="543" name="Google Shape;543;p37"/>
              <p:cNvSpPr txBox="1"/>
              <p:nvPr/>
            </p:nvSpPr>
            <p:spPr>
              <a:xfrm>
                <a:off x="2476500" y="5953125"/>
                <a:ext cx="1524000" cy="33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a:solidFill>
                      <a:srgbClr val="60A5FA"/>
                    </a:solidFill>
                    <a:latin typeface="Inter"/>
                    <a:ea typeface="Inter"/>
                    <a:cs typeface="Inter"/>
                    <a:sym typeface="Inter"/>
                  </a:rPr>
                  <a:t>0.5568</a:t>
                </a:r>
                <a:endParaRPr sz="2000" b="1">
                  <a:solidFill>
                    <a:srgbClr val="60A5FA"/>
                  </a:solidFill>
                  <a:latin typeface="Inter"/>
                  <a:ea typeface="Inter"/>
                  <a:cs typeface="Inter"/>
                  <a:sym typeface="Inter"/>
                </a:endParaRPr>
              </a:p>
            </p:txBody>
          </p:sp>
        </p:grpSp>
        <p:grpSp>
          <p:nvGrpSpPr>
            <p:cNvPr id="544" name="Google Shape;544;p37"/>
            <p:cNvGrpSpPr/>
            <p:nvPr/>
          </p:nvGrpSpPr>
          <p:grpSpPr>
            <a:xfrm>
              <a:off x="4191000" y="5572125"/>
              <a:ext cx="1524000" cy="762000"/>
              <a:chOff x="4191000" y="5572125"/>
              <a:chExt cx="1524000" cy="762000"/>
            </a:xfrm>
          </p:grpSpPr>
          <p:sp>
            <p:nvSpPr>
              <p:cNvPr id="545" name="Google Shape;545;p37"/>
              <p:cNvSpPr/>
              <p:nvPr/>
            </p:nvSpPr>
            <p:spPr>
              <a:xfrm>
                <a:off x="41910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6" name="Google Shape;546;p37"/>
              <p:cNvSpPr txBox="1"/>
              <p:nvPr/>
            </p:nvSpPr>
            <p:spPr>
              <a:xfrm>
                <a:off x="4191000" y="5667375"/>
                <a:ext cx="1524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CBD5E1"/>
                    </a:solidFill>
                    <a:latin typeface="Urbanist"/>
                    <a:ea typeface="Urbanist"/>
                    <a:cs typeface="Urbanist"/>
                    <a:sym typeface="Urbanist"/>
                  </a:rPr>
                  <a:t>ROC-AUC</a:t>
                </a:r>
                <a:endParaRPr sz="1400" b="1">
                  <a:solidFill>
                    <a:srgbClr val="CBD5E1"/>
                  </a:solidFill>
                  <a:latin typeface="Urbanist"/>
                  <a:ea typeface="Urbanist"/>
                  <a:cs typeface="Urbanist"/>
                  <a:sym typeface="Urbanist"/>
                </a:endParaRPr>
              </a:p>
            </p:txBody>
          </p:sp>
          <p:sp>
            <p:nvSpPr>
              <p:cNvPr id="547" name="Google Shape;547;p37"/>
              <p:cNvSpPr txBox="1"/>
              <p:nvPr/>
            </p:nvSpPr>
            <p:spPr>
              <a:xfrm>
                <a:off x="4191000" y="5953125"/>
                <a:ext cx="1524000" cy="33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a:solidFill>
                      <a:srgbClr val="60A5FA"/>
                    </a:solidFill>
                    <a:latin typeface="Inter"/>
                    <a:ea typeface="Inter"/>
                    <a:cs typeface="Inter"/>
                    <a:sym typeface="Inter"/>
                  </a:rPr>
                  <a:t>0.7877</a:t>
                </a:r>
                <a:endParaRPr sz="2000" b="1">
                  <a:solidFill>
                    <a:srgbClr val="60A5FA"/>
                  </a:solidFill>
                  <a:latin typeface="Inter"/>
                  <a:ea typeface="Inter"/>
                  <a:cs typeface="Inter"/>
                  <a:sym typeface="Inter"/>
                </a:endParaRPr>
              </a:p>
            </p:txBody>
          </p:sp>
        </p:grpSp>
        <p:grpSp>
          <p:nvGrpSpPr>
            <p:cNvPr id="548" name="Google Shape;548;p37"/>
            <p:cNvGrpSpPr/>
            <p:nvPr/>
          </p:nvGrpSpPr>
          <p:grpSpPr>
            <a:xfrm>
              <a:off x="5905500" y="5572125"/>
              <a:ext cx="1524000" cy="762000"/>
              <a:chOff x="5905500" y="5572125"/>
              <a:chExt cx="1524000" cy="762000"/>
            </a:xfrm>
          </p:grpSpPr>
          <p:sp>
            <p:nvSpPr>
              <p:cNvPr id="549" name="Google Shape;549;p37"/>
              <p:cNvSpPr/>
              <p:nvPr/>
            </p:nvSpPr>
            <p:spPr>
              <a:xfrm>
                <a:off x="59055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0" name="Google Shape;550;p37"/>
              <p:cNvSpPr txBox="1"/>
              <p:nvPr/>
            </p:nvSpPr>
            <p:spPr>
              <a:xfrm>
                <a:off x="5905500" y="5667375"/>
                <a:ext cx="1524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CBD5E1"/>
                    </a:solidFill>
                    <a:latin typeface="Urbanist"/>
                    <a:ea typeface="Urbanist"/>
                    <a:cs typeface="Urbanist"/>
                    <a:sym typeface="Urbanist"/>
                  </a:rPr>
                  <a:t>PR-AUC</a:t>
                </a:r>
                <a:endParaRPr sz="1400" b="1">
                  <a:solidFill>
                    <a:srgbClr val="CBD5E1"/>
                  </a:solidFill>
                  <a:latin typeface="Urbanist"/>
                  <a:ea typeface="Urbanist"/>
                  <a:cs typeface="Urbanist"/>
                  <a:sym typeface="Urbanist"/>
                </a:endParaRPr>
              </a:p>
            </p:txBody>
          </p:sp>
          <p:sp>
            <p:nvSpPr>
              <p:cNvPr id="551" name="Google Shape;551;p37"/>
              <p:cNvSpPr txBox="1"/>
              <p:nvPr/>
            </p:nvSpPr>
            <p:spPr>
              <a:xfrm>
                <a:off x="5905500" y="5953125"/>
                <a:ext cx="1524000" cy="33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a:solidFill>
                      <a:srgbClr val="60A5FA"/>
                    </a:solidFill>
                    <a:latin typeface="Inter"/>
                    <a:ea typeface="Inter"/>
                    <a:cs typeface="Inter"/>
                    <a:sym typeface="Inter"/>
                  </a:rPr>
                  <a:t>0.4546</a:t>
                </a:r>
                <a:endParaRPr sz="2000" b="1">
                  <a:solidFill>
                    <a:srgbClr val="60A5FA"/>
                  </a:solidFill>
                  <a:latin typeface="Inter"/>
                  <a:ea typeface="Inter"/>
                  <a:cs typeface="Inter"/>
                  <a:sym typeface="Inter"/>
                </a:endParaRPr>
              </a:p>
            </p:txBody>
          </p:sp>
        </p:grpSp>
      </p:grpSp>
      <p:pic>
        <p:nvPicPr>
          <p:cNvPr id="552" name="Google Shape;552;p37" descr="A high-tech neural network visualization with medical data points and probability nodes glowing in neon blue. Futuristic medical dashboard style, showing complex connections."/>
          <p:cNvPicPr preferRelativeResize="0"/>
          <p:nvPr/>
        </p:nvPicPr>
        <p:blipFill rotWithShape="1">
          <a:blip r:embed="rId4">
            <a:alphaModFix/>
          </a:blip>
          <a:srcRect l="19712" r="19712"/>
          <a:stretch/>
        </p:blipFill>
        <p:spPr>
          <a:xfrm>
            <a:off x="7810500" y="1333500"/>
            <a:ext cx="4000500" cy="4953000"/>
          </a:xfrm>
          <a:prstGeom prst="roundRect">
            <a:avLst>
              <a:gd name="adj" fmla="val 4761"/>
            </a:avLst>
          </a:prstGeom>
          <a:noFill/>
          <a:ln>
            <a:noFill/>
          </a:ln>
        </p:spPr>
      </p:pic>
      <p:sp>
        <p:nvSpPr>
          <p:cNvPr id="553" name="Google Shape;553;p37"/>
          <p:cNvSpPr/>
          <p:nvPr/>
        </p:nvSpPr>
        <p:spPr>
          <a:xfrm>
            <a:off x="7810500" y="1333500"/>
            <a:ext cx="4000500" cy="4953000"/>
          </a:xfrm>
          <a:prstGeom prst="roundRect">
            <a:avLst>
              <a:gd name="adj" fmla="val 4761"/>
            </a:avLst>
          </a:prstGeom>
          <a:solidFill>
            <a:srgbClr val="000000">
              <a:alpha val="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57"/>
        <p:cNvGrpSpPr/>
        <p:nvPr/>
      </p:nvGrpSpPr>
      <p:grpSpPr>
        <a:xfrm>
          <a:off x="0" y="0"/>
          <a:ext cx="0" cy="0"/>
          <a:chOff x="0" y="0"/>
          <a:chExt cx="0" cy="0"/>
        </a:xfrm>
      </p:grpSpPr>
      <p:sp>
        <p:nvSpPr>
          <p:cNvPr id="558" name="Google Shape;558;p38"/>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9" name="Google Shape;559;p38"/>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Learning Rate Değişiminin Performansa Etkisi</a:t>
            </a:r>
            <a:endParaRPr sz="3200" b="1">
              <a:solidFill>
                <a:srgbClr val="60A5FA"/>
              </a:solidFill>
              <a:latin typeface="Urbanist"/>
              <a:ea typeface="Urbanist"/>
              <a:cs typeface="Urbanist"/>
              <a:sym typeface="Urbanist"/>
            </a:endParaRPr>
          </a:p>
        </p:txBody>
      </p:sp>
      <p:grpSp>
        <p:nvGrpSpPr>
          <p:cNvPr id="560" name="Google Shape;560;p38"/>
          <p:cNvGrpSpPr/>
          <p:nvPr/>
        </p:nvGrpSpPr>
        <p:grpSpPr>
          <a:xfrm>
            <a:off x="571500" y="1333500"/>
            <a:ext cx="7048500" cy="1905000"/>
            <a:chOff x="571500" y="1333500"/>
            <a:chExt cx="7048500" cy="1905000"/>
          </a:xfrm>
        </p:grpSpPr>
        <p:sp>
          <p:nvSpPr>
            <p:cNvPr id="561" name="Google Shape;561;p38"/>
            <p:cNvSpPr/>
            <p:nvPr/>
          </p:nvSpPr>
          <p:spPr>
            <a:xfrm>
              <a:off x="571500" y="1333500"/>
              <a:ext cx="7048500" cy="1905000"/>
            </a:xfrm>
            <a:prstGeom prst="roundRect">
              <a:avLst>
                <a:gd name="adj" fmla="val 6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2" name="Google Shape;562;p38"/>
            <p:cNvSpPr txBox="1"/>
            <p:nvPr/>
          </p:nvSpPr>
          <p:spPr>
            <a:xfrm>
              <a:off x="762000" y="1511427"/>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563" name="Google Shape;563;p38"/>
            <p:cNvSpPr txBox="1"/>
            <p:nvPr/>
          </p:nvSpPr>
          <p:spPr>
            <a:xfrm>
              <a:off x="1238250" y="1476375"/>
              <a:ext cx="6191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Model 1 vs Model 2 Karşılaştırması</a:t>
              </a:r>
              <a:endParaRPr sz="2000" b="1">
                <a:solidFill>
                  <a:srgbClr val="F8FAFC"/>
                </a:solidFill>
                <a:latin typeface="Urbanist"/>
                <a:ea typeface="Urbanist"/>
                <a:cs typeface="Urbanist"/>
                <a:sym typeface="Urbanist"/>
              </a:endParaRPr>
            </a:p>
          </p:txBody>
        </p:sp>
        <p:sp>
          <p:nvSpPr>
            <p:cNvPr id="564" name="Google Shape;564;p38"/>
            <p:cNvSpPr txBox="1"/>
            <p:nvPr/>
          </p:nvSpPr>
          <p:spPr>
            <a:xfrm>
              <a:off x="762000" y="2000250"/>
              <a:ext cx="6667500" cy="10479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110" b="0">
                  <a:solidFill>
                    <a:srgbClr val="CBD5E1"/>
                  </a:solidFill>
                  <a:latin typeface="Inter"/>
                  <a:ea typeface="Inter"/>
                  <a:cs typeface="Inter"/>
                  <a:sym typeface="Inter"/>
                </a:rPr>
                <a:t>Model 1'de 0.001 olan başlangıç LR değeri, Model 2'de 0.0005'e düşürülmüştür. Bu daha hassas öğrenme adımı, özellikle sınıflandırma kararlılığında (Macro F1 ve Recall) belirgin iyileşme sağlamıştır.</a:t>
              </a:r>
              <a:endParaRPr sz="1110" b="0">
                <a:solidFill>
                  <a:srgbClr val="CBD5E1"/>
                </a:solidFill>
                <a:latin typeface="Inter"/>
                <a:ea typeface="Inter"/>
                <a:cs typeface="Inter"/>
                <a:sym typeface="Inter"/>
              </a:endParaRPr>
            </a:p>
          </p:txBody>
        </p:sp>
      </p:grpSp>
      <p:grpSp>
        <p:nvGrpSpPr>
          <p:cNvPr id="565" name="Google Shape;565;p38"/>
          <p:cNvGrpSpPr/>
          <p:nvPr/>
        </p:nvGrpSpPr>
        <p:grpSpPr>
          <a:xfrm>
            <a:off x="571500" y="3429000"/>
            <a:ext cx="3429000" cy="2857500"/>
            <a:chOff x="571500" y="3429000"/>
            <a:chExt cx="3429000" cy="2857500"/>
          </a:xfrm>
        </p:grpSpPr>
        <p:sp>
          <p:nvSpPr>
            <p:cNvPr id="566" name="Google Shape;566;p38"/>
            <p:cNvSpPr/>
            <p:nvPr/>
          </p:nvSpPr>
          <p:spPr>
            <a:xfrm>
              <a:off x="571500" y="3429000"/>
              <a:ext cx="3429000" cy="2857500"/>
            </a:xfrm>
            <a:prstGeom prst="roundRect">
              <a:avLst>
                <a:gd name="adj" fmla="val 4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7" name="Google Shape;567;p38"/>
            <p:cNvSpPr txBox="1"/>
            <p:nvPr/>
          </p:nvSpPr>
          <p:spPr>
            <a:xfrm>
              <a:off x="762000" y="3619500"/>
              <a:ext cx="3048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a:solidFill>
                    <a:srgbClr val="F8FAFC"/>
                  </a:solidFill>
                  <a:latin typeface="Urbanist"/>
                  <a:ea typeface="Urbanist"/>
                  <a:cs typeface="Urbanist"/>
                  <a:sym typeface="Urbanist"/>
                </a:rPr>
                <a:t>Macro F1 Gelişimi</a:t>
              </a:r>
              <a:endParaRPr sz="2000" b="1">
                <a:solidFill>
                  <a:srgbClr val="F8FAFC"/>
                </a:solidFill>
                <a:latin typeface="Urbanist"/>
                <a:ea typeface="Urbanist"/>
                <a:cs typeface="Urbanist"/>
                <a:sym typeface="Urbanist"/>
              </a:endParaRPr>
            </a:p>
          </p:txBody>
        </p:sp>
        <p:sp>
          <p:nvSpPr>
            <p:cNvPr id="568" name="Google Shape;568;p38"/>
            <p:cNvSpPr/>
            <p:nvPr/>
          </p:nvSpPr>
          <p:spPr>
            <a:xfrm>
              <a:off x="1714500" y="4286250"/>
              <a:ext cx="1143000" cy="1143000"/>
            </a:xfrm>
            <a:prstGeom prst="ellipse">
              <a:avLst/>
            </a:prstGeom>
            <a:solidFill>
              <a:srgbClr val="000000">
                <a:alpha val="0"/>
              </a:srgbClr>
            </a:solidFill>
            <a:ln w="76200"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569" name="Google Shape;569;p38"/>
            <p:cNvPicPr preferRelativeResize="0"/>
            <p:nvPr/>
          </p:nvPicPr>
          <p:blipFill rotWithShape="1">
            <a:blip r:embed="rId4">
              <a:alphaModFix/>
            </a:blip>
            <a:srcRect/>
            <a:stretch/>
          </p:blipFill>
          <p:spPr>
            <a:xfrm>
              <a:off x="2286000" y="4248150"/>
              <a:ext cx="609600" cy="1185900"/>
            </a:xfrm>
            <a:prstGeom prst="rect">
              <a:avLst/>
            </a:prstGeom>
            <a:noFill/>
            <a:ln>
              <a:noFill/>
            </a:ln>
          </p:spPr>
        </p:pic>
        <p:sp>
          <p:nvSpPr>
            <p:cNvPr id="570" name="Google Shape;570;p38"/>
            <p:cNvSpPr txBox="1"/>
            <p:nvPr/>
          </p:nvSpPr>
          <p:spPr>
            <a:xfrm>
              <a:off x="1714500" y="4667250"/>
              <a:ext cx="1143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400" b="1">
                  <a:solidFill>
                    <a:srgbClr val="60A5FA"/>
                  </a:solidFill>
                  <a:latin typeface="Inter"/>
                  <a:ea typeface="Inter"/>
                  <a:cs typeface="Inter"/>
                  <a:sym typeface="Inter"/>
                </a:rPr>
                <a:t>+%13.7</a:t>
              </a:r>
              <a:endParaRPr sz="2400" b="1">
                <a:solidFill>
                  <a:srgbClr val="60A5FA"/>
                </a:solidFill>
                <a:latin typeface="Inter"/>
                <a:ea typeface="Inter"/>
                <a:cs typeface="Inter"/>
                <a:sym typeface="Inter"/>
              </a:endParaRPr>
            </a:p>
          </p:txBody>
        </p:sp>
        <p:sp>
          <p:nvSpPr>
            <p:cNvPr id="571" name="Google Shape;571;p38"/>
            <p:cNvSpPr txBox="1"/>
            <p:nvPr/>
          </p:nvSpPr>
          <p:spPr>
            <a:xfrm>
              <a:off x="762000" y="5619750"/>
              <a:ext cx="3048000" cy="476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110" b="0">
                  <a:solidFill>
                    <a:srgbClr val="CBD5E1"/>
                  </a:solidFill>
                  <a:latin typeface="Inter"/>
                  <a:ea typeface="Inter"/>
                  <a:cs typeface="Inter"/>
                  <a:sym typeface="Inter"/>
                </a:rPr>
                <a:t>0.3912 → 0.4449</a:t>
              </a:r>
              <a:endParaRPr sz="1110" b="0">
                <a:solidFill>
                  <a:srgbClr val="CBD5E1"/>
                </a:solidFill>
                <a:latin typeface="Inter"/>
                <a:ea typeface="Inter"/>
                <a:cs typeface="Inter"/>
                <a:sym typeface="Inter"/>
              </a:endParaRPr>
            </a:p>
            <a:p>
              <a:pPr marL="0" lvl="0" indent="0" algn="ctr" rtl="0">
                <a:spcBef>
                  <a:spcPts val="0"/>
                </a:spcBef>
                <a:spcAft>
                  <a:spcPts val="0"/>
                </a:spcAft>
                <a:buNone/>
              </a:pPr>
              <a:r>
                <a:rPr lang="en-US" sz="925" b="0">
                  <a:solidFill>
                    <a:srgbClr val="94A3B8"/>
                  </a:solidFill>
                  <a:latin typeface="Inter"/>
                  <a:ea typeface="Inter"/>
                  <a:cs typeface="Inter"/>
                  <a:sym typeface="Inter"/>
                </a:rPr>
                <a:t>Daha düşük LR, kesinlik ve duyarlılık dengesini artırdı.</a:t>
              </a:r>
              <a:endParaRPr sz="925" b="0">
                <a:solidFill>
                  <a:srgbClr val="94A3B8"/>
                </a:solidFill>
                <a:latin typeface="Inter"/>
                <a:ea typeface="Inter"/>
                <a:cs typeface="Inter"/>
                <a:sym typeface="Inter"/>
              </a:endParaRPr>
            </a:p>
          </p:txBody>
        </p:sp>
      </p:grpSp>
      <p:grpSp>
        <p:nvGrpSpPr>
          <p:cNvPr id="572" name="Google Shape;572;p38"/>
          <p:cNvGrpSpPr/>
          <p:nvPr/>
        </p:nvGrpSpPr>
        <p:grpSpPr>
          <a:xfrm>
            <a:off x="4191000" y="3429000"/>
            <a:ext cx="3429000" cy="2857500"/>
            <a:chOff x="4191000" y="3429000"/>
            <a:chExt cx="3429000" cy="2857500"/>
          </a:xfrm>
        </p:grpSpPr>
        <p:sp>
          <p:nvSpPr>
            <p:cNvPr id="573" name="Google Shape;573;p38"/>
            <p:cNvSpPr/>
            <p:nvPr/>
          </p:nvSpPr>
          <p:spPr>
            <a:xfrm>
              <a:off x="4191000" y="3429000"/>
              <a:ext cx="3429000" cy="2857500"/>
            </a:xfrm>
            <a:prstGeom prst="roundRect">
              <a:avLst>
                <a:gd name="adj" fmla="val 4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4" name="Google Shape;574;p38"/>
            <p:cNvSpPr txBox="1"/>
            <p:nvPr/>
          </p:nvSpPr>
          <p:spPr>
            <a:xfrm>
              <a:off x="4381500" y="3619500"/>
              <a:ext cx="3048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a:solidFill>
                    <a:srgbClr val="F8FAFC"/>
                  </a:solidFill>
                  <a:latin typeface="Urbanist"/>
                  <a:ea typeface="Urbanist"/>
                  <a:cs typeface="Urbanist"/>
                  <a:sym typeface="Urbanist"/>
                </a:rPr>
                <a:t>Recall Gelişimi</a:t>
              </a:r>
              <a:endParaRPr sz="2000" b="1">
                <a:solidFill>
                  <a:srgbClr val="F8FAFC"/>
                </a:solidFill>
                <a:latin typeface="Urbanist"/>
                <a:ea typeface="Urbanist"/>
                <a:cs typeface="Urbanist"/>
                <a:sym typeface="Urbanist"/>
              </a:endParaRPr>
            </a:p>
          </p:txBody>
        </p:sp>
        <p:sp>
          <p:nvSpPr>
            <p:cNvPr id="575" name="Google Shape;575;p38"/>
            <p:cNvSpPr/>
            <p:nvPr/>
          </p:nvSpPr>
          <p:spPr>
            <a:xfrm>
              <a:off x="5334000" y="4286250"/>
              <a:ext cx="1143000" cy="1143000"/>
            </a:xfrm>
            <a:prstGeom prst="ellipse">
              <a:avLst/>
            </a:prstGeom>
            <a:solidFill>
              <a:srgbClr val="000000">
                <a:alpha val="0"/>
              </a:srgbClr>
            </a:solidFill>
            <a:ln w="76200"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576" name="Google Shape;576;p38"/>
            <p:cNvPicPr preferRelativeResize="0"/>
            <p:nvPr/>
          </p:nvPicPr>
          <p:blipFill rotWithShape="1">
            <a:blip r:embed="rId5">
              <a:alphaModFix/>
            </a:blip>
            <a:srcRect/>
            <a:stretch/>
          </p:blipFill>
          <p:spPr>
            <a:xfrm>
              <a:off x="5905500" y="4248150"/>
              <a:ext cx="609600" cy="1062000"/>
            </a:xfrm>
            <a:prstGeom prst="rect">
              <a:avLst/>
            </a:prstGeom>
            <a:noFill/>
            <a:ln>
              <a:noFill/>
            </a:ln>
          </p:spPr>
        </p:pic>
        <p:sp>
          <p:nvSpPr>
            <p:cNvPr id="577" name="Google Shape;577;p38"/>
            <p:cNvSpPr txBox="1"/>
            <p:nvPr/>
          </p:nvSpPr>
          <p:spPr>
            <a:xfrm>
              <a:off x="5334000" y="4667250"/>
              <a:ext cx="1143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400" b="1">
                  <a:solidFill>
                    <a:srgbClr val="60A5FA"/>
                  </a:solidFill>
                  <a:latin typeface="Inter"/>
                  <a:ea typeface="Inter"/>
                  <a:cs typeface="Inter"/>
                  <a:sym typeface="Inter"/>
                </a:rPr>
                <a:t>-%1.3</a:t>
              </a:r>
              <a:endParaRPr sz="2400" b="1">
                <a:solidFill>
                  <a:srgbClr val="60A5FA"/>
                </a:solidFill>
                <a:latin typeface="Inter"/>
                <a:ea typeface="Inter"/>
                <a:cs typeface="Inter"/>
                <a:sym typeface="Inter"/>
              </a:endParaRPr>
            </a:p>
          </p:txBody>
        </p:sp>
        <p:sp>
          <p:nvSpPr>
            <p:cNvPr id="578" name="Google Shape;578;p38"/>
            <p:cNvSpPr txBox="1"/>
            <p:nvPr/>
          </p:nvSpPr>
          <p:spPr>
            <a:xfrm>
              <a:off x="4381500" y="5619750"/>
              <a:ext cx="3048000" cy="476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110" b="0">
                  <a:solidFill>
                    <a:srgbClr val="CBD5E1"/>
                  </a:solidFill>
                  <a:latin typeface="Inter"/>
                  <a:ea typeface="Inter"/>
                  <a:cs typeface="Inter"/>
                  <a:sym typeface="Inter"/>
                </a:rPr>
                <a:t>0.5640 → 0.5568</a:t>
              </a:r>
              <a:endParaRPr sz="1110" b="0">
                <a:solidFill>
                  <a:srgbClr val="CBD5E1"/>
                </a:solidFill>
                <a:latin typeface="Inter"/>
                <a:ea typeface="Inter"/>
                <a:cs typeface="Inter"/>
                <a:sym typeface="Inter"/>
              </a:endParaRPr>
            </a:p>
            <a:p>
              <a:pPr marL="0" lvl="0" indent="0" algn="ctr" rtl="0">
                <a:spcBef>
                  <a:spcPts val="0"/>
                </a:spcBef>
                <a:spcAft>
                  <a:spcPts val="0"/>
                </a:spcAft>
                <a:buNone/>
              </a:pPr>
              <a:r>
                <a:rPr lang="en-US" sz="925" b="0">
                  <a:solidFill>
                    <a:srgbClr val="94A3B8"/>
                  </a:solidFill>
                  <a:latin typeface="Inter"/>
                  <a:ea typeface="Inter"/>
                  <a:cs typeface="Inter"/>
                  <a:sym typeface="Inter"/>
                </a:rPr>
                <a:t>Model 2'de Recall hafif düşerken F1 skoru belirgin artmıştır.</a:t>
              </a:r>
              <a:endParaRPr sz="925" b="0">
                <a:solidFill>
                  <a:srgbClr val="94A3B8"/>
                </a:solidFill>
                <a:latin typeface="Inter"/>
                <a:ea typeface="Inter"/>
                <a:cs typeface="Inter"/>
                <a:sym typeface="Inter"/>
              </a:endParaRPr>
            </a:p>
          </p:txBody>
        </p:sp>
      </p:grpSp>
      <p:pic>
        <p:nvPicPr>
          <p:cNvPr id="579" name="Google Shape;579;p38" descr="A professional medical data analysis chart showing two converging lines representing learning rates and loss curves on a dark futuristic digital background with neon blue highlights."/>
          <p:cNvPicPr preferRelativeResize="0"/>
          <p:nvPr/>
        </p:nvPicPr>
        <p:blipFill rotWithShape="1">
          <a:blip r:embed="rId6">
            <a:alphaModFix/>
          </a:blip>
          <a:srcRect l="19712" r="19712"/>
          <a:stretch/>
        </p:blipFill>
        <p:spPr>
          <a:xfrm>
            <a:off x="7810500" y="1333500"/>
            <a:ext cx="4000500" cy="4953000"/>
          </a:xfrm>
          <a:prstGeom prst="roundRect">
            <a:avLst>
              <a:gd name="adj" fmla="val 4761"/>
            </a:avLst>
          </a:prstGeom>
          <a:noFill/>
          <a:ln>
            <a:noFill/>
          </a:ln>
        </p:spPr>
      </p:pic>
      <p:sp>
        <p:nvSpPr>
          <p:cNvPr id="580" name="Google Shape;580;p38"/>
          <p:cNvSpPr/>
          <p:nvPr/>
        </p:nvSpPr>
        <p:spPr>
          <a:xfrm>
            <a:off x="7810500" y="1333500"/>
            <a:ext cx="4000500" cy="4953000"/>
          </a:xfrm>
          <a:prstGeom prst="roundRect">
            <a:avLst>
              <a:gd name="adj" fmla="val 4761"/>
            </a:avLst>
          </a:prstGeom>
          <a:solidFill>
            <a:srgbClr val="000000">
              <a:alpha val="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4"/>
        <p:cNvGrpSpPr/>
        <p:nvPr/>
      </p:nvGrpSpPr>
      <p:grpSpPr>
        <a:xfrm>
          <a:off x="0" y="0"/>
          <a:ext cx="0" cy="0"/>
          <a:chOff x="0" y="0"/>
          <a:chExt cx="0" cy="0"/>
        </a:xfrm>
      </p:grpSpPr>
      <p:sp>
        <p:nvSpPr>
          <p:cNvPr id="585" name="Google Shape;585;p39"/>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6" name="Google Shape;586;p39"/>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MODEL 3</a:t>
            </a:r>
            <a:endParaRPr sz="3200" b="1">
              <a:solidFill>
                <a:srgbClr val="60A5FA"/>
              </a:solidFill>
              <a:latin typeface="Urbanist"/>
              <a:ea typeface="Urbanist"/>
              <a:cs typeface="Urbanist"/>
              <a:sym typeface="Urbanist"/>
            </a:endParaRPr>
          </a:p>
        </p:txBody>
      </p:sp>
      <p:grpSp>
        <p:nvGrpSpPr>
          <p:cNvPr id="587" name="Google Shape;587;p39"/>
          <p:cNvGrpSpPr/>
          <p:nvPr/>
        </p:nvGrpSpPr>
        <p:grpSpPr>
          <a:xfrm>
            <a:off x="571500" y="1333500"/>
            <a:ext cx="3429000" cy="2381400"/>
            <a:chOff x="571500" y="1333500"/>
            <a:chExt cx="3429000" cy="2381400"/>
          </a:xfrm>
        </p:grpSpPr>
        <p:sp>
          <p:nvSpPr>
            <p:cNvPr id="588" name="Google Shape;588;p39"/>
            <p:cNvSpPr/>
            <p:nvPr/>
          </p:nvSpPr>
          <p:spPr>
            <a:xfrm>
              <a:off x="571500" y="1333500"/>
              <a:ext cx="3429000" cy="2381400"/>
            </a:xfrm>
            <a:prstGeom prst="roundRect">
              <a:avLst>
                <a:gd name="adj" fmla="val 48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9" name="Google Shape;589;p39"/>
            <p:cNvSpPr txBox="1"/>
            <p:nvPr/>
          </p:nvSpPr>
          <p:spPr>
            <a:xfrm>
              <a:off x="762000" y="1663827"/>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590" name="Google Shape;590;p39"/>
            <p:cNvSpPr txBox="1"/>
            <p:nvPr/>
          </p:nvSpPr>
          <p:spPr>
            <a:xfrm>
              <a:off x="1238250" y="1524000"/>
              <a:ext cx="2571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Mimari</a:t>
              </a:r>
              <a:endParaRPr sz="2000" b="1">
                <a:solidFill>
                  <a:srgbClr val="F8FAFC"/>
                </a:solidFill>
                <a:latin typeface="Urbanist"/>
                <a:ea typeface="Urbanist"/>
                <a:cs typeface="Urbanist"/>
                <a:sym typeface="Urbanist"/>
              </a:endParaRPr>
            </a:p>
          </p:txBody>
        </p:sp>
        <p:sp>
          <p:nvSpPr>
            <p:cNvPr id="591" name="Google Shape;591;p39"/>
            <p:cNvSpPr txBox="1"/>
            <p:nvPr/>
          </p:nvSpPr>
          <p:spPr>
            <a:xfrm>
              <a:off x="762000" y="2047875"/>
              <a:ext cx="3048000" cy="1476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a:solidFill>
                    <a:srgbClr val="F8FAFC"/>
                  </a:solidFill>
                  <a:latin typeface="Inter"/>
                  <a:ea typeface="Inter"/>
                  <a:cs typeface="Inter"/>
                  <a:sym typeface="Inter"/>
                </a:rPr>
                <a:t>• EfficientNetB0</a:t>
              </a:r>
              <a:endParaRPr sz="1300">
                <a:solidFill>
                  <a:srgbClr val="F8FAFC"/>
                </a:solidFill>
                <a:latin typeface="Inter"/>
                <a:ea typeface="Inter"/>
                <a:cs typeface="Inter"/>
                <a:sym typeface="Inter"/>
              </a:endParaRPr>
            </a:p>
            <a:p>
              <a:pPr marL="0" lvl="0" indent="0" algn="l" rtl="0">
                <a:spcBef>
                  <a:spcPts val="400"/>
                </a:spcBef>
                <a:spcAft>
                  <a:spcPts val="0"/>
                </a:spcAft>
                <a:buNone/>
              </a:pPr>
              <a:r>
                <a:rPr lang="en-US" sz="1300">
                  <a:solidFill>
                    <a:srgbClr val="F8FAFC"/>
                  </a:solidFill>
                  <a:latin typeface="Inter"/>
                  <a:ea typeface="Inter"/>
                  <a:cs typeface="Inter"/>
                  <a:sym typeface="Inter"/>
                </a:rPr>
                <a:t>• Base Line Model: 45</a:t>
              </a:r>
              <a:endParaRPr sz="1300">
                <a:solidFill>
                  <a:srgbClr val="F8FAFC"/>
                </a:solidFill>
                <a:latin typeface="Inter"/>
                <a:ea typeface="Inter"/>
                <a:cs typeface="Inter"/>
                <a:sym typeface="Inter"/>
              </a:endParaRPr>
            </a:p>
            <a:p>
              <a:pPr marL="0" lvl="0" indent="0" algn="l" rtl="0">
                <a:spcBef>
                  <a:spcPts val="400"/>
                </a:spcBef>
                <a:spcAft>
                  <a:spcPts val="0"/>
                </a:spcAft>
                <a:buNone/>
              </a:pPr>
              <a:r>
                <a:rPr lang="en-US" sz="1300">
                  <a:solidFill>
                    <a:srgbClr val="F8FAFC"/>
                  </a:solidFill>
                  <a:latin typeface="Inter"/>
                  <a:ea typeface="Inter"/>
                  <a:cs typeface="Inter"/>
                  <a:sym typeface="Inter"/>
                </a:rPr>
                <a:t>• Dropout: 0.45</a:t>
              </a:r>
              <a:endParaRPr sz="1300">
                <a:solidFill>
                  <a:srgbClr val="F8FAFC"/>
                </a:solidFill>
                <a:latin typeface="Inter"/>
                <a:ea typeface="Inter"/>
                <a:cs typeface="Inter"/>
                <a:sym typeface="Inter"/>
              </a:endParaRPr>
            </a:p>
            <a:p>
              <a:pPr marL="0" lvl="0" indent="0" algn="l" rtl="0">
                <a:spcBef>
                  <a:spcPts val="400"/>
                </a:spcBef>
                <a:spcAft>
                  <a:spcPts val="0"/>
                </a:spcAft>
                <a:buNone/>
              </a:pPr>
              <a:r>
                <a:rPr lang="en-US" sz="1300">
                  <a:solidFill>
                    <a:srgbClr val="F8FAFC"/>
                  </a:solidFill>
                  <a:latin typeface="Inter"/>
                  <a:ea typeface="Inter"/>
                  <a:cs typeface="Inter"/>
                  <a:sym typeface="Inter"/>
                </a:rPr>
                <a:t>• Aktivasyon: Sigmoid</a:t>
              </a:r>
              <a:endParaRPr sz="1300">
                <a:solidFill>
                  <a:srgbClr val="F8FAFC"/>
                </a:solidFill>
                <a:latin typeface="Inter"/>
                <a:ea typeface="Inter"/>
                <a:cs typeface="Inter"/>
                <a:sym typeface="Inter"/>
              </a:endParaRPr>
            </a:p>
            <a:p>
              <a:pPr marL="0" lvl="0" indent="0" algn="l" rtl="0">
                <a:spcBef>
                  <a:spcPts val="400"/>
                </a:spcBef>
                <a:spcAft>
                  <a:spcPts val="0"/>
                </a:spcAft>
                <a:buNone/>
              </a:pPr>
              <a:r>
                <a:rPr lang="en-US" sz="1300">
                  <a:solidFill>
                    <a:srgbClr val="F8FAFC"/>
                  </a:solidFill>
                  <a:latin typeface="Inter"/>
                  <a:ea typeface="Inter"/>
                  <a:cs typeface="Inter"/>
                  <a:sym typeface="Inter"/>
                </a:rPr>
                <a:t>• Batch Size: 64</a:t>
              </a:r>
              <a:endParaRPr sz="1300">
                <a:solidFill>
                  <a:srgbClr val="F8FAFC"/>
                </a:solidFill>
                <a:latin typeface="Inter"/>
                <a:ea typeface="Inter"/>
                <a:cs typeface="Inter"/>
                <a:sym typeface="Inter"/>
              </a:endParaRPr>
            </a:p>
          </p:txBody>
        </p:sp>
      </p:grpSp>
      <p:grpSp>
        <p:nvGrpSpPr>
          <p:cNvPr id="592" name="Google Shape;592;p39"/>
          <p:cNvGrpSpPr/>
          <p:nvPr/>
        </p:nvGrpSpPr>
        <p:grpSpPr>
          <a:xfrm>
            <a:off x="4191000" y="1333500"/>
            <a:ext cx="3429000" cy="2381400"/>
            <a:chOff x="4191000" y="1333500"/>
            <a:chExt cx="3429000" cy="2381400"/>
          </a:xfrm>
        </p:grpSpPr>
        <p:sp>
          <p:nvSpPr>
            <p:cNvPr id="593" name="Google Shape;593;p39"/>
            <p:cNvSpPr/>
            <p:nvPr/>
          </p:nvSpPr>
          <p:spPr>
            <a:xfrm>
              <a:off x="4191000" y="1333500"/>
              <a:ext cx="3429000" cy="2381400"/>
            </a:xfrm>
            <a:prstGeom prst="roundRect">
              <a:avLst>
                <a:gd name="adj" fmla="val 48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4" name="Google Shape;594;p39"/>
            <p:cNvSpPr txBox="1"/>
            <p:nvPr/>
          </p:nvSpPr>
          <p:spPr>
            <a:xfrm>
              <a:off x="4381500" y="1663827"/>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595" name="Google Shape;595;p39"/>
            <p:cNvSpPr txBox="1"/>
            <p:nvPr/>
          </p:nvSpPr>
          <p:spPr>
            <a:xfrm>
              <a:off x="4857750" y="1524000"/>
              <a:ext cx="2571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Eğitim Süreci</a:t>
              </a:r>
              <a:endParaRPr sz="2000" b="1">
                <a:solidFill>
                  <a:srgbClr val="F8FAFC"/>
                </a:solidFill>
                <a:latin typeface="Urbanist"/>
                <a:ea typeface="Urbanist"/>
                <a:cs typeface="Urbanist"/>
                <a:sym typeface="Urbanist"/>
              </a:endParaRPr>
            </a:p>
          </p:txBody>
        </p:sp>
        <p:sp>
          <p:nvSpPr>
            <p:cNvPr id="596" name="Google Shape;596;p39"/>
            <p:cNvSpPr txBox="1"/>
            <p:nvPr/>
          </p:nvSpPr>
          <p:spPr>
            <a:xfrm>
              <a:off x="4381500" y="2047875"/>
              <a:ext cx="3048000" cy="1476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Aşama 1 (Klasik)</a:t>
              </a:r>
              <a:endParaRPr sz="1300" b="1">
                <a:solidFill>
                  <a:srgbClr val="60A5FA"/>
                </a:solidFill>
                <a:latin typeface="Inter"/>
                <a:ea typeface="Inter"/>
                <a:cs typeface="Inter"/>
                <a:sym typeface="Inter"/>
              </a:endParaRPr>
            </a:p>
            <a:p>
              <a:pPr marL="0" lvl="0" indent="0" algn="l" rtl="0">
                <a:spcBef>
                  <a:spcPts val="0"/>
                </a:spcBef>
                <a:spcAft>
                  <a:spcPts val="0"/>
                </a:spcAft>
                <a:buNone/>
              </a:pPr>
              <a:r>
                <a:rPr lang="en-US" sz="1100" b="1">
                  <a:solidFill>
                    <a:srgbClr val="CBD5E1"/>
                  </a:solidFill>
                  <a:latin typeface="Inter"/>
                  <a:ea typeface="Inter"/>
                  <a:cs typeface="Inter"/>
                  <a:sym typeface="Inter"/>
                </a:rPr>
                <a:t>LR: 0.0005 | 15 Epoch | Adam</a:t>
              </a:r>
              <a:endParaRPr sz="1100" b="1">
                <a:solidFill>
                  <a:srgbClr val="CBD5E1"/>
                </a:solidFill>
                <a:latin typeface="Inter"/>
                <a:ea typeface="Inter"/>
                <a:cs typeface="Inter"/>
                <a:sym typeface="Inter"/>
              </a:endParaRPr>
            </a:p>
            <a:p>
              <a:pPr marL="0" lvl="0" indent="0" algn="l" rtl="0">
                <a:spcBef>
                  <a:spcPts val="600"/>
                </a:spcBef>
                <a:spcAft>
                  <a:spcPts val="0"/>
                </a:spcAft>
                <a:buNone/>
              </a:pPr>
              <a:r>
                <a:rPr lang="en-US" sz="1300" b="1">
                  <a:solidFill>
                    <a:srgbClr val="60A5FA"/>
                  </a:solidFill>
                  <a:latin typeface="Inter"/>
                  <a:ea typeface="Inter"/>
                  <a:cs typeface="Inter"/>
                  <a:sym typeface="Inter"/>
                </a:rPr>
                <a:t>Aşama 2 (Fine-Tuning)</a:t>
              </a:r>
              <a:endParaRPr sz="1300" b="1">
                <a:solidFill>
                  <a:srgbClr val="60A5FA"/>
                </a:solidFill>
                <a:latin typeface="Inter"/>
                <a:ea typeface="Inter"/>
                <a:cs typeface="Inter"/>
                <a:sym typeface="Inter"/>
              </a:endParaRPr>
            </a:p>
            <a:p>
              <a:pPr marL="0" lvl="0" indent="0" algn="l" rtl="0">
                <a:spcBef>
                  <a:spcPts val="0"/>
                </a:spcBef>
                <a:spcAft>
                  <a:spcPts val="0"/>
                </a:spcAft>
                <a:buNone/>
              </a:pPr>
              <a:r>
                <a:rPr lang="en-US" sz="1100" b="1">
                  <a:solidFill>
                    <a:srgbClr val="CBD5E1"/>
                  </a:solidFill>
                  <a:latin typeface="Inter"/>
                  <a:ea typeface="Inter"/>
                  <a:cs typeface="Inter"/>
                  <a:sym typeface="Inter"/>
                </a:rPr>
                <a:t>Son 45 Katman Eğitilebilir | LR: 1e-5 | 35 Epoch</a:t>
              </a:r>
              <a:endParaRPr sz="1100" b="1">
                <a:solidFill>
                  <a:srgbClr val="CBD5E1"/>
                </a:solidFill>
                <a:latin typeface="Inter"/>
                <a:ea typeface="Inter"/>
                <a:cs typeface="Inter"/>
                <a:sym typeface="Inter"/>
              </a:endParaRPr>
            </a:p>
          </p:txBody>
        </p:sp>
      </p:grpSp>
      <p:grpSp>
        <p:nvGrpSpPr>
          <p:cNvPr id="597" name="Google Shape;597;p39"/>
          <p:cNvGrpSpPr/>
          <p:nvPr/>
        </p:nvGrpSpPr>
        <p:grpSpPr>
          <a:xfrm>
            <a:off x="571500" y="3810000"/>
            <a:ext cx="7048500" cy="1095300"/>
            <a:chOff x="571500" y="3810000"/>
            <a:chExt cx="7048500" cy="1095300"/>
          </a:xfrm>
        </p:grpSpPr>
        <p:sp>
          <p:nvSpPr>
            <p:cNvPr id="598" name="Google Shape;598;p39"/>
            <p:cNvSpPr/>
            <p:nvPr/>
          </p:nvSpPr>
          <p:spPr>
            <a:xfrm>
              <a:off x="571500" y="3810000"/>
              <a:ext cx="7048500" cy="1095300"/>
            </a:xfrm>
            <a:prstGeom prst="roundRect">
              <a:avLst>
                <a:gd name="adj" fmla="val 10434"/>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9" name="Google Shape;599;p39"/>
            <p:cNvSpPr txBox="1"/>
            <p:nvPr/>
          </p:nvSpPr>
          <p:spPr>
            <a:xfrm>
              <a:off x="762000" y="4216527"/>
              <a:ext cx="4764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600" name="Google Shape;600;p39"/>
            <p:cNvSpPr txBox="1"/>
            <p:nvPr/>
          </p:nvSpPr>
          <p:spPr>
            <a:xfrm>
              <a:off x="1333500" y="3952875"/>
              <a:ext cx="60960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Threshold Stratejisi</a:t>
              </a:r>
              <a:endParaRPr sz="2000" b="1">
                <a:solidFill>
                  <a:srgbClr val="F8FAFC"/>
                </a:solidFill>
                <a:latin typeface="Urbanist"/>
                <a:ea typeface="Urbanist"/>
                <a:cs typeface="Urbanist"/>
                <a:sym typeface="Urbanist"/>
              </a:endParaRPr>
            </a:p>
            <a:p>
              <a:pPr marL="0" lvl="0" indent="0" algn="l" rtl="0">
                <a:spcBef>
                  <a:spcPts val="0"/>
                </a:spcBef>
                <a:spcAft>
                  <a:spcPts val="0"/>
                </a:spcAft>
                <a:buNone/>
              </a:pPr>
              <a:r>
                <a:rPr lang="en-US" sz="1100" b="1">
                  <a:solidFill>
                    <a:srgbClr val="CBD5E1"/>
                  </a:solidFill>
                  <a:latin typeface="Inter"/>
                  <a:ea typeface="Inter"/>
                  <a:cs typeface="Inter"/>
                  <a:sym typeface="Inter"/>
                </a:rPr>
                <a:t>Validasyon setine göre optimize edilmiş el ile ayarlanmış özel eşikler</a:t>
              </a:r>
              <a:endParaRPr sz="1100" b="1">
                <a:solidFill>
                  <a:srgbClr val="CBD5E1"/>
                </a:solidFill>
                <a:latin typeface="Inter"/>
                <a:ea typeface="Inter"/>
                <a:cs typeface="Inter"/>
                <a:sym typeface="Inter"/>
              </a:endParaRPr>
            </a:p>
          </p:txBody>
        </p:sp>
      </p:grpSp>
      <p:grpSp>
        <p:nvGrpSpPr>
          <p:cNvPr id="601" name="Google Shape;601;p39"/>
          <p:cNvGrpSpPr/>
          <p:nvPr/>
        </p:nvGrpSpPr>
        <p:grpSpPr>
          <a:xfrm>
            <a:off x="571500" y="5048250"/>
            <a:ext cx="7048500" cy="1428900"/>
            <a:chOff x="571500" y="5048250"/>
            <a:chExt cx="7048500" cy="1428900"/>
          </a:xfrm>
        </p:grpSpPr>
        <p:sp>
          <p:nvSpPr>
            <p:cNvPr id="602" name="Google Shape;602;p39"/>
            <p:cNvSpPr/>
            <p:nvPr/>
          </p:nvSpPr>
          <p:spPr>
            <a:xfrm>
              <a:off x="571500" y="5048250"/>
              <a:ext cx="7048500" cy="1428900"/>
            </a:xfrm>
            <a:prstGeom prst="roundRect">
              <a:avLst>
                <a:gd name="adj" fmla="val 8000"/>
              </a:avLst>
            </a:prstGeom>
            <a:solidFill>
              <a:srgbClr val="1E293B">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3" name="Google Shape;603;p39"/>
            <p:cNvSpPr txBox="1"/>
            <p:nvPr/>
          </p:nvSpPr>
          <p:spPr>
            <a:xfrm>
              <a:off x="762000" y="5191125"/>
              <a:ext cx="1905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CBD5E1"/>
                  </a:solidFill>
                  <a:latin typeface="Urbanist"/>
                  <a:ea typeface="Urbanist"/>
                  <a:cs typeface="Urbanist"/>
                  <a:sym typeface="Urbanist"/>
                </a:rPr>
                <a:t>Performans Özeti</a:t>
              </a:r>
              <a:endParaRPr sz="1400" b="1">
                <a:solidFill>
                  <a:srgbClr val="CBD5E1"/>
                </a:solidFill>
                <a:latin typeface="Urbanist"/>
                <a:ea typeface="Urbanist"/>
                <a:cs typeface="Urbanist"/>
                <a:sym typeface="Urbanist"/>
              </a:endParaRPr>
            </a:p>
          </p:txBody>
        </p:sp>
        <p:grpSp>
          <p:nvGrpSpPr>
            <p:cNvPr id="604" name="Google Shape;604;p39"/>
            <p:cNvGrpSpPr/>
            <p:nvPr/>
          </p:nvGrpSpPr>
          <p:grpSpPr>
            <a:xfrm>
              <a:off x="762000" y="5572125"/>
              <a:ext cx="1524000" cy="762000"/>
              <a:chOff x="762000" y="5572125"/>
              <a:chExt cx="1524000" cy="762000"/>
            </a:xfrm>
          </p:grpSpPr>
          <p:sp>
            <p:nvSpPr>
              <p:cNvPr id="605" name="Google Shape;605;p39"/>
              <p:cNvSpPr/>
              <p:nvPr/>
            </p:nvSpPr>
            <p:spPr>
              <a:xfrm>
                <a:off x="7620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6" name="Google Shape;606;p39"/>
              <p:cNvSpPr txBox="1"/>
              <p:nvPr/>
            </p:nvSpPr>
            <p:spPr>
              <a:xfrm>
                <a:off x="762000" y="5667375"/>
                <a:ext cx="1524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CBD5E1"/>
                    </a:solidFill>
                    <a:latin typeface="Urbanist"/>
                    <a:ea typeface="Urbanist"/>
                    <a:cs typeface="Urbanist"/>
                    <a:sym typeface="Urbanist"/>
                  </a:rPr>
                  <a:t>Macro F1</a:t>
                </a:r>
                <a:endParaRPr sz="1400" b="1">
                  <a:solidFill>
                    <a:srgbClr val="CBD5E1"/>
                  </a:solidFill>
                  <a:latin typeface="Urbanist"/>
                  <a:ea typeface="Urbanist"/>
                  <a:cs typeface="Urbanist"/>
                  <a:sym typeface="Urbanist"/>
                </a:endParaRPr>
              </a:p>
            </p:txBody>
          </p:sp>
          <p:sp>
            <p:nvSpPr>
              <p:cNvPr id="607" name="Google Shape;607;p39"/>
              <p:cNvSpPr txBox="1"/>
              <p:nvPr/>
            </p:nvSpPr>
            <p:spPr>
              <a:xfrm>
                <a:off x="762000" y="5953125"/>
                <a:ext cx="1524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i="0">
                    <a:solidFill>
                      <a:srgbClr val="60A5FA"/>
                    </a:solidFill>
                    <a:latin typeface="Inter"/>
                    <a:ea typeface="Inter"/>
                    <a:cs typeface="Inter"/>
                    <a:sym typeface="Inter"/>
                  </a:rPr>
                  <a:t>0.4624</a:t>
                </a:r>
                <a:endParaRPr sz="2000" b="1" i="0">
                  <a:solidFill>
                    <a:srgbClr val="60A5FA"/>
                  </a:solidFill>
                  <a:latin typeface="Inter"/>
                  <a:ea typeface="Inter"/>
                  <a:cs typeface="Inter"/>
                  <a:sym typeface="Inter"/>
                </a:endParaRPr>
              </a:p>
            </p:txBody>
          </p:sp>
        </p:grpSp>
        <p:grpSp>
          <p:nvGrpSpPr>
            <p:cNvPr id="608" name="Google Shape;608;p39"/>
            <p:cNvGrpSpPr/>
            <p:nvPr/>
          </p:nvGrpSpPr>
          <p:grpSpPr>
            <a:xfrm>
              <a:off x="2476500" y="5572125"/>
              <a:ext cx="1524000" cy="762000"/>
              <a:chOff x="2476500" y="5572125"/>
              <a:chExt cx="1524000" cy="762000"/>
            </a:xfrm>
          </p:grpSpPr>
          <p:sp>
            <p:nvSpPr>
              <p:cNvPr id="609" name="Google Shape;609;p39"/>
              <p:cNvSpPr/>
              <p:nvPr/>
            </p:nvSpPr>
            <p:spPr>
              <a:xfrm>
                <a:off x="24765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0" name="Google Shape;610;p39"/>
              <p:cNvSpPr txBox="1"/>
              <p:nvPr/>
            </p:nvSpPr>
            <p:spPr>
              <a:xfrm>
                <a:off x="2476500" y="5667375"/>
                <a:ext cx="15240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i="0">
                    <a:solidFill>
                      <a:srgbClr val="CBD5E1"/>
                    </a:solidFill>
                    <a:latin typeface="Urbanist"/>
                    <a:ea typeface="Urbanist"/>
                    <a:cs typeface="Urbanist"/>
                    <a:sym typeface="Urbanist"/>
                  </a:rPr>
                  <a:t>M</a:t>
                </a:r>
                <a:r>
                  <a:rPr lang="en-US" b="1">
                    <a:solidFill>
                      <a:srgbClr val="CBD5E1"/>
                    </a:solidFill>
                    <a:latin typeface="Urbanist"/>
                    <a:ea typeface="Urbanist"/>
                    <a:cs typeface="Urbanist"/>
                    <a:sym typeface="Urbanist"/>
                  </a:rPr>
                  <a:t>acro </a:t>
                </a:r>
                <a:r>
                  <a:rPr lang="en-US" sz="1400" b="1" i="0">
                    <a:solidFill>
                      <a:srgbClr val="CBD5E1"/>
                    </a:solidFill>
                    <a:latin typeface="Urbanist"/>
                    <a:ea typeface="Urbanist"/>
                    <a:cs typeface="Urbanist"/>
                    <a:sym typeface="Urbanist"/>
                  </a:rPr>
                  <a:t>Recall</a:t>
                </a:r>
                <a:endParaRPr sz="1400" b="1" i="0">
                  <a:solidFill>
                    <a:srgbClr val="CBD5E1"/>
                  </a:solidFill>
                  <a:latin typeface="Urbanist"/>
                  <a:ea typeface="Urbanist"/>
                  <a:cs typeface="Urbanist"/>
                  <a:sym typeface="Urbanist"/>
                </a:endParaRPr>
              </a:p>
            </p:txBody>
          </p:sp>
          <p:sp>
            <p:nvSpPr>
              <p:cNvPr id="611" name="Google Shape;611;p39"/>
              <p:cNvSpPr txBox="1"/>
              <p:nvPr/>
            </p:nvSpPr>
            <p:spPr>
              <a:xfrm>
                <a:off x="2476500" y="5953125"/>
                <a:ext cx="1524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i="0">
                    <a:solidFill>
                      <a:srgbClr val="60A5FA"/>
                    </a:solidFill>
                    <a:latin typeface="Inter"/>
                    <a:ea typeface="Inter"/>
                    <a:cs typeface="Inter"/>
                    <a:sym typeface="Inter"/>
                  </a:rPr>
                  <a:t>0.</a:t>
                </a:r>
                <a:r>
                  <a:rPr lang="en-US" sz="2000" b="1">
                    <a:solidFill>
                      <a:srgbClr val="60A5FA"/>
                    </a:solidFill>
                    <a:latin typeface="Inter"/>
                    <a:ea typeface="Inter"/>
                    <a:cs typeface="Inter"/>
                    <a:sym typeface="Inter"/>
                  </a:rPr>
                  <a:t>584</a:t>
                </a:r>
                <a:endParaRPr sz="2000" b="1" i="0">
                  <a:solidFill>
                    <a:srgbClr val="60A5FA"/>
                  </a:solidFill>
                  <a:latin typeface="Inter"/>
                  <a:ea typeface="Inter"/>
                  <a:cs typeface="Inter"/>
                  <a:sym typeface="Inter"/>
                </a:endParaRPr>
              </a:p>
            </p:txBody>
          </p:sp>
        </p:grpSp>
        <p:grpSp>
          <p:nvGrpSpPr>
            <p:cNvPr id="612" name="Google Shape;612;p39"/>
            <p:cNvGrpSpPr/>
            <p:nvPr/>
          </p:nvGrpSpPr>
          <p:grpSpPr>
            <a:xfrm>
              <a:off x="4191000" y="5572125"/>
              <a:ext cx="1524000" cy="762000"/>
              <a:chOff x="4191000" y="5572125"/>
              <a:chExt cx="1524000" cy="762000"/>
            </a:xfrm>
          </p:grpSpPr>
          <p:sp>
            <p:nvSpPr>
              <p:cNvPr id="613" name="Google Shape;613;p39"/>
              <p:cNvSpPr/>
              <p:nvPr/>
            </p:nvSpPr>
            <p:spPr>
              <a:xfrm>
                <a:off x="41910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4" name="Google Shape;614;p39"/>
              <p:cNvSpPr txBox="1"/>
              <p:nvPr/>
            </p:nvSpPr>
            <p:spPr>
              <a:xfrm>
                <a:off x="4191000" y="5667375"/>
                <a:ext cx="15240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i="0">
                    <a:solidFill>
                      <a:srgbClr val="CBD5E1"/>
                    </a:solidFill>
                    <a:latin typeface="Urbanist"/>
                    <a:ea typeface="Urbanist"/>
                    <a:cs typeface="Urbanist"/>
                    <a:sym typeface="Urbanist"/>
                  </a:rPr>
                  <a:t>Macro ROC-AUC</a:t>
                </a:r>
                <a:endParaRPr sz="1400" b="1" i="0">
                  <a:solidFill>
                    <a:srgbClr val="CBD5E1"/>
                  </a:solidFill>
                  <a:latin typeface="Urbanist"/>
                  <a:ea typeface="Urbanist"/>
                  <a:cs typeface="Urbanist"/>
                  <a:sym typeface="Urbanist"/>
                </a:endParaRPr>
              </a:p>
            </p:txBody>
          </p:sp>
          <p:sp>
            <p:nvSpPr>
              <p:cNvPr id="615" name="Google Shape;615;p39"/>
              <p:cNvSpPr txBox="1"/>
              <p:nvPr/>
            </p:nvSpPr>
            <p:spPr>
              <a:xfrm>
                <a:off x="4191000" y="5953125"/>
                <a:ext cx="1524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i="0">
                    <a:solidFill>
                      <a:srgbClr val="60A5FA"/>
                    </a:solidFill>
                    <a:latin typeface="Inter"/>
                    <a:ea typeface="Inter"/>
                    <a:cs typeface="Inter"/>
                    <a:sym typeface="Inter"/>
                  </a:rPr>
                  <a:t>0.8014</a:t>
                </a:r>
                <a:endParaRPr sz="2000" b="1" i="0">
                  <a:solidFill>
                    <a:srgbClr val="60A5FA"/>
                  </a:solidFill>
                  <a:latin typeface="Inter"/>
                  <a:ea typeface="Inter"/>
                  <a:cs typeface="Inter"/>
                  <a:sym typeface="Inter"/>
                </a:endParaRPr>
              </a:p>
            </p:txBody>
          </p:sp>
        </p:grpSp>
        <p:grpSp>
          <p:nvGrpSpPr>
            <p:cNvPr id="616" name="Google Shape;616;p39"/>
            <p:cNvGrpSpPr/>
            <p:nvPr/>
          </p:nvGrpSpPr>
          <p:grpSpPr>
            <a:xfrm>
              <a:off x="5905500" y="5572125"/>
              <a:ext cx="1524000" cy="762000"/>
              <a:chOff x="5905500" y="5572125"/>
              <a:chExt cx="1524000" cy="762000"/>
            </a:xfrm>
          </p:grpSpPr>
          <p:sp>
            <p:nvSpPr>
              <p:cNvPr id="617" name="Google Shape;617;p39"/>
              <p:cNvSpPr/>
              <p:nvPr/>
            </p:nvSpPr>
            <p:spPr>
              <a:xfrm>
                <a:off x="59055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8" name="Google Shape;618;p39"/>
              <p:cNvSpPr txBox="1"/>
              <p:nvPr/>
            </p:nvSpPr>
            <p:spPr>
              <a:xfrm>
                <a:off x="5905500" y="5667375"/>
                <a:ext cx="15240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i="0">
                    <a:solidFill>
                      <a:srgbClr val="CBD5E1"/>
                    </a:solidFill>
                    <a:latin typeface="Urbanist"/>
                    <a:ea typeface="Urbanist"/>
                    <a:cs typeface="Urbanist"/>
                    <a:sym typeface="Urbanist"/>
                  </a:rPr>
                  <a:t>Macro PR-AUC</a:t>
                </a:r>
                <a:endParaRPr sz="1400" b="1" i="0">
                  <a:solidFill>
                    <a:srgbClr val="CBD5E1"/>
                  </a:solidFill>
                  <a:latin typeface="Urbanist"/>
                  <a:ea typeface="Urbanist"/>
                  <a:cs typeface="Urbanist"/>
                  <a:sym typeface="Urbanist"/>
                </a:endParaRPr>
              </a:p>
            </p:txBody>
          </p:sp>
          <p:sp>
            <p:nvSpPr>
              <p:cNvPr id="619" name="Google Shape;619;p39"/>
              <p:cNvSpPr txBox="1"/>
              <p:nvPr/>
            </p:nvSpPr>
            <p:spPr>
              <a:xfrm>
                <a:off x="5905500" y="5953125"/>
                <a:ext cx="1524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i="0">
                    <a:solidFill>
                      <a:srgbClr val="60A5FA"/>
                    </a:solidFill>
                    <a:latin typeface="Inter"/>
                    <a:ea typeface="Inter"/>
                    <a:cs typeface="Inter"/>
                    <a:sym typeface="Inter"/>
                  </a:rPr>
                  <a:t>0.4734</a:t>
                </a:r>
                <a:endParaRPr sz="2000" b="1" i="0">
                  <a:solidFill>
                    <a:srgbClr val="60A5FA"/>
                  </a:solidFill>
                  <a:latin typeface="Inter"/>
                  <a:ea typeface="Inter"/>
                  <a:cs typeface="Inter"/>
                  <a:sym typeface="Inter"/>
                </a:endParaRPr>
              </a:p>
            </p:txBody>
          </p:sp>
        </p:grpSp>
      </p:grpSp>
      <p:pic>
        <p:nvPicPr>
          <p:cNvPr id="620" name="Google Shape;620;p39" descr="A high-tech neural network visualization with medical data points and probability nodes glowing in neon blue. Futuristic medical dashboard style, showing complex connections."/>
          <p:cNvPicPr preferRelativeResize="0"/>
          <p:nvPr/>
        </p:nvPicPr>
        <p:blipFill rotWithShape="1">
          <a:blip r:embed="rId4">
            <a:alphaModFix/>
          </a:blip>
          <a:srcRect l="19712" r="19712"/>
          <a:stretch/>
        </p:blipFill>
        <p:spPr>
          <a:xfrm>
            <a:off x="7810500" y="1333500"/>
            <a:ext cx="4000500" cy="4953000"/>
          </a:xfrm>
          <a:prstGeom prst="roundRect">
            <a:avLst>
              <a:gd name="adj" fmla="val 4761"/>
            </a:avLst>
          </a:prstGeom>
          <a:noFill/>
          <a:ln>
            <a:noFill/>
          </a:ln>
        </p:spPr>
      </p:pic>
      <p:sp>
        <p:nvSpPr>
          <p:cNvPr id="621" name="Google Shape;621;p39"/>
          <p:cNvSpPr/>
          <p:nvPr/>
        </p:nvSpPr>
        <p:spPr>
          <a:xfrm>
            <a:off x="7810500" y="1333500"/>
            <a:ext cx="4000500" cy="4953000"/>
          </a:xfrm>
          <a:prstGeom prst="roundRect">
            <a:avLst>
              <a:gd name="adj" fmla="val 4761"/>
            </a:avLst>
          </a:prstGeom>
          <a:solidFill>
            <a:srgbClr val="000000">
              <a:alpha val="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25"/>
        <p:cNvGrpSpPr/>
        <p:nvPr/>
      </p:nvGrpSpPr>
      <p:grpSpPr>
        <a:xfrm>
          <a:off x="0" y="0"/>
          <a:ext cx="0" cy="0"/>
          <a:chOff x="0" y="0"/>
          <a:chExt cx="0" cy="0"/>
        </a:xfrm>
      </p:grpSpPr>
      <p:sp>
        <p:nvSpPr>
          <p:cNvPr id="626" name="Google Shape;626;p40"/>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7" name="Google Shape;627;p40"/>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Model 2 vs Model 3: Optimizasyon Etkisi</a:t>
            </a:r>
            <a:endParaRPr sz="3200" b="1">
              <a:solidFill>
                <a:srgbClr val="60A5FA"/>
              </a:solidFill>
              <a:latin typeface="Urbanist"/>
              <a:ea typeface="Urbanist"/>
              <a:cs typeface="Urbanist"/>
              <a:sym typeface="Urbanist"/>
            </a:endParaRPr>
          </a:p>
        </p:txBody>
      </p:sp>
      <p:sp>
        <p:nvSpPr>
          <p:cNvPr id="628" name="Google Shape;628;p40"/>
          <p:cNvSpPr/>
          <p:nvPr/>
        </p:nvSpPr>
        <p:spPr>
          <a:xfrm>
            <a:off x="571500" y="1333500"/>
            <a:ext cx="7048500" cy="1524000"/>
          </a:xfrm>
          <a:prstGeom prst="roundRect">
            <a:avLst>
              <a:gd name="adj" fmla="val 75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9" name="Google Shape;629;p40"/>
          <p:cNvSpPr txBox="1"/>
          <p:nvPr/>
        </p:nvSpPr>
        <p:spPr>
          <a:xfrm>
            <a:off x="762000" y="1511427"/>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220" dirty="0">
              <a:solidFill>
                <a:srgbClr val="60A5FA"/>
              </a:solidFill>
              <a:latin typeface="Material Icons"/>
              <a:ea typeface="Material Icons"/>
              <a:cs typeface="Material Icons"/>
              <a:sym typeface="Material Icons"/>
            </a:endParaRPr>
          </a:p>
        </p:txBody>
      </p:sp>
      <p:sp>
        <p:nvSpPr>
          <p:cNvPr id="630" name="Google Shape;630;p40"/>
          <p:cNvSpPr txBox="1"/>
          <p:nvPr/>
        </p:nvSpPr>
        <p:spPr>
          <a:xfrm>
            <a:off x="1238250" y="1476375"/>
            <a:ext cx="6191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F8FAFC"/>
                </a:solidFill>
                <a:latin typeface="Urbanist"/>
                <a:ea typeface="Urbanist"/>
                <a:cs typeface="Urbanist"/>
                <a:sym typeface="Urbanist"/>
              </a:rPr>
              <a:t>Mimari Değişikliklerin Performans Analizi</a:t>
            </a:r>
            <a:endParaRPr sz="1800" b="1">
              <a:solidFill>
                <a:srgbClr val="F8FAFC"/>
              </a:solidFill>
              <a:latin typeface="Urbanist"/>
              <a:ea typeface="Urbanist"/>
              <a:cs typeface="Urbanist"/>
              <a:sym typeface="Urbanist"/>
            </a:endParaRPr>
          </a:p>
        </p:txBody>
      </p:sp>
      <p:sp>
        <p:nvSpPr>
          <p:cNvPr id="631" name="Google Shape;631;p40"/>
          <p:cNvSpPr txBox="1"/>
          <p:nvPr/>
        </p:nvSpPr>
        <p:spPr>
          <a:xfrm>
            <a:off x="762000" y="1952625"/>
            <a:ext cx="6667500" cy="762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i="0" u="none" strike="noStrike">
                <a:solidFill>
                  <a:srgbClr val="CBD5E1"/>
                </a:solidFill>
                <a:latin typeface="Inter"/>
                <a:ea typeface="Inter"/>
                <a:cs typeface="Inter"/>
                <a:sym typeface="Inter"/>
              </a:rPr>
              <a:t>Model 3'te base_line_model 45'e, dropout 0.45'e ve batch_size 64'e çıkarılmıştır. Bu yapılandırma, özellikle Recall (0.55'ten 0.58'e) ve PR-AUC metriklerinde belirgin bir sıçrama sağlayarak modelin teşhis kapasitesini güçlendirmiştir.</a:t>
            </a:r>
            <a:endParaRPr sz="1100" b="0" i="0" u="none" strike="noStrike">
              <a:solidFill>
                <a:srgbClr val="CBD5E1"/>
              </a:solidFill>
              <a:latin typeface="Inter"/>
              <a:ea typeface="Inter"/>
              <a:cs typeface="Inter"/>
              <a:sym typeface="Inter"/>
            </a:endParaRPr>
          </a:p>
        </p:txBody>
      </p:sp>
      <p:sp>
        <p:nvSpPr>
          <p:cNvPr id="632" name="Google Shape;632;p40"/>
          <p:cNvSpPr/>
          <p:nvPr/>
        </p:nvSpPr>
        <p:spPr>
          <a:xfrm>
            <a:off x="571500" y="3048000"/>
            <a:ext cx="3429000" cy="3238500"/>
          </a:xfrm>
          <a:prstGeom prst="roundRect">
            <a:avLst>
              <a:gd name="adj" fmla="val 3529"/>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3" name="Google Shape;633;p40"/>
          <p:cNvSpPr txBox="1"/>
          <p:nvPr/>
        </p:nvSpPr>
        <p:spPr>
          <a:xfrm>
            <a:off x="762000" y="3238500"/>
            <a:ext cx="3048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F8FAFC"/>
                </a:solidFill>
                <a:latin typeface="Urbanist"/>
                <a:ea typeface="Urbanist"/>
                <a:cs typeface="Urbanist"/>
                <a:sym typeface="Urbanist"/>
              </a:rPr>
              <a:t>Recall Artışı</a:t>
            </a:r>
            <a:endParaRPr sz="1800" b="1">
              <a:solidFill>
                <a:srgbClr val="F8FAFC"/>
              </a:solidFill>
              <a:latin typeface="Urbanist"/>
              <a:ea typeface="Urbanist"/>
              <a:cs typeface="Urbanist"/>
              <a:sym typeface="Urbanist"/>
            </a:endParaRPr>
          </a:p>
        </p:txBody>
      </p:sp>
      <p:sp>
        <p:nvSpPr>
          <p:cNvPr id="634" name="Google Shape;634;p40"/>
          <p:cNvSpPr/>
          <p:nvPr/>
        </p:nvSpPr>
        <p:spPr>
          <a:xfrm>
            <a:off x="1666875" y="3762375"/>
            <a:ext cx="1238400" cy="1238400"/>
          </a:xfrm>
          <a:prstGeom prst="ellipse">
            <a:avLst/>
          </a:prstGeom>
          <a:solidFill>
            <a:srgbClr val="000000">
              <a:alpha val="0"/>
            </a:srgbClr>
          </a:solidFill>
          <a:ln w="76200"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635" name="Google Shape;635;p40"/>
          <p:cNvPicPr preferRelativeResize="0"/>
          <p:nvPr/>
        </p:nvPicPr>
        <p:blipFill rotWithShape="1">
          <a:blip r:embed="rId4">
            <a:alphaModFix/>
          </a:blip>
          <a:srcRect/>
          <a:stretch/>
        </p:blipFill>
        <p:spPr>
          <a:xfrm>
            <a:off x="2286000" y="3724275"/>
            <a:ext cx="652500" cy="566700"/>
          </a:xfrm>
          <a:prstGeom prst="rect">
            <a:avLst/>
          </a:prstGeom>
          <a:noFill/>
          <a:ln>
            <a:noFill/>
          </a:ln>
        </p:spPr>
      </p:pic>
      <p:sp>
        <p:nvSpPr>
          <p:cNvPr id="636" name="Google Shape;636;p40"/>
          <p:cNvSpPr txBox="1"/>
          <p:nvPr/>
        </p:nvSpPr>
        <p:spPr>
          <a:xfrm>
            <a:off x="1714500" y="4191000"/>
            <a:ext cx="1143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220" b="1" i="0" u="none" strike="noStrike">
                <a:solidFill>
                  <a:srgbClr val="60A5FA"/>
                </a:solidFill>
                <a:latin typeface="Inter"/>
                <a:ea typeface="Inter"/>
                <a:cs typeface="Inter"/>
                <a:sym typeface="Inter"/>
              </a:rPr>
              <a:t>+%5.5</a:t>
            </a:r>
            <a:endParaRPr sz="2220" b="1" i="0" u="none" strike="noStrike">
              <a:solidFill>
                <a:srgbClr val="60A5FA"/>
              </a:solidFill>
              <a:latin typeface="Inter"/>
              <a:ea typeface="Inter"/>
              <a:cs typeface="Inter"/>
              <a:sym typeface="Inter"/>
            </a:endParaRPr>
          </a:p>
        </p:txBody>
      </p:sp>
      <p:sp>
        <p:nvSpPr>
          <p:cNvPr id="637" name="Google Shape;637;p40"/>
          <p:cNvSpPr txBox="1"/>
          <p:nvPr/>
        </p:nvSpPr>
        <p:spPr>
          <a:xfrm>
            <a:off x="762000" y="5334000"/>
            <a:ext cx="3048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0" i="0" u="none" strike="noStrike">
                <a:solidFill>
                  <a:srgbClr val="CBD5E1"/>
                </a:solidFill>
                <a:latin typeface="Inter"/>
                <a:ea typeface="Inter"/>
                <a:cs typeface="Inter"/>
                <a:sym typeface="Inter"/>
              </a:rPr>
              <a:t>0.55 → 0.58</a:t>
            </a:r>
            <a:endParaRPr sz="1100" b="0" i="0" u="none" strike="noStrike">
              <a:solidFill>
                <a:srgbClr val="CBD5E1"/>
              </a:solidFill>
              <a:latin typeface="Inter"/>
              <a:ea typeface="Inter"/>
              <a:cs typeface="Inter"/>
              <a:sym typeface="Inter"/>
            </a:endParaRPr>
          </a:p>
          <a:p>
            <a:pPr marL="0" lvl="0" indent="0" algn="ctr" rtl="0">
              <a:spcBef>
                <a:spcPts val="375"/>
              </a:spcBef>
              <a:spcAft>
                <a:spcPts val="0"/>
              </a:spcAft>
              <a:buNone/>
            </a:pPr>
            <a:r>
              <a:rPr lang="en-US" sz="900" b="0" i="0" u="none" strike="noStrike">
                <a:solidFill>
                  <a:srgbClr val="94A3B8"/>
                </a:solidFill>
                <a:latin typeface="Inter"/>
                <a:ea typeface="Inter"/>
                <a:cs typeface="Inter"/>
                <a:sym typeface="Inter"/>
              </a:rPr>
              <a:t>Daha derin fine-tuning ile yakalanan pozitif vaka oranı arttı.</a:t>
            </a:r>
            <a:endParaRPr sz="900" b="0" i="0" u="none" strike="noStrike">
              <a:solidFill>
                <a:srgbClr val="CBD5E1"/>
              </a:solidFill>
              <a:latin typeface="Inter"/>
              <a:ea typeface="Inter"/>
              <a:cs typeface="Inter"/>
              <a:sym typeface="Inter"/>
            </a:endParaRPr>
          </a:p>
        </p:txBody>
      </p:sp>
      <p:sp>
        <p:nvSpPr>
          <p:cNvPr id="638" name="Google Shape;638;p40"/>
          <p:cNvSpPr/>
          <p:nvPr/>
        </p:nvSpPr>
        <p:spPr>
          <a:xfrm>
            <a:off x="4191000" y="3048000"/>
            <a:ext cx="3429000" cy="3238500"/>
          </a:xfrm>
          <a:prstGeom prst="roundRect">
            <a:avLst>
              <a:gd name="adj" fmla="val 3529"/>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9" name="Google Shape;639;p40"/>
          <p:cNvSpPr txBox="1"/>
          <p:nvPr/>
        </p:nvSpPr>
        <p:spPr>
          <a:xfrm>
            <a:off x="4381500" y="3238500"/>
            <a:ext cx="3048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F8FAFC"/>
                </a:solidFill>
                <a:latin typeface="Urbanist"/>
                <a:ea typeface="Urbanist"/>
                <a:cs typeface="Urbanist"/>
                <a:sym typeface="Urbanist"/>
              </a:rPr>
              <a:t>PR-AUC Gelişimi</a:t>
            </a:r>
            <a:endParaRPr sz="1800" b="1">
              <a:solidFill>
                <a:srgbClr val="F8FAFC"/>
              </a:solidFill>
              <a:latin typeface="Urbanist"/>
              <a:ea typeface="Urbanist"/>
              <a:cs typeface="Urbanist"/>
              <a:sym typeface="Urbanist"/>
            </a:endParaRPr>
          </a:p>
        </p:txBody>
      </p:sp>
      <p:sp>
        <p:nvSpPr>
          <p:cNvPr id="640" name="Google Shape;640;p40"/>
          <p:cNvSpPr/>
          <p:nvPr/>
        </p:nvSpPr>
        <p:spPr>
          <a:xfrm>
            <a:off x="5286375" y="3762375"/>
            <a:ext cx="1238400" cy="1238400"/>
          </a:xfrm>
          <a:prstGeom prst="ellipse">
            <a:avLst/>
          </a:prstGeom>
          <a:solidFill>
            <a:srgbClr val="000000">
              <a:alpha val="0"/>
            </a:srgbClr>
          </a:solidFill>
          <a:ln w="76200"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641" name="Google Shape;641;p40"/>
          <p:cNvPicPr preferRelativeResize="0"/>
          <p:nvPr/>
        </p:nvPicPr>
        <p:blipFill rotWithShape="1">
          <a:blip r:embed="rId5">
            <a:alphaModFix/>
          </a:blip>
          <a:srcRect/>
          <a:stretch/>
        </p:blipFill>
        <p:spPr>
          <a:xfrm>
            <a:off x="5905500" y="3724275"/>
            <a:ext cx="171600" cy="95400"/>
          </a:xfrm>
          <a:prstGeom prst="rect">
            <a:avLst/>
          </a:prstGeom>
          <a:noFill/>
          <a:ln>
            <a:noFill/>
          </a:ln>
        </p:spPr>
      </p:pic>
      <p:sp>
        <p:nvSpPr>
          <p:cNvPr id="642" name="Google Shape;642;p40"/>
          <p:cNvSpPr txBox="1"/>
          <p:nvPr/>
        </p:nvSpPr>
        <p:spPr>
          <a:xfrm>
            <a:off x="5334000" y="4191000"/>
            <a:ext cx="1143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220" b="1">
                <a:solidFill>
                  <a:srgbClr val="60A5FA"/>
                </a:solidFill>
                <a:latin typeface="Inter"/>
                <a:ea typeface="Inter"/>
                <a:cs typeface="Inter"/>
                <a:sym typeface="Inter"/>
              </a:rPr>
              <a:t>+%6.4</a:t>
            </a:r>
            <a:endParaRPr sz="2220" b="1">
              <a:solidFill>
                <a:srgbClr val="60A5FA"/>
              </a:solidFill>
              <a:latin typeface="Inter"/>
              <a:ea typeface="Inter"/>
              <a:cs typeface="Inter"/>
              <a:sym typeface="Inter"/>
            </a:endParaRPr>
          </a:p>
        </p:txBody>
      </p:sp>
      <p:sp>
        <p:nvSpPr>
          <p:cNvPr id="643" name="Google Shape;643;p40"/>
          <p:cNvSpPr txBox="1"/>
          <p:nvPr/>
        </p:nvSpPr>
        <p:spPr>
          <a:xfrm>
            <a:off x="4381500" y="5334000"/>
            <a:ext cx="3048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0">
                <a:solidFill>
                  <a:srgbClr val="CBD5E1"/>
                </a:solidFill>
                <a:latin typeface="Inter"/>
                <a:ea typeface="Inter"/>
                <a:cs typeface="Inter"/>
                <a:sym typeface="Inter"/>
              </a:rPr>
              <a:t>0.4449 → 0.4734</a:t>
            </a:r>
            <a:endParaRPr sz="1100" b="0">
              <a:solidFill>
                <a:srgbClr val="CBD5E1"/>
              </a:solidFill>
              <a:latin typeface="Inter"/>
              <a:ea typeface="Inter"/>
              <a:cs typeface="Inter"/>
              <a:sym typeface="Inter"/>
            </a:endParaRPr>
          </a:p>
          <a:p>
            <a:pPr marL="0" lvl="0" indent="0" algn="ctr" rtl="0">
              <a:spcBef>
                <a:spcPts val="375"/>
              </a:spcBef>
              <a:spcAft>
                <a:spcPts val="0"/>
              </a:spcAft>
              <a:buNone/>
            </a:pPr>
            <a:r>
              <a:rPr lang="en-US" sz="900" b="0">
                <a:solidFill>
                  <a:srgbClr val="94A3B8"/>
                </a:solidFill>
                <a:latin typeface="Inter"/>
                <a:ea typeface="Inter"/>
                <a:cs typeface="Inter"/>
                <a:sym typeface="Inter"/>
              </a:rPr>
              <a:t>Yüksek batch size ve regülasyon hassasiyeti artırdı.</a:t>
            </a:r>
            <a:endParaRPr sz="900" b="0">
              <a:solidFill>
                <a:srgbClr val="CBD5E1"/>
              </a:solidFill>
              <a:latin typeface="Inter"/>
              <a:ea typeface="Inter"/>
              <a:cs typeface="Inter"/>
              <a:sym typeface="Inter"/>
            </a:endParaRPr>
          </a:p>
        </p:txBody>
      </p:sp>
      <p:pic>
        <p:nvPicPr>
          <p:cNvPr id="644" name="Google Shape;644;p40" descr="A high-tech medical data visualization showing comparative bar charts and neural network activity with neon blue highlights on a dark background. Professional dashboard style."/>
          <p:cNvPicPr preferRelativeResize="0"/>
          <p:nvPr/>
        </p:nvPicPr>
        <p:blipFill rotWithShape="1">
          <a:blip r:embed="rId6">
            <a:alphaModFix/>
          </a:blip>
          <a:srcRect l="19712" r="19712"/>
          <a:stretch/>
        </p:blipFill>
        <p:spPr>
          <a:xfrm>
            <a:off x="7810500" y="1333500"/>
            <a:ext cx="4000500" cy="4953000"/>
          </a:xfrm>
          <a:prstGeom prst="roundRect">
            <a:avLst>
              <a:gd name="adj" fmla="val 4761"/>
            </a:avLst>
          </a:prstGeom>
          <a:noFill/>
          <a:ln>
            <a:noFill/>
          </a:ln>
        </p:spPr>
      </p:pic>
      <p:sp>
        <p:nvSpPr>
          <p:cNvPr id="645" name="Google Shape;645;p40"/>
          <p:cNvSpPr/>
          <p:nvPr/>
        </p:nvSpPr>
        <p:spPr>
          <a:xfrm>
            <a:off x="7810500" y="1333500"/>
            <a:ext cx="4000500" cy="4953000"/>
          </a:xfrm>
          <a:prstGeom prst="roundRect">
            <a:avLst>
              <a:gd name="adj" fmla="val 4761"/>
            </a:avLst>
          </a:prstGeom>
          <a:solidFill>
            <a:srgbClr val="000000">
              <a:alpha val="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49"/>
        <p:cNvGrpSpPr/>
        <p:nvPr/>
      </p:nvGrpSpPr>
      <p:grpSpPr>
        <a:xfrm>
          <a:off x="0" y="0"/>
          <a:ext cx="0" cy="0"/>
          <a:chOff x="0" y="0"/>
          <a:chExt cx="0" cy="0"/>
        </a:xfrm>
      </p:grpSpPr>
      <p:sp>
        <p:nvSpPr>
          <p:cNvPr id="650" name="Google Shape;650;p41"/>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1" name="Google Shape;651;p41"/>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MODEL 4</a:t>
            </a:r>
            <a:endParaRPr sz="3200" b="1">
              <a:solidFill>
                <a:srgbClr val="60A5FA"/>
              </a:solidFill>
              <a:latin typeface="Urbanist"/>
              <a:ea typeface="Urbanist"/>
              <a:cs typeface="Urbanist"/>
              <a:sym typeface="Urbanist"/>
            </a:endParaRPr>
          </a:p>
        </p:txBody>
      </p:sp>
      <p:grpSp>
        <p:nvGrpSpPr>
          <p:cNvPr id="652" name="Google Shape;652;p41"/>
          <p:cNvGrpSpPr/>
          <p:nvPr/>
        </p:nvGrpSpPr>
        <p:grpSpPr>
          <a:xfrm>
            <a:off x="571500" y="1333500"/>
            <a:ext cx="3429000" cy="2381400"/>
            <a:chOff x="571500" y="1333500"/>
            <a:chExt cx="3429000" cy="2381400"/>
          </a:xfrm>
        </p:grpSpPr>
        <p:sp>
          <p:nvSpPr>
            <p:cNvPr id="653" name="Google Shape;653;p41"/>
            <p:cNvSpPr/>
            <p:nvPr/>
          </p:nvSpPr>
          <p:spPr>
            <a:xfrm>
              <a:off x="571500" y="1333500"/>
              <a:ext cx="3429000" cy="2381400"/>
            </a:xfrm>
            <a:prstGeom prst="roundRect">
              <a:avLst>
                <a:gd name="adj" fmla="val 48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4" name="Google Shape;654;p41"/>
            <p:cNvSpPr txBox="1"/>
            <p:nvPr/>
          </p:nvSpPr>
          <p:spPr>
            <a:xfrm>
              <a:off x="762000" y="1559052"/>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655" name="Google Shape;655;p41"/>
            <p:cNvSpPr txBox="1"/>
            <p:nvPr/>
          </p:nvSpPr>
          <p:spPr>
            <a:xfrm>
              <a:off x="1238250" y="1524000"/>
              <a:ext cx="2571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Mimari</a:t>
              </a:r>
              <a:endParaRPr sz="2000" b="1">
                <a:solidFill>
                  <a:srgbClr val="F8FAFC"/>
                </a:solidFill>
                <a:latin typeface="Urbanist"/>
                <a:ea typeface="Urbanist"/>
                <a:cs typeface="Urbanist"/>
                <a:sym typeface="Urbanist"/>
              </a:endParaRPr>
            </a:p>
          </p:txBody>
        </p:sp>
        <p:sp>
          <p:nvSpPr>
            <p:cNvPr id="656" name="Google Shape;656;p41"/>
            <p:cNvSpPr txBox="1"/>
            <p:nvPr/>
          </p:nvSpPr>
          <p:spPr>
            <a:xfrm>
              <a:off x="762000" y="2047875"/>
              <a:ext cx="3048000" cy="1476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0">
                  <a:solidFill>
                    <a:srgbClr val="F8FAFC"/>
                  </a:solidFill>
                  <a:latin typeface="Inter"/>
                  <a:ea typeface="Inter"/>
                  <a:cs typeface="Inter"/>
                  <a:sym typeface="Inter"/>
                </a:rPr>
                <a:t>• EfficientNetB0</a:t>
              </a:r>
              <a:endParaRPr sz="1300" b="0">
                <a:solidFill>
                  <a:srgbClr val="F8FAFC"/>
                </a:solidFill>
                <a:latin typeface="Inter"/>
                <a:ea typeface="Inter"/>
                <a:cs typeface="Inter"/>
                <a:sym typeface="Inter"/>
              </a:endParaRPr>
            </a:p>
            <a:p>
              <a:pPr marL="0" lvl="0" indent="0" algn="l" rtl="0">
                <a:spcBef>
                  <a:spcPts val="400"/>
                </a:spcBef>
                <a:spcAft>
                  <a:spcPts val="0"/>
                </a:spcAft>
                <a:buNone/>
              </a:pPr>
              <a:r>
                <a:rPr lang="en-US" sz="1300" b="0">
                  <a:solidFill>
                    <a:srgbClr val="F8FAFC"/>
                  </a:solidFill>
                  <a:latin typeface="Inter"/>
                  <a:ea typeface="Inter"/>
                  <a:cs typeface="Inter"/>
                  <a:sym typeface="Inter"/>
                </a:rPr>
                <a:t>• Base Line Model: 45</a:t>
              </a:r>
              <a:endParaRPr sz="1300" b="0">
                <a:solidFill>
                  <a:srgbClr val="F8FAFC"/>
                </a:solidFill>
                <a:latin typeface="Inter"/>
                <a:ea typeface="Inter"/>
                <a:cs typeface="Inter"/>
                <a:sym typeface="Inter"/>
              </a:endParaRPr>
            </a:p>
            <a:p>
              <a:pPr marL="0" lvl="0" indent="0" algn="l" rtl="0">
                <a:spcBef>
                  <a:spcPts val="400"/>
                </a:spcBef>
                <a:spcAft>
                  <a:spcPts val="0"/>
                </a:spcAft>
                <a:buNone/>
              </a:pPr>
              <a:r>
                <a:rPr lang="en-US" sz="1300" b="0">
                  <a:solidFill>
                    <a:srgbClr val="F8FAFC"/>
                  </a:solidFill>
                  <a:latin typeface="Inter"/>
                  <a:ea typeface="Inter"/>
                  <a:cs typeface="Inter"/>
                  <a:sym typeface="Inter"/>
                </a:rPr>
                <a:t>• Dropout: 0.45</a:t>
              </a:r>
              <a:endParaRPr sz="1300" b="0">
                <a:solidFill>
                  <a:srgbClr val="F8FAFC"/>
                </a:solidFill>
                <a:latin typeface="Inter"/>
                <a:ea typeface="Inter"/>
                <a:cs typeface="Inter"/>
                <a:sym typeface="Inter"/>
              </a:endParaRPr>
            </a:p>
            <a:p>
              <a:pPr marL="0" lvl="0" indent="0" algn="l" rtl="0">
                <a:spcBef>
                  <a:spcPts val="400"/>
                </a:spcBef>
                <a:spcAft>
                  <a:spcPts val="0"/>
                </a:spcAft>
                <a:buNone/>
              </a:pPr>
              <a:r>
                <a:rPr lang="en-US" sz="1300" b="0">
                  <a:solidFill>
                    <a:srgbClr val="F8FAFC"/>
                  </a:solidFill>
                  <a:latin typeface="Inter"/>
                  <a:ea typeface="Inter"/>
                  <a:cs typeface="Inter"/>
                  <a:sym typeface="Inter"/>
                </a:rPr>
                <a:t>• Aktivasyon: Sigmoid</a:t>
              </a:r>
              <a:endParaRPr sz="1300" b="0">
                <a:solidFill>
                  <a:srgbClr val="F8FAFC"/>
                </a:solidFill>
                <a:latin typeface="Inter"/>
                <a:ea typeface="Inter"/>
                <a:cs typeface="Inter"/>
                <a:sym typeface="Inter"/>
              </a:endParaRPr>
            </a:p>
            <a:p>
              <a:pPr marL="0" lvl="0" indent="0" algn="l" rtl="0">
                <a:spcBef>
                  <a:spcPts val="400"/>
                </a:spcBef>
                <a:spcAft>
                  <a:spcPts val="400"/>
                </a:spcAft>
                <a:buNone/>
              </a:pPr>
              <a:r>
                <a:rPr lang="en-US" sz="1300" b="0">
                  <a:solidFill>
                    <a:srgbClr val="F8FAFC"/>
                  </a:solidFill>
                  <a:latin typeface="Inter"/>
                  <a:ea typeface="Inter"/>
                  <a:cs typeface="Inter"/>
                  <a:sym typeface="Inter"/>
                </a:rPr>
                <a:t>• Batch Size: 64</a:t>
              </a:r>
              <a:endParaRPr sz="1300" b="0">
                <a:solidFill>
                  <a:srgbClr val="F8FAFC"/>
                </a:solidFill>
                <a:latin typeface="Inter"/>
                <a:ea typeface="Inter"/>
                <a:cs typeface="Inter"/>
                <a:sym typeface="Inter"/>
              </a:endParaRPr>
            </a:p>
          </p:txBody>
        </p:sp>
      </p:grpSp>
      <p:grpSp>
        <p:nvGrpSpPr>
          <p:cNvPr id="657" name="Google Shape;657;p41"/>
          <p:cNvGrpSpPr/>
          <p:nvPr/>
        </p:nvGrpSpPr>
        <p:grpSpPr>
          <a:xfrm>
            <a:off x="4191000" y="1333500"/>
            <a:ext cx="3429000" cy="2381400"/>
            <a:chOff x="4191000" y="1333500"/>
            <a:chExt cx="3429000" cy="2381400"/>
          </a:xfrm>
        </p:grpSpPr>
        <p:sp>
          <p:nvSpPr>
            <p:cNvPr id="658" name="Google Shape;658;p41"/>
            <p:cNvSpPr/>
            <p:nvPr/>
          </p:nvSpPr>
          <p:spPr>
            <a:xfrm>
              <a:off x="4191000" y="1333500"/>
              <a:ext cx="3429000" cy="2381400"/>
            </a:xfrm>
            <a:prstGeom prst="roundRect">
              <a:avLst>
                <a:gd name="adj" fmla="val 48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9" name="Google Shape;659;p41"/>
            <p:cNvSpPr txBox="1"/>
            <p:nvPr/>
          </p:nvSpPr>
          <p:spPr>
            <a:xfrm>
              <a:off x="4381500" y="1559052"/>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660" name="Google Shape;660;p41"/>
            <p:cNvSpPr txBox="1"/>
            <p:nvPr/>
          </p:nvSpPr>
          <p:spPr>
            <a:xfrm>
              <a:off x="4857750" y="1524000"/>
              <a:ext cx="2571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Eğitim Süreci</a:t>
              </a:r>
              <a:endParaRPr sz="2000" b="1">
                <a:solidFill>
                  <a:srgbClr val="F8FAFC"/>
                </a:solidFill>
                <a:latin typeface="Urbanist"/>
                <a:ea typeface="Urbanist"/>
                <a:cs typeface="Urbanist"/>
                <a:sym typeface="Urbanist"/>
              </a:endParaRPr>
            </a:p>
          </p:txBody>
        </p:sp>
        <p:sp>
          <p:nvSpPr>
            <p:cNvPr id="661" name="Google Shape;661;p41"/>
            <p:cNvSpPr txBox="1"/>
            <p:nvPr/>
          </p:nvSpPr>
          <p:spPr>
            <a:xfrm>
              <a:off x="4381500" y="2047875"/>
              <a:ext cx="3048000" cy="1476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60A5FA"/>
                  </a:solidFill>
                  <a:latin typeface="Inter"/>
                  <a:ea typeface="Inter"/>
                  <a:cs typeface="Inter"/>
                  <a:sym typeface="Inter"/>
                </a:rPr>
                <a:t>Aşama 1 (Klasik)</a:t>
              </a:r>
              <a:endParaRPr sz="1300" b="1">
                <a:solidFill>
                  <a:srgbClr val="60A5FA"/>
                </a:solidFill>
                <a:latin typeface="Inter"/>
                <a:ea typeface="Inter"/>
                <a:cs typeface="Inter"/>
                <a:sym typeface="Inter"/>
              </a:endParaRPr>
            </a:p>
            <a:p>
              <a:pPr marL="0" lvl="0" indent="0" algn="l" rtl="0">
                <a:spcBef>
                  <a:spcPts val="0"/>
                </a:spcBef>
                <a:spcAft>
                  <a:spcPts val="0"/>
                </a:spcAft>
                <a:buNone/>
              </a:pPr>
              <a:r>
                <a:rPr lang="en-US" sz="1100" b="0">
                  <a:solidFill>
                    <a:srgbClr val="CBD5E1"/>
                  </a:solidFill>
                  <a:latin typeface="Inter"/>
                  <a:ea typeface="Inter"/>
                  <a:cs typeface="Inter"/>
                  <a:sym typeface="Inter"/>
                </a:rPr>
                <a:t>LR: 0.0005 | 35 Epoch | Adam</a:t>
              </a:r>
              <a:endParaRPr sz="1100" b="0">
                <a:solidFill>
                  <a:srgbClr val="CBD5E1"/>
                </a:solidFill>
                <a:latin typeface="Inter"/>
                <a:ea typeface="Inter"/>
                <a:cs typeface="Inter"/>
                <a:sym typeface="Inter"/>
              </a:endParaRPr>
            </a:p>
            <a:p>
              <a:pPr marL="0" lvl="0" indent="0" algn="l" rtl="0">
                <a:spcBef>
                  <a:spcPts val="600"/>
                </a:spcBef>
                <a:spcAft>
                  <a:spcPts val="0"/>
                </a:spcAft>
                <a:buNone/>
              </a:pPr>
              <a:r>
                <a:rPr lang="en-US" sz="1300" b="1">
                  <a:solidFill>
                    <a:srgbClr val="60A5FA"/>
                  </a:solidFill>
                  <a:latin typeface="Inter"/>
                  <a:ea typeface="Inter"/>
                  <a:cs typeface="Inter"/>
                  <a:sym typeface="Inter"/>
                </a:rPr>
                <a:t>Aşama 2 (Fine-Tuning)</a:t>
              </a:r>
              <a:endParaRPr sz="1300" b="1">
                <a:solidFill>
                  <a:srgbClr val="60A5FA"/>
                </a:solidFill>
                <a:latin typeface="Inter"/>
                <a:ea typeface="Inter"/>
                <a:cs typeface="Inter"/>
                <a:sym typeface="Inter"/>
              </a:endParaRPr>
            </a:p>
            <a:p>
              <a:pPr marL="0" lvl="0" indent="0" algn="l" rtl="0">
                <a:spcBef>
                  <a:spcPts val="0"/>
                </a:spcBef>
                <a:spcAft>
                  <a:spcPts val="0"/>
                </a:spcAft>
                <a:buNone/>
              </a:pPr>
              <a:r>
                <a:rPr lang="en-US" sz="1100" b="0">
                  <a:solidFill>
                    <a:srgbClr val="CBD5E1"/>
                  </a:solidFill>
                  <a:latin typeface="Inter"/>
                  <a:ea typeface="Inter"/>
                  <a:cs typeface="Inter"/>
                  <a:sym typeface="Inter"/>
                </a:rPr>
                <a:t>Son 45 Katman Eğitilebilir | LR: 1e-5 | 35 Epoch</a:t>
              </a:r>
              <a:endParaRPr sz="1100" b="0">
                <a:solidFill>
                  <a:srgbClr val="CBD5E1"/>
                </a:solidFill>
                <a:latin typeface="Inter"/>
                <a:ea typeface="Inter"/>
                <a:cs typeface="Inter"/>
                <a:sym typeface="Inter"/>
              </a:endParaRPr>
            </a:p>
          </p:txBody>
        </p:sp>
      </p:grpSp>
      <p:grpSp>
        <p:nvGrpSpPr>
          <p:cNvPr id="662" name="Google Shape;662;p41"/>
          <p:cNvGrpSpPr/>
          <p:nvPr/>
        </p:nvGrpSpPr>
        <p:grpSpPr>
          <a:xfrm>
            <a:off x="571500" y="3810000"/>
            <a:ext cx="7048500" cy="1095300"/>
            <a:chOff x="571500" y="3810000"/>
            <a:chExt cx="7048500" cy="1095300"/>
          </a:xfrm>
        </p:grpSpPr>
        <p:sp>
          <p:nvSpPr>
            <p:cNvPr id="663" name="Google Shape;663;p41"/>
            <p:cNvSpPr/>
            <p:nvPr/>
          </p:nvSpPr>
          <p:spPr>
            <a:xfrm>
              <a:off x="571500" y="3810000"/>
              <a:ext cx="7048500" cy="1095300"/>
            </a:xfrm>
            <a:prstGeom prst="roundRect">
              <a:avLst>
                <a:gd name="adj" fmla="val 10434"/>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4" name="Google Shape;664;p41"/>
            <p:cNvSpPr txBox="1"/>
            <p:nvPr/>
          </p:nvSpPr>
          <p:spPr>
            <a:xfrm>
              <a:off x="762000" y="4149852"/>
              <a:ext cx="4764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665" name="Google Shape;665;p41"/>
            <p:cNvSpPr txBox="1"/>
            <p:nvPr/>
          </p:nvSpPr>
          <p:spPr>
            <a:xfrm>
              <a:off x="1333500" y="3952875"/>
              <a:ext cx="60960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F8FAFC"/>
                  </a:solidFill>
                  <a:latin typeface="Urbanist"/>
                  <a:ea typeface="Urbanist"/>
                  <a:cs typeface="Urbanist"/>
                  <a:sym typeface="Urbanist"/>
                </a:rPr>
                <a:t>Threshold Stratejisi</a:t>
              </a:r>
              <a:endParaRPr sz="2000" b="1">
                <a:solidFill>
                  <a:srgbClr val="F8FAFC"/>
                </a:solidFill>
                <a:latin typeface="Urbanist"/>
                <a:ea typeface="Urbanist"/>
                <a:cs typeface="Urbanist"/>
                <a:sym typeface="Urbanist"/>
              </a:endParaRPr>
            </a:p>
            <a:p>
              <a:pPr marL="0" lvl="0" indent="0" algn="l" rtl="0">
                <a:spcBef>
                  <a:spcPts val="0"/>
                </a:spcBef>
                <a:spcAft>
                  <a:spcPts val="0"/>
                </a:spcAft>
                <a:buNone/>
              </a:pPr>
              <a:r>
                <a:rPr lang="en-US" sz="1100" b="0">
                  <a:solidFill>
                    <a:srgbClr val="CBD5E1"/>
                  </a:solidFill>
                  <a:latin typeface="Inter"/>
                  <a:ea typeface="Inter"/>
                  <a:cs typeface="Inter"/>
                  <a:sym typeface="Inter"/>
                </a:rPr>
                <a:t>Validasyon setine göre optimize edilmiş el ile ayarlanmış özel eşikler</a:t>
              </a:r>
              <a:endParaRPr sz="1100" b="0">
                <a:solidFill>
                  <a:srgbClr val="CBD5E1"/>
                </a:solidFill>
                <a:latin typeface="Inter"/>
                <a:ea typeface="Inter"/>
                <a:cs typeface="Inter"/>
                <a:sym typeface="Inter"/>
              </a:endParaRPr>
            </a:p>
          </p:txBody>
        </p:sp>
      </p:grpSp>
      <p:grpSp>
        <p:nvGrpSpPr>
          <p:cNvPr id="666" name="Google Shape;666;p41"/>
          <p:cNvGrpSpPr/>
          <p:nvPr/>
        </p:nvGrpSpPr>
        <p:grpSpPr>
          <a:xfrm>
            <a:off x="571500" y="5048250"/>
            <a:ext cx="7048500" cy="1428900"/>
            <a:chOff x="571500" y="5048250"/>
            <a:chExt cx="7048500" cy="1428900"/>
          </a:xfrm>
        </p:grpSpPr>
        <p:sp>
          <p:nvSpPr>
            <p:cNvPr id="667" name="Google Shape;667;p41"/>
            <p:cNvSpPr/>
            <p:nvPr/>
          </p:nvSpPr>
          <p:spPr>
            <a:xfrm>
              <a:off x="571500" y="5048250"/>
              <a:ext cx="7048500" cy="1428900"/>
            </a:xfrm>
            <a:prstGeom prst="roundRect">
              <a:avLst>
                <a:gd name="adj" fmla="val 8000"/>
              </a:avLst>
            </a:prstGeom>
            <a:solidFill>
              <a:srgbClr val="1E293B">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8" name="Google Shape;668;p41"/>
            <p:cNvSpPr txBox="1"/>
            <p:nvPr/>
          </p:nvSpPr>
          <p:spPr>
            <a:xfrm>
              <a:off x="762000" y="5191125"/>
              <a:ext cx="1905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CBD5E1"/>
                  </a:solidFill>
                  <a:latin typeface="Urbanist"/>
                  <a:ea typeface="Urbanist"/>
                  <a:cs typeface="Urbanist"/>
                  <a:sym typeface="Urbanist"/>
                </a:rPr>
                <a:t>Performans Özeti</a:t>
              </a:r>
              <a:endParaRPr sz="1400" b="1">
                <a:solidFill>
                  <a:srgbClr val="CBD5E1"/>
                </a:solidFill>
                <a:latin typeface="Urbanist"/>
                <a:ea typeface="Urbanist"/>
                <a:cs typeface="Urbanist"/>
                <a:sym typeface="Urbanist"/>
              </a:endParaRPr>
            </a:p>
          </p:txBody>
        </p:sp>
        <p:grpSp>
          <p:nvGrpSpPr>
            <p:cNvPr id="669" name="Google Shape;669;p41"/>
            <p:cNvGrpSpPr/>
            <p:nvPr/>
          </p:nvGrpSpPr>
          <p:grpSpPr>
            <a:xfrm>
              <a:off x="762000" y="5572125"/>
              <a:ext cx="1524000" cy="762000"/>
              <a:chOff x="762000" y="5572125"/>
              <a:chExt cx="1524000" cy="762000"/>
            </a:xfrm>
          </p:grpSpPr>
          <p:sp>
            <p:nvSpPr>
              <p:cNvPr id="670" name="Google Shape;670;p41"/>
              <p:cNvSpPr/>
              <p:nvPr/>
            </p:nvSpPr>
            <p:spPr>
              <a:xfrm>
                <a:off x="7620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1" name="Google Shape;671;p41"/>
              <p:cNvSpPr txBox="1"/>
              <p:nvPr/>
            </p:nvSpPr>
            <p:spPr>
              <a:xfrm>
                <a:off x="762000" y="5667375"/>
                <a:ext cx="15240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i="0">
                    <a:solidFill>
                      <a:srgbClr val="CBD5E1"/>
                    </a:solidFill>
                    <a:latin typeface="Urbanist"/>
                    <a:ea typeface="Urbanist"/>
                    <a:cs typeface="Urbanist"/>
                    <a:sym typeface="Urbanist"/>
                  </a:rPr>
                  <a:t>Macro F1</a:t>
                </a:r>
                <a:endParaRPr sz="1400" b="1" i="0">
                  <a:solidFill>
                    <a:srgbClr val="CBD5E1"/>
                  </a:solidFill>
                  <a:latin typeface="Urbanist"/>
                  <a:ea typeface="Urbanist"/>
                  <a:cs typeface="Urbanist"/>
                  <a:sym typeface="Urbanist"/>
                </a:endParaRPr>
              </a:p>
            </p:txBody>
          </p:sp>
          <p:sp>
            <p:nvSpPr>
              <p:cNvPr id="672" name="Google Shape;672;p41"/>
              <p:cNvSpPr txBox="1"/>
              <p:nvPr/>
            </p:nvSpPr>
            <p:spPr>
              <a:xfrm>
                <a:off x="762000" y="5953125"/>
                <a:ext cx="1524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i="0">
                    <a:solidFill>
                      <a:srgbClr val="60A5FA"/>
                    </a:solidFill>
                    <a:latin typeface="Inter"/>
                    <a:ea typeface="Inter"/>
                    <a:cs typeface="Inter"/>
                    <a:sym typeface="Inter"/>
                  </a:rPr>
                  <a:t>0.4454</a:t>
                </a:r>
                <a:endParaRPr sz="2000" b="1" i="0">
                  <a:solidFill>
                    <a:srgbClr val="60A5FA"/>
                  </a:solidFill>
                  <a:latin typeface="Inter"/>
                  <a:ea typeface="Inter"/>
                  <a:cs typeface="Inter"/>
                  <a:sym typeface="Inter"/>
                </a:endParaRPr>
              </a:p>
            </p:txBody>
          </p:sp>
        </p:grpSp>
        <p:grpSp>
          <p:nvGrpSpPr>
            <p:cNvPr id="673" name="Google Shape;673;p41"/>
            <p:cNvGrpSpPr/>
            <p:nvPr/>
          </p:nvGrpSpPr>
          <p:grpSpPr>
            <a:xfrm>
              <a:off x="2476500" y="5572125"/>
              <a:ext cx="1524000" cy="762000"/>
              <a:chOff x="2476500" y="5572125"/>
              <a:chExt cx="1524000" cy="762000"/>
            </a:xfrm>
          </p:grpSpPr>
          <p:sp>
            <p:nvSpPr>
              <p:cNvPr id="674" name="Google Shape;674;p41"/>
              <p:cNvSpPr/>
              <p:nvPr/>
            </p:nvSpPr>
            <p:spPr>
              <a:xfrm>
                <a:off x="24765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5" name="Google Shape;675;p41"/>
              <p:cNvSpPr txBox="1"/>
              <p:nvPr/>
            </p:nvSpPr>
            <p:spPr>
              <a:xfrm>
                <a:off x="2476500" y="5667375"/>
                <a:ext cx="15240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i="0">
                    <a:solidFill>
                      <a:srgbClr val="CBD5E1"/>
                    </a:solidFill>
                    <a:latin typeface="Urbanist"/>
                    <a:ea typeface="Urbanist"/>
                    <a:cs typeface="Urbanist"/>
                    <a:sym typeface="Urbanist"/>
                  </a:rPr>
                  <a:t>Macro Recall</a:t>
                </a:r>
                <a:endParaRPr sz="1400" b="1" i="0">
                  <a:solidFill>
                    <a:srgbClr val="CBD5E1"/>
                  </a:solidFill>
                  <a:latin typeface="Urbanist"/>
                  <a:ea typeface="Urbanist"/>
                  <a:cs typeface="Urbanist"/>
                  <a:sym typeface="Urbanist"/>
                </a:endParaRPr>
              </a:p>
            </p:txBody>
          </p:sp>
          <p:sp>
            <p:nvSpPr>
              <p:cNvPr id="676" name="Google Shape;676;p41"/>
              <p:cNvSpPr txBox="1"/>
              <p:nvPr/>
            </p:nvSpPr>
            <p:spPr>
              <a:xfrm>
                <a:off x="2476500" y="5953125"/>
                <a:ext cx="1524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i="0">
                    <a:solidFill>
                      <a:srgbClr val="60A5FA"/>
                    </a:solidFill>
                    <a:latin typeface="Inter"/>
                    <a:ea typeface="Inter"/>
                    <a:cs typeface="Inter"/>
                    <a:sym typeface="Inter"/>
                  </a:rPr>
                  <a:t>0.5836</a:t>
                </a:r>
                <a:endParaRPr sz="2000" b="1" i="0">
                  <a:solidFill>
                    <a:srgbClr val="60A5FA"/>
                  </a:solidFill>
                  <a:latin typeface="Inter"/>
                  <a:ea typeface="Inter"/>
                  <a:cs typeface="Inter"/>
                  <a:sym typeface="Inter"/>
                </a:endParaRPr>
              </a:p>
            </p:txBody>
          </p:sp>
        </p:grpSp>
        <p:grpSp>
          <p:nvGrpSpPr>
            <p:cNvPr id="677" name="Google Shape;677;p41"/>
            <p:cNvGrpSpPr/>
            <p:nvPr/>
          </p:nvGrpSpPr>
          <p:grpSpPr>
            <a:xfrm>
              <a:off x="4191000" y="5572125"/>
              <a:ext cx="1524000" cy="762000"/>
              <a:chOff x="4191000" y="5572125"/>
              <a:chExt cx="1524000" cy="762000"/>
            </a:xfrm>
          </p:grpSpPr>
          <p:sp>
            <p:nvSpPr>
              <p:cNvPr id="678" name="Google Shape;678;p41"/>
              <p:cNvSpPr/>
              <p:nvPr/>
            </p:nvSpPr>
            <p:spPr>
              <a:xfrm>
                <a:off x="41910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9" name="Google Shape;679;p41"/>
              <p:cNvSpPr txBox="1"/>
              <p:nvPr/>
            </p:nvSpPr>
            <p:spPr>
              <a:xfrm>
                <a:off x="4191000" y="5667375"/>
                <a:ext cx="15240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i="0">
                    <a:solidFill>
                      <a:srgbClr val="CBD5E1"/>
                    </a:solidFill>
                    <a:latin typeface="Urbanist"/>
                    <a:ea typeface="Urbanist"/>
                    <a:cs typeface="Urbanist"/>
                    <a:sym typeface="Urbanist"/>
                  </a:rPr>
                  <a:t>Macro ROC-AUC</a:t>
                </a:r>
                <a:endParaRPr sz="1400" b="1" i="0">
                  <a:solidFill>
                    <a:srgbClr val="CBD5E1"/>
                  </a:solidFill>
                  <a:latin typeface="Urbanist"/>
                  <a:ea typeface="Urbanist"/>
                  <a:cs typeface="Urbanist"/>
                  <a:sym typeface="Urbanist"/>
                </a:endParaRPr>
              </a:p>
            </p:txBody>
          </p:sp>
          <p:sp>
            <p:nvSpPr>
              <p:cNvPr id="680" name="Google Shape;680;p41"/>
              <p:cNvSpPr txBox="1"/>
              <p:nvPr/>
            </p:nvSpPr>
            <p:spPr>
              <a:xfrm>
                <a:off x="4191000" y="5953125"/>
                <a:ext cx="1524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i="0">
                    <a:solidFill>
                      <a:srgbClr val="60A5FA"/>
                    </a:solidFill>
                    <a:latin typeface="Inter"/>
                    <a:ea typeface="Inter"/>
                    <a:cs typeface="Inter"/>
                    <a:sym typeface="Inter"/>
                  </a:rPr>
                  <a:t>0.7805</a:t>
                </a:r>
                <a:endParaRPr sz="2000" b="1" i="0">
                  <a:solidFill>
                    <a:srgbClr val="60A5FA"/>
                  </a:solidFill>
                  <a:latin typeface="Inter"/>
                  <a:ea typeface="Inter"/>
                  <a:cs typeface="Inter"/>
                  <a:sym typeface="Inter"/>
                </a:endParaRPr>
              </a:p>
            </p:txBody>
          </p:sp>
        </p:grpSp>
        <p:grpSp>
          <p:nvGrpSpPr>
            <p:cNvPr id="681" name="Google Shape;681;p41"/>
            <p:cNvGrpSpPr/>
            <p:nvPr/>
          </p:nvGrpSpPr>
          <p:grpSpPr>
            <a:xfrm>
              <a:off x="5905500" y="5572125"/>
              <a:ext cx="1524000" cy="762000"/>
              <a:chOff x="5905500" y="5572125"/>
              <a:chExt cx="1524000" cy="762000"/>
            </a:xfrm>
          </p:grpSpPr>
          <p:sp>
            <p:nvSpPr>
              <p:cNvPr id="682" name="Google Shape;682;p41"/>
              <p:cNvSpPr/>
              <p:nvPr/>
            </p:nvSpPr>
            <p:spPr>
              <a:xfrm>
                <a:off x="5905500" y="5572125"/>
                <a:ext cx="1524000" cy="762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3" name="Google Shape;683;p41"/>
              <p:cNvSpPr txBox="1"/>
              <p:nvPr/>
            </p:nvSpPr>
            <p:spPr>
              <a:xfrm>
                <a:off x="5905500" y="5667375"/>
                <a:ext cx="15240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i="0">
                    <a:solidFill>
                      <a:srgbClr val="CBD5E1"/>
                    </a:solidFill>
                    <a:latin typeface="Urbanist"/>
                    <a:ea typeface="Urbanist"/>
                    <a:cs typeface="Urbanist"/>
                    <a:sym typeface="Urbanist"/>
                  </a:rPr>
                  <a:t>Macro PR-AUC</a:t>
                </a:r>
                <a:endParaRPr sz="1400" b="1" i="0">
                  <a:solidFill>
                    <a:srgbClr val="CBD5E1"/>
                  </a:solidFill>
                  <a:latin typeface="Urbanist"/>
                  <a:ea typeface="Urbanist"/>
                  <a:cs typeface="Urbanist"/>
                  <a:sym typeface="Urbanist"/>
                </a:endParaRPr>
              </a:p>
            </p:txBody>
          </p:sp>
          <p:sp>
            <p:nvSpPr>
              <p:cNvPr id="684" name="Google Shape;684;p41"/>
              <p:cNvSpPr txBox="1"/>
              <p:nvPr/>
            </p:nvSpPr>
            <p:spPr>
              <a:xfrm>
                <a:off x="5905500" y="5953125"/>
                <a:ext cx="1524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i="0">
                    <a:solidFill>
                      <a:srgbClr val="60A5FA"/>
                    </a:solidFill>
                    <a:latin typeface="Inter"/>
                    <a:ea typeface="Inter"/>
                    <a:cs typeface="Inter"/>
                    <a:sym typeface="Inter"/>
                  </a:rPr>
                  <a:t>0.4583</a:t>
                </a:r>
                <a:endParaRPr sz="2000" b="1" i="0">
                  <a:solidFill>
                    <a:srgbClr val="60A5FA"/>
                  </a:solidFill>
                  <a:latin typeface="Inter"/>
                  <a:ea typeface="Inter"/>
                  <a:cs typeface="Inter"/>
                  <a:sym typeface="Inter"/>
                </a:endParaRPr>
              </a:p>
            </p:txBody>
          </p:sp>
        </p:grpSp>
      </p:grpSp>
      <p:pic>
        <p:nvPicPr>
          <p:cNvPr id="685" name="Google Shape;685;p41" descr="A detailed, high-tech neural network dashboard with neon blue glowing nodes and medical data connections, futuristic digital aesthetic."/>
          <p:cNvPicPr preferRelativeResize="0"/>
          <p:nvPr/>
        </p:nvPicPr>
        <p:blipFill rotWithShape="1">
          <a:blip r:embed="rId4">
            <a:alphaModFix/>
          </a:blip>
          <a:srcRect t="3575" b="3566"/>
          <a:stretch/>
        </p:blipFill>
        <p:spPr>
          <a:xfrm>
            <a:off x="7810500" y="1333500"/>
            <a:ext cx="4000500" cy="4953000"/>
          </a:xfrm>
          <a:prstGeom prst="roundRect">
            <a:avLst>
              <a:gd name="adj" fmla="val 4761"/>
            </a:avLst>
          </a:prstGeom>
          <a:noFill/>
          <a:ln>
            <a:noFill/>
          </a:ln>
        </p:spPr>
      </p:pic>
      <p:sp>
        <p:nvSpPr>
          <p:cNvPr id="686" name="Google Shape;686;p41"/>
          <p:cNvSpPr/>
          <p:nvPr/>
        </p:nvSpPr>
        <p:spPr>
          <a:xfrm>
            <a:off x="7810500" y="1333500"/>
            <a:ext cx="4000500" cy="4953000"/>
          </a:xfrm>
          <a:prstGeom prst="roundRect">
            <a:avLst>
              <a:gd name="adj" fmla="val 4761"/>
            </a:avLst>
          </a:prstGeom>
          <a:solidFill>
            <a:srgbClr val="000000">
              <a:alpha val="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90"/>
        <p:cNvGrpSpPr/>
        <p:nvPr/>
      </p:nvGrpSpPr>
      <p:grpSpPr>
        <a:xfrm>
          <a:off x="0" y="0"/>
          <a:ext cx="0" cy="0"/>
          <a:chOff x="0" y="0"/>
          <a:chExt cx="0" cy="0"/>
        </a:xfrm>
      </p:grpSpPr>
      <p:sp>
        <p:nvSpPr>
          <p:cNvPr id="691" name="Google Shape;691;p42"/>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2" name="Google Shape;692;p42"/>
          <p:cNvSpPr/>
          <p:nvPr/>
        </p:nvSpPr>
        <p:spPr>
          <a:xfrm>
            <a:off x="571500" y="1333500"/>
            <a:ext cx="7048500" cy="1524000"/>
          </a:xfrm>
          <a:prstGeom prst="roundRect">
            <a:avLst>
              <a:gd name="adj" fmla="val 75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3" name="Google Shape;693;p42"/>
          <p:cNvSpPr txBox="1"/>
          <p:nvPr/>
        </p:nvSpPr>
        <p:spPr>
          <a:xfrm>
            <a:off x="762000" y="1537081"/>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200" dirty="0">
              <a:solidFill>
                <a:srgbClr val="60A5FA"/>
              </a:solidFill>
              <a:latin typeface="Material Icons"/>
              <a:ea typeface="Material Icons"/>
              <a:cs typeface="Material Icons"/>
              <a:sym typeface="Material Icons"/>
            </a:endParaRPr>
          </a:p>
        </p:txBody>
      </p:sp>
      <p:sp>
        <p:nvSpPr>
          <p:cNvPr id="694" name="Google Shape;694;p42"/>
          <p:cNvSpPr/>
          <p:nvPr/>
        </p:nvSpPr>
        <p:spPr>
          <a:xfrm>
            <a:off x="571500" y="3048000"/>
            <a:ext cx="3429000" cy="3238500"/>
          </a:xfrm>
          <a:prstGeom prst="roundRect">
            <a:avLst>
              <a:gd name="adj" fmla="val 3529"/>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5" name="Google Shape;695;p42"/>
          <p:cNvSpPr/>
          <p:nvPr/>
        </p:nvSpPr>
        <p:spPr>
          <a:xfrm>
            <a:off x="1666875" y="3762375"/>
            <a:ext cx="1238400" cy="1238400"/>
          </a:xfrm>
          <a:prstGeom prst="ellipse">
            <a:avLst/>
          </a:prstGeom>
          <a:solidFill>
            <a:srgbClr val="000000">
              <a:alpha val="0"/>
            </a:srgbClr>
          </a:solidFill>
          <a:ln w="76200"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6" name="Google Shape;696;p42"/>
          <p:cNvSpPr txBox="1"/>
          <p:nvPr/>
        </p:nvSpPr>
        <p:spPr>
          <a:xfrm>
            <a:off x="1714500" y="4191000"/>
            <a:ext cx="1143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b="1">
                <a:solidFill>
                  <a:srgbClr val="60A5FA"/>
                </a:solidFill>
                <a:latin typeface="Inter"/>
                <a:ea typeface="Inter"/>
                <a:cs typeface="Inter"/>
                <a:sym typeface="Inter"/>
              </a:rPr>
              <a:t>+%1.2</a:t>
            </a:r>
            <a:endParaRPr sz="2200" b="1">
              <a:solidFill>
                <a:srgbClr val="60A5FA"/>
              </a:solidFill>
              <a:latin typeface="Inter"/>
              <a:ea typeface="Inter"/>
              <a:cs typeface="Inter"/>
              <a:sym typeface="Inter"/>
            </a:endParaRPr>
          </a:p>
        </p:txBody>
      </p:sp>
      <p:sp>
        <p:nvSpPr>
          <p:cNvPr id="697" name="Google Shape;697;p42"/>
          <p:cNvSpPr/>
          <p:nvPr/>
        </p:nvSpPr>
        <p:spPr>
          <a:xfrm>
            <a:off x="4191000" y="3048000"/>
            <a:ext cx="3429000" cy="3238500"/>
          </a:xfrm>
          <a:prstGeom prst="roundRect">
            <a:avLst>
              <a:gd name="adj" fmla="val 3529"/>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8" name="Google Shape;698;p42"/>
          <p:cNvSpPr/>
          <p:nvPr/>
        </p:nvSpPr>
        <p:spPr>
          <a:xfrm>
            <a:off x="5286375" y="3762375"/>
            <a:ext cx="1238400" cy="1238400"/>
          </a:xfrm>
          <a:prstGeom prst="ellipse">
            <a:avLst/>
          </a:prstGeom>
          <a:solidFill>
            <a:srgbClr val="000000">
              <a:alpha val="0"/>
            </a:srgbClr>
          </a:solidFill>
          <a:ln w="76200"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699" name="Google Shape;699;p42" descr="A futuristic digital dashboard showing training curves for an AI model. Two lines on a graph, one rising and one falling, with neon blue and cyan accents on a dark professional tech background. High-tech medical analytics style."/>
          <p:cNvPicPr preferRelativeResize="0"/>
          <p:nvPr/>
        </p:nvPicPr>
        <p:blipFill rotWithShape="1">
          <a:blip r:embed="rId4">
            <a:alphaModFix/>
          </a:blip>
          <a:srcRect l="9612" r="9620"/>
          <a:stretch/>
        </p:blipFill>
        <p:spPr>
          <a:xfrm>
            <a:off x="7810500" y="1333500"/>
            <a:ext cx="4000500" cy="4953000"/>
          </a:xfrm>
          <a:prstGeom prst="roundRect">
            <a:avLst>
              <a:gd name="adj" fmla="val 4761"/>
            </a:avLst>
          </a:prstGeom>
          <a:noFill/>
          <a:ln>
            <a:noFill/>
          </a:ln>
        </p:spPr>
      </p:pic>
      <p:sp>
        <p:nvSpPr>
          <p:cNvPr id="700" name="Google Shape;700;p42"/>
          <p:cNvSpPr/>
          <p:nvPr/>
        </p:nvSpPr>
        <p:spPr>
          <a:xfrm>
            <a:off x="7810500" y="1333500"/>
            <a:ext cx="4000500" cy="4953000"/>
          </a:xfrm>
          <a:prstGeom prst="roundRect">
            <a:avLst>
              <a:gd name="adj" fmla="val 4761"/>
            </a:avLst>
          </a:prstGeom>
          <a:solidFill>
            <a:srgbClr val="000000">
              <a:alpha val="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01" name="Google Shape;701;p42"/>
          <p:cNvSpPr txBox="1"/>
          <p:nvPr/>
        </p:nvSpPr>
        <p:spPr>
          <a:xfrm>
            <a:off x="771525" y="581025"/>
            <a:ext cx="10668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Model 3 vs Model 4: Performans Karşılaştırması</a:t>
            </a:r>
            <a:endParaRPr sz="3200" b="1">
              <a:solidFill>
                <a:srgbClr val="60A5FA"/>
              </a:solidFill>
              <a:latin typeface="Urbanist"/>
              <a:ea typeface="Urbanist"/>
              <a:cs typeface="Urbanist"/>
              <a:sym typeface="Urbanist"/>
            </a:endParaRPr>
          </a:p>
        </p:txBody>
      </p:sp>
      <p:sp>
        <p:nvSpPr>
          <p:cNvPr id="702" name="Google Shape;702;p42"/>
          <p:cNvSpPr txBox="1"/>
          <p:nvPr/>
        </p:nvSpPr>
        <p:spPr>
          <a:xfrm>
            <a:off x="1238250" y="1476375"/>
            <a:ext cx="61914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F8FAFC"/>
                </a:solidFill>
                <a:latin typeface="Urbanist"/>
                <a:ea typeface="Urbanist"/>
                <a:cs typeface="Urbanist"/>
                <a:sym typeface="Urbanist"/>
              </a:rPr>
              <a:t>Model 3 ve Model 4 Metrik Analizi</a:t>
            </a:r>
            <a:endParaRPr sz="1800" b="1">
              <a:solidFill>
                <a:srgbClr val="F8FAFC"/>
              </a:solidFill>
              <a:latin typeface="Urbanist"/>
              <a:ea typeface="Urbanist"/>
              <a:cs typeface="Urbanist"/>
              <a:sym typeface="Urbanist"/>
            </a:endParaRPr>
          </a:p>
        </p:txBody>
      </p:sp>
      <p:sp>
        <p:nvSpPr>
          <p:cNvPr id="703" name="Google Shape;703;p42"/>
          <p:cNvSpPr txBox="1"/>
          <p:nvPr/>
        </p:nvSpPr>
        <p:spPr>
          <a:xfrm>
            <a:off x="762000" y="1952625"/>
            <a:ext cx="6667500" cy="762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CBD5E1"/>
                </a:solidFill>
                <a:latin typeface="Inter"/>
                <a:ea typeface="Inter"/>
                <a:cs typeface="Inter"/>
                <a:sym typeface="Inter"/>
              </a:rPr>
              <a:t>Model 4'te artırılan epoch sayısı, Model 3 ile kıyaslandığında Recall değerinde sınırlı bir değişim (+%1.2) yaratırken, Macro F1 (-%6.3) ve ROC-AUC gibi temel metriklerde belirgin bir düşüşe neden olmuştur.</a:t>
            </a:r>
            <a:endParaRPr sz="1100" b="0">
              <a:solidFill>
                <a:srgbClr val="CBD5E1"/>
              </a:solidFill>
              <a:latin typeface="Inter"/>
              <a:ea typeface="Inter"/>
              <a:cs typeface="Inter"/>
              <a:sym typeface="Inter"/>
            </a:endParaRPr>
          </a:p>
        </p:txBody>
      </p:sp>
      <p:sp>
        <p:nvSpPr>
          <p:cNvPr id="704" name="Google Shape;704;p42"/>
          <p:cNvSpPr txBox="1"/>
          <p:nvPr/>
        </p:nvSpPr>
        <p:spPr>
          <a:xfrm>
            <a:off x="762000" y="3238500"/>
            <a:ext cx="3048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F8FAFC"/>
                </a:solidFill>
                <a:latin typeface="Urbanist"/>
                <a:ea typeface="Urbanist"/>
                <a:cs typeface="Urbanist"/>
                <a:sym typeface="Urbanist"/>
              </a:rPr>
              <a:t>Macro F1 Farkı</a:t>
            </a:r>
            <a:endParaRPr sz="1800" b="1">
              <a:solidFill>
                <a:srgbClr val="F8FAFC"/>
              </a:solidFill>
              <a:latin typeface="Urbanist"/>
              <a:ea typeface="Urbanist"/>
              <a:cs typeface="Urbanist"/>
              <a:sym typeface="Urbanist"/>
            </a:endParaRPr>
          </a:p>
        </p:txBody>
      </p:sp>
      <p:sp>
        <p:nvSpPr>
          <p:cNvPr id="705" name="Google Shape;705;p42"/>
          <p:cNvSpPr txBox="1"/>
          <p:nvPr/>
        </p:nvSpPr>
        <p:spPr>
          <a:xfrm>
            <a:off x="762000" y="5334000"/>
            <a:ext cx="3048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0">
                <a:solidFill>
                  <a:srgbClr val="CBD5E1"/>
                </a:solidFill>
                <a:latin typeface="Inter"/>
                <a:ea typeface="Inter"/>
                <a:cs typeface="Inter"/>
                <a:sym typeface="Inter"/>
              </a:rPr>
              <a:t>0.4624  → 0.4454 </a:t>
            </a:r>
            <a:endParaRPr sz="1100" b="0">
              <a:solidFill>
                <a:srgbClr val="CBD5E1"/>
              </a:solidFill>
              <a:latin typeface="Inter"/>
              <a:ea typeface="Inter"/>
              <a:cs typeface="Inter"/>
              <a:sym typeface="Inter"/>
            </a:endParaRPr>
          </a:p>
          <a:p>
            <a:pPr marL="0" lvl="0" indent="0" algn="ctr" rtl="0">
              <a:spcBef>
                <a:spcPts val="300"/>
              </a:spcBef>
              <a:spcAft>
                <a:spcPts val="0"/>
              </a:spcAft>
              <a:buNone/>
            </a:pPr>
            <a:r>
              <a:rPr lang="en-US" sz="900" b="0">
                <a:solidFill>
                  <a:srgbClr val="94A3B8"/>
                </a:solidFill>
                <a:latin typeface="Inter"/>
                <a:ea typeface="Inter"/>
                <a:cs typeface="Inter"/>
                <a:sym typeface="Inter"/>
              </a:rPr>
              <a:t>Aşırı eğitim, modelin genel başarısını ve dengesini düşürdü.</a:t>
            </a:r>
            <a:endParaRPr sz="900" b="0">
              <a:solidFill>
                <a:srgbClr val="94A3B8"/>
              </a:solidFill>
              <a:latin typeface="Inter"/>
              <a:ea typeface="Inter"/>
              <a:cs typeface="Inter"/>
              <a:sym typeface="Inter"/>
            </a:endParaRPr>
          </a:p>
        </p:txBody>
      </p:sp>
      <p:sp>
        <p:nvSpPr>
          <p:cNvPr id="706" name="Google Shape;706;p42"/>
          <p:cNvSpPr txBox="1"/>
          <p:nvPr/>
        </p:nvSpPr>
        <p:spPr>
          <a:xfrm>
            <a:off x="4381500" y="3238500"/>
            <a:ext cx="3048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F8FAFC"/>
                </a:solidFill>
                <a:latin typeface="Urbanist"/>
                <a:ea typeface="Urbanist"/>
                <a:cs typeface="Urbanist"/>
                <a:sym typeface="Urbanist"/>
              </a:rPr>
              <a:t>ROC-AUC Kaybı</a:t>
            </a:r>
            <a:endParaRPr sz="1800" b="1">
              <a:solidFill>
                <a:srgbClr val="F8FAFC"/>
              </a:solidFill>
              <a:latin typeface="Urbanist"/>
              <a:ea typeface="Urbanist"/>
              <a:cs typeface="Urbanist"/>
              <a:sym typeface="Urbanist"/>
            </a:endParaRPr>
          </a:p>
        </p:txBody>
      </p:sp>
      <p:sp>
        <p:nvSpPr>
          <p:cNvPr id="707" name="Google Shape;707;p42"/>
          <p:cNvSpPr txBox="1"/>
          <p:nvPr/>
        </p:nvSpPr>
        <p:spPr>
          <a:xfrm>
            <a:off x="5334000" y="4191000"/>
            <a:ext cx="1143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b="1">
                <a:solidFill>
                  <a:srgbClr val="EE9FA4"/>
                </a:solidFill>
                <a:latin typeface="Inter"/>
                <a:ea typeface="Inter"/>
                <a:cs typeface="Inter"/>
                <a:sym typeface="Inter"/>
              </a:rPr>
              <a:t>-2.6%</a:t>
            </a:r>
            <a:endParaRPr sz="2200" b="1">
              <a:solidFill>
                <a:srgbClr val="EE9FA4"/>
              </a:solidFill>
              <a:latin typeface="Inter"/>
              <a:ea typeface="Inter"/>
              <a:cs typeface="Inter"/>
              <a:sym typeface="Inter"/>
            </a:endParaRPr>
          </a:p>
        </p:txBody>
      </p:sp>
      <p:sp>
        <p:nvSpPr>
          <p:cNvPr id="708" name="Google Shape;708;p42"/>
          <p:cNvSpPr txBox="1"/>
          <p:nvPr/>
        </p:nvSpPr>
        <p:spPr>
          <a:xfrm>
            <a:off x="4381500" y="5334000"/>
            <a:ext cx="3048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0">
                <a:solidFill>
                  <a:srgbClr val="CBD5E1"/>
                </a:solidFill>
                <a:latin typeface="Inter"/>
                <a:ea typeface="Inter"/>
                <a:cs typeface="Inter"/>
                <a:sym typeface="Inter"/>
              </a:rPr>
              <a:t>0.8014  → 0.7805 </a:t>
            </a:r>
            <a:endParaRPr sz="1100" b="0">
              <a:solidFill>
                <a:srgbClr val="CBD5E1"/>
              </a:solidFill>
              <a:latin typeface="Inter"/>
              <a:ea typeface="Inter"/>
              <a:cs typeface="Inter"/>
              <a:sym typeface="Inter"/>
            </a:endParaRPr>
          </a:p>
          <a:p>
            <a:pPr marL="0" lvl="0" indent="0" algn="ctr" rtl="0">
              <a:spcBef>
                <a:spcPts val="300"/>
              </a:spcBef>
              <a:spcAft>
                <a:spcPts val="0"/>
              </a:spcAft>
              <a:buNone/>
            </a:pPr>
            <a:r>
              <a:rPr lang="en-US" sz="900" b="0">
                <a:solidFill>
                  <a:srgbClr val="94A3B8"/>
                </a:solidFill>
                <a:latin typeface="Inter"/>
                <a:ea typeface="Inter"/>
                <a:cs typeface="Inter"/>
                <a:sym typeface="Inter"/>
              </a:rPr>
              <a:t>Ayırt etme gücü epoch artışıyla olumsuz etkilendi.</a:t>
            </a:r>
            <a:endParaRPr sz="900" b="0">
              <a:solidFill>
                <a:srgbClr val="94A3B8"/>
              </a:solidFill>
              <a:latin typeface="Inter"/>
              <a:ea typeface="Inter"/>
              <a:cs typeface="Inter"/>
              <a:sym typeface="Inte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12"/>
        <p:cNvGrpSpPr/>
        <p:nvPr/>
      </p:nvGrpSpPr>
      <p:grpSpPr>
        <a:xfrm>
          <a:off x="0" y="0"/>
          <a:ext cx="0" cy="0"/>
          <a:chOff x="0" y="0"/>
          <a:chExt cx="0" cy="0"/>
        </a:xfrm>
      </p:grpSpPr>
      <p:sp>
        <p:nvSpPr>
          <p:cNvPr id="713" name="Google Shape;713;p43"/>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4" name="Google Shape;714;p43"/>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Sonuç: En İyi Performans Veren Model</a:t>
            </a:r>
            <a:endParaRPr sz="3200" b="1">
              <a:solidFill>
                <a:srgbClr val="60A5FA"/>
              </a:solidFill>
              <a:latin typeface="Urbanist"/>
              <a:ea typeface="Urbanist"/>
              <a:cs typeface="Urbanist"/>
              <a:sym typeface="Urbanist"/>
            </a:endParaRPr>
          </a:p>
        </p:txBody>
      </p:sp>
      <p:sp>
        <p:nvSpPr>
          <p:cNvPr id="715" name="Google Shape;715;p43"/>
          <p:cNvSpPr/>
          <p:nvPr/>
        </p:nvSpPr>
        <p:spPr>
          <a:xfrm>
            <a:off x="571500" y="1333500"/>
            <a:ext cx="7048500" cy="1714500"/>
          </a:xfrm>
          <a:prstGeom prst="roundRect">
            <a:avLst>
              <a:gd name="adj" fmla="val 6666"/>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6" name="Google Shape;716;p43"/>
          <p:cNvSpPr txBox="1"/>
          <p:nvPr/>
        </p:nvSpPr>
        <p:spPr>
          <a:xfrm>
            <a:off x="762000" y="1559052"/>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717" name="Google Shape;717;p43"/>
          <p:cNvSpPr txBox="1"/>
          <p:nvPr/>
        </p:nvSpPr>
        <p:spPr>
          <a:xfrm>
            <a:off x="1238250" y="1524000"/>
            <a:ext cx="6191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F8FAFC"/>
                </a:solidFill>
                <a:latin typeface="Urbanist"/>
                <a:ea typeface="Urbanist"/>
                <a:cs typeface="Urbanist"/>
                <a:sym typeface="Urbanist"/>
              </a:rPr>
              <a:t>Model 3: Optimal Denge ve Yüksek Başarı</a:t>
            </a:r>
            <a:endParaRPr sz="2200" b="1">
              <a:solidFill>
                <a:srgbClr val="F8FAFC"/>
              </a:solidFill>
              <a:latin typeface="Urbanist"/>
              <a:ea typeface="Urbanist"/>
              <a:cs typeface="Urbanist"/>
              <a:sym typeface="Urbanist"/>
            </a:endParaRPr>
          </a:p>
        </p:txBody>
      </p:sp>
      <p:sp>
        <p:nvSpPr>
          <p:cNvPr id="718" name="Google Shape;718;p43"/>
          <p:cNvSpPr txBox="1"/>
          <p:nvPr/>
        </p:nvSpPr>
        <p:spPr>
          <a:xfrm>
            <a:off x="762000" y="2047875"/>
            <a:ext cx="6667500" cy="809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0">
                <a:solidFill>
                  <a:srgbClr val="CBD5E1"/>
                </a:solidFill>
                <a:latin typeface="Inter"/>
                <a:ea typeface="Inter"/>
                <a:cs typeface="Inter"/>
                <a:sym typeface="Inter"/>
              </a:rPr>
              <a:t>Yapılan analizler sonucunda </a:t>
            </a:r>
            <a:r>
              <a:rPr lang="en-US" sz="1100" b="1">
                <a:solidFill>
                  <a:srgbClr val="60A5FA"/>
                </a:solidFill>
                <a:latin typeface="Inter"/>
                <a:ea typeface="Inter"/>
                <a:cs typeface="Inter"/>
                <a:sym typeface="Inter"/>
              </a:rPr>
              <a:t>Model 3</a:t>
            </a:r>
            <a:r>
              <a:rPr lang="en-US" sz="1100" b="0">
                <a:solidFill>
                  <a:srgbClr val="CBD5E1"/>
                </a:solidFill>
                <a:latin typeface="Inter"/>
                <a:ea typeface="Inter"/>
                <a:cs typeface="Inter"/>
                <a:sym typeface="Inter"/>
              </a:rPr>
              <a:t>, tüm metriklerde en dengeli ve yüksek performansı sergileyen yapı olarak belirlenmiştir. Aşırı öğrenmeye (overfitting) düşmeden, hem teşhis kapasitesini hem de genel ayırt ediciliğini korumayı başarmıştır.</a:t>
            </a:r>
            <a:endParaRPr sz="1100" b="0">
              <a:solidFill>
                <a:srgbClr val="CBD5E1"/>
              </a:solidFill>
              <a:latin typeface="Inter"/>
              <a:ea typeface="Inter"/>
              <a:cs typeface="Inter"/>
              <a:sym typeface="Inter"/>
            </a:endParaRPr>
          </a:p>
        </p:txBody>
      </p:sp>
      <p:grpSp>
        <p:nvGrpSpPr>
          <p:cNvPr id="719" name="Google Shape;719;p43"/>
          <p:cNvGrpSpPr/>
          <p:nvPr/>
        </p:nvGrpSpPr>
        <p:grpSpPr>
          <a:xfrm>
            <a:off x="571500" y="3238500"/>
            <a:ext cx="1619100" cy="1047900"/>
            <a:chOff x="571500" y="3238500"/>
            <a:chExt cx="1619100" cy="1047900"/>
          </a:xfrm>
        </p:grpSpPr>
        <p:sp>
          <p:nvSpPr>
            <p:cNvPr id="720" name="Google Shape;720;p43"/>
            <p:cNvSpPr/>
            <p:nvPr/>
          </p:nvSpPr>
          <p:spPr>
            <a:xfrm>
              <a:off x="571500" y="3238500"/>
              <a:ext cx="1619100" cy="1047900"/>
            </a:xfrm>
            <a:prstGeom prst="roundRect">
              <a:avLst>
                <a:gd name="adj" fmla="val 10909"/>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1" name="Google Shape;721;p43"/>
            <p:cNvSpPr txBox="1"/>
            <p:nvPr/>
          </p:nvSpPr>
          <p:spPr>
            <a:xfrm>
              <a:off x="571500" y="3381375"/>
              <a:ext cx="16191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94A3B8"/>
                  </a:solidFill>
                  <a:latin typeface="Urbanist"/>
                  <a:ea typeface="Urbanist"/>
                  <a:cs typeface="Urbanist"/>
                  <a:sym typeface="Urbanist"/>
                </a:rPr>
                <a:t>Macro F1</a:t>
              </a:r>
              <a:endParaRPr sz="1400" b="1">
                <a:solidFill>
                  <a:srgbClr val="94A3B8"/>
                </a:solidFill>
                <a:latin typeface="Urbanist"/>
                <a:ea typeface="Urbanist"/>
                <a:cs typeface="Urbanist"/>
                <a:sym typeface="Urbanist"/>
              </a:endParaRPr>
            </a:p>
          </p:txBody>
        </p:sp>
        <p:sp>
          <p:nvSpPr>
            <p:cNvPr id="722" name="Google Shape;722;p43"/>
            <p:cNvSpPr txBox="1"/>
            <p:nvPr/>
          </p:nvSpPr>
          <p:spPr>
            <a:xfrm>
              <a:off x="571500" y="3667125"/>
              <a:ext cx="1619100" cy="476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b="1">
                  <a:solidFill>
                    <a:srgbClr val="60A5FA"/>
                  </a:solidFill>
                  <a:latin typeface="Inter"/>
                  <a:ea typeface="Inter"/>
                  <a:cs typeface="Inter"/>
                  <a:sym typeface="Inter"/>
                </a:rPr>
                <a:t>0.4624</a:t>
              </a:r>
              <a:endParaRPr sz="2800" b="1">
                <a:solidFill>
                  <a:srgbClr val="60A5FA"/>
                </a:solidFill>
                <a:latin typeface="Inter"/>
                <a:ea typeface="Inter"/>
                <a:cs typeface="Inter"/>
                <a:sym typeface="Inter"/>
              </a:endParaRPr>
            </a:p>
          </p:txBody>
        </p:sp>
      </p:grpSp>
      <p:grpSp>
        <p:nvGrpSpPr>
          <p:cNvPr id="723" name="Google Shape;723;p43"/>
          <p:cNvGrpSpPr/>
          <p:nvPr/>
        </p:nvGrpSpPr>
        <p:grpSpPr>
          <a:xfrm>
            <a:off x="2381250" y="3238500"/>
            <a:ext cx="1619100" cy="1047900"/>
            <a:chOff x="2381250" y="3238500"/>
            <a:chExt cx="1619100" cy="1047900"/>
          </a:xfrm>
        </p:grpSpPr>
        <p:sp>
          <p:nvSpPr>
            <p:cNvPr id="724" name="Google Shape;724;p43"/>
            <p:cNvSpPr/>
            <p:nvPr/>
          </p:nvSpPr>
          <p:spPr>
            <a:xfrm>
              <a:off x="2381250" y="3238500"/>
              <a:ext cx="1619100" cy="1047900"/>
            </a:xfrm>
            <a:prstGeom prst="roundRect">
              <a:avLst>
                <a:gd name="adj" fmla="val 10909"/>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5" name="Google Shape;725;p43"/>
            <p:cNvSpPr txBox="1"/>
            <p:nvPr/>
          </p:nvSpPr>
          <p:spPr>
            <a:xfrm>
              <a:off x="2381250" y="3381375"/>
              <a:ext cx="16191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94A3B8"/>
                  </a:solidFill>
                  <a:latin typeface="Urbanist"/>
                  <a:ea typeface="Urbanist"/>
                  <a:cs typeface="Urbanist"/>
                  <a:sym typeface="Urbanist"/>
                </a:rPr>
                <a:t>Recall</a:t>
              </a:r>
              <a:endParaRPr sz="1400" b="1">
                <a:solidFill>
                  <a:srgbClr val="94A3B8"/>
                </a:solidFill>
                <a:latin typeface="Urbanist"/>
                <a:ea typeface="Urbanist"/>
                <a:cs typeface="Urbanist"/>
                <a:sym typeface="Urbanist"/>
              </a:endParaRPr>
            </a:p>
          </p:txBody>
        </p:sp>
        <p:sp>
          <p:nvSpPr>
            <p:cNvPr id="726" name="Google Shape;726;p43"/>
            <p:cNvSpPr txBox="1"/>
            <p:nvPr/>
          </p:nvSpPr>
          <p:spPr>
            <a:xfrm>
              <a:off x="2381250" y="3667125"/>
              <a:ext cx="1619100" cy="476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b="1">
                  <a:solidFill>
                    <a:srgbClr val="60A5FA"/>
                  </a:solidFill>
                  <a:latin typeface="Inter"/>
                  <a:ea typeface="Inter"/>
                  <a:cs typeface="Inter"/>
                  <a:sym typeface="Inter"/>
                </a:rPr>
                <a:t>0.5840</a:t>
              </a:r>
              <a:endParaRPr sz="2800" b="1">
                <a:solidFill>
                  <a:srgbClr val="60A5FA"/>
                </a:solidFill>
                <a:latin typeface="Inter"/>
                <a:ea typeface="Inter"/>
                <a:cs typeface="Inter"/>
                <a:sym typeface="Inter"/>
              </a:endParaRPr>
            </a:p>
          </p:txBody>
        </p:sp>
      </p:grpSp>
      <p:grpSp>
        <p:nvGrpSpPr>
          <p:cNvPr id="727" name="Google Shape;727;p43"/>
          <p:cNvGrpSpPr/>
          <p:nvPr/>
        </p:nvGrpSpPr>
        <p:grpSpPr>
          <a:xfrm>
            <a:off x="4191000" y="3238500"/>
            <a:ext cx="1619100" cy="1047900"/>
            <a:chOff x="4191000" y="3238500"/>
            <a:chExt cx="1619100" cy="1047900"/>
          </a:xfrm>
        </p:grpSpPr>
        <p:sp>
          <p:nvSpPr>
            <p:cNvPr id="728" name="Google Shape;728;p43"/>
            <p:cNvSpPr/>
            <p:nvPr/>
          </p:nvSpPr>
          <p:spPr>
            <a:xfrm>
              <a:off x="4191000" y="3238500"/>
              <a:ext cx="1619100" cy="1047900"/>
            </a:xfrm>
            <a:prstGeom prst="roundRect">
              <a:avLst>
                <a:gd name="adj" fmla="val 10909"/>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9" name="Google Shape;729;p43"/>
            <p:cNvSpPr txBox="1"/>
            <p:nvPr/>
          </p:nvSpPr>
          <p:spPr>
            <a:xfrm>
              <a:off x="4191000" y="3381375"/>
              <a:ext cx="16191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94A3B8"/>
                  </a:solidFill>
                  <a:latin typeface="Urbanist"/>
                  <a:ea typeface="Urbanist"/>
                  <a:cs typeface="Urbanist"/>
                  <a:sym typeface="Urbanist"/>
                </a:rPr>
                <a:t>ROC-AUC</a:t>
              </a:r>
              <a:endParaRPr sz="1400" b="1">
                <a:solidFill>
                  <a:srgbClr val="94A3B8"/>
                </a:solidFill>
                <a:latin typeface="Urbanist"/>
                <a:ea typeface="Urbanist"/>
                <a:cs typeface="Urbanist"/>
                <a:sym typeface="Urbanist"/>
              </a:endParaRPr>
            </a:p>
          </p:txBody>
        </p:sp>
        <p:sp>
          <p:nvSpPr>
            <p:cNvPr id="730" name="Google Shape;730;p43"/>
            <p:cNvSpPr txBox="1"/>
            <p:nvPr/>
          </p:nvSpPr>
          <p:spPr>
            <a:xfrm>
              <a:off x="4191000" y="3667125"/>
              <a:ext cx="1619100" cy="476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b="1">
                  <a:solidFill>
                    <a:srgbClr val="60A5FA"/>
                  </a:solidFill>
                  <a:latin typeface="Inter"/>
                  <a:ea typeface="Inter"/>
                  <a:cs typeface="Inter"/>
                  <a:sym typeface="Inter"/>
                </a:rPr>
                <a:t>0.8014</a:t>
              </a:r>
              <a:endParaRPr sz="2800" b="1">
                <a:solidFill>
                  <a:srgbClr val="60A5FA"/>
                </a:solidFill>
                <a:latin typeface="Inter"/>
                <a:ea typeface="Inter"/>
                <a:cs typeface="Inter"/>
                <a:sym typeface="Inter"/>
              </a:endParaRPr>
            </a:p>
          </p:txBody>
        </p:sp>
      </p:grpSp>
      <p:grpSp>
        <p:nvGrpSpPr>
          <p:cNvPr id="731" name="Google Shape;731;p43"/>
          <p:cNvGrpSpPr/>
          <p:nvPr/>
        </p:nvGrpSpPr>
        <p:grpSpPr>
          <a:xfrm>
            <a:off x="6000750" y="3238500"/>
            <a:ext cx="1619100" cy="1047900"/>
            <a:chOff x="6000750" y="3238500"/>
            <a:chExt cx="1619100" cy="1047900"/>
          </a:xfrm>
        </p:grpSpPr>
        <p:sp>
          <p:nvSpPr>
            <p:cNvPr id="732" name="Google Shape;732;p43"/>
            <p:cNvSpPr/>
            <p:nvPr/>
          </p:nvSpPr>
          <p:spPr>
            <a:xfrm>
              <a:off x="6000750" y="3238500"/>
              <a:ext cx="1619100" cy="1047900"/>
            </a:xfrm>
            <a:prstGeom prst="roundRect">
              <a:avLst>
                <a:gd name="adj" fmla="val 10909"/>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3" name="Google Shape;733;p43"/>
            <p:cNvSpPr txBox="1"/>
            <p:nvPr/>
          </p:nvSpPr>
          <p:spPr>
            <a:xfrm>
              <a:off x="6000750" y="3381375"/>
              <a:ext cx="16191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94A3B8"/>
                  </a:solidFill>
                  <a:latin typeface="Urbanist"/>
                  <a:ea typeface="Urbanist"/>
                  <a:cs typeface="Urbanist"/>
                  <a:sym typeface="Urbanist"/>
                </a:rPr>
                <a:t>PR-AUC</a:t>
              </a:r>
              <a:endParaRPr sz="1400" b="1">
                <a:solidFill>
                  <a:srgbClr val="94A3B8"/>
                </a:solidFill>
                <a:latin typeface="Urbanist"/>
                <a:ea typeface="Urbanist"/>
                <a:cs typeface="Urbanist"/>
                <a:sym typeface="Urbanist"/>
              </a:endParaRPr>
            </a:p>
          </p:txBody>
        </p:sp>
        <p:sp>
          <p:nvSpPr>
            <p:cNvPr id="734" name="Google Shape;734;p43"/>
            <p:cNvSpPr txBox="1"/>
            <p:nvPr/>
          </p:nvSpPr>
          <p:spPr>
            <a:xfrm>
              <a:off x="6000750" y="3667125"/>
              <a:ext cx="1619100" cy="476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b="1">
                  <a:solidFill>
                    <a:srgbClr val="60A5FA"/>
                  </a:solidFill>
                  <a:latin typeface="Inter"/>
                  <a:ea typeface="Inter"/>
                  <a:cs typeface="Inter"/>
                  <a:sym typeface="Inter"/>
                </a:rPr>
                <a:t>0.4734</a:t>
              </a:r>
              <a:endParaRPr sz="2800" b="1">
                <a:solidFill>
                  <a:srgbClr val="60A5FA"/>
                </a:solidFill>
                <a:latin typeface="Inter"/>
                <a:ea typeface="Inter"/>
                <a:cs typeface="Inter"/>
                <a:sym typeface="Inter"/>
              </a:endParaRPr>
            </a:p>
          </p:txBody>
        </p:sp>
      </p:grpSp>
      <p:sp>
        <p:nvSpPr>
          <p:cNvPr id="735" name="Google Shape;735;p43"/>
          <p:cNvSpPr/>
          <p:nvPr/>
        </p:nvSpPr>
        <p:spPr>
          <a:xfrm>
            <a:off x="571500" y="4476750"/>
            <a:ext cx="7048500" cy="1809600"/>
          </a:xfrm>
          <a:prstGeom prst="roundRect">
            <a:avLst>
              <a:gd name="adj" fmla="val 6315"/>
            </a:avLst>
          </a:prstGeom>
          <a:solidFill>
            <a:srgbClr val="1E293B">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6" name="Google Shape;736;p43"/>
          <p:cNvSpPr txBox="1"/>
          <p:nvPr/>
        </p:nvSpPr>
        <p:spPr>
          <a:xfrm>
            <a:off x="762000" y="4667250"/>
            <a:ext cx="66675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60A5FA"/>
                </a:solidFill>
                <a:latin typeface="Inter"/>
                <a:ea typeface="Inter"/>
                <a:cs typeface="Inter"/>
                <a:sym typeface="Inter"/>
              </a:rPr>
              <a:t>Neden Model 3?</a:t>
            </a:r>
            <a:endParaRPr sz="1100" b="1">
              <a:solidFill>
                <a:srgbClr val="60A5FA"/>
              </a:solidFill>
              <a:latin typeface="Inter"/>
              <a:ea typeface="Inter"/>
              <a:cs typeface="Inter"/>
              <a:sym typeface="Inter"/>
            </a:endParaRPr>
          </a:p>
          <a:p>
            <a:pPr marL="457200" lvl="0" indent="-317500" algn="l" rtl="0">
              <a:spcBef>
                <a:spcPts val="600"/>
              </a:spcBef>
              <a:spcAft>
                <a:spcPts val="0"/>
              </a:spcAft>
              <a:buSzPts val="1400"/>
              <a:buChar char="●"/>
            </a:pPr>
            <a:r>
              <a:rPr lang="en-US" sz="1100" b="0">
                <a:solidFill>
                  <a:srgbClr val="CBD5E1"/>
                </a:solidFill>
                <a:latin typeface="Inter"/>
                <a:ea typeface="Inter"/>
                <a:cs typeface="Inter"/>
                <a:sym typeface="Inter"/>
              </a:rPr>
              <a:t>Özellikle </a:t>
            </a:r>
            <a:r>
              <a:rPr lang="en-US" sz="1100" b="1">
                <a:solidFill>
                  <a:srgbClr val="60A5FA"/>
                </a:solidFill>
                <a:latin typeface="Inter"/>
                <a:ea typeface="Inter"/>
                <a:cs typeface="Inter"/>
                <a:sym typeface="Inter"/>
              </a:rPr>
              <a:t>PR-AUC (+%6.4)</a:t>
            </a:r>
            <a:r>
              <a:rPr lang="en-US" sz="1100" b="0">
                <a:solidFill>
                  <a:srgbClr val="CBD5E1"/>
                </a:solidFill>
                <a:latin typeface="Inter"/>
                <a:ea typeface="Inter"/>
                <a:cs typeface="Inter"/>
                <a:sym typeface="Inter"/>
              </a:rPr>
              <a:t> ve </a:t>
            </a:r>
            <a:r>
              <a:rPr lang="en-US" sz="1100" b="1">
                <a:solidFill>
                  <a:srgbClr val="60A5FA"/>
                </a:solidFill>
                <a:latin typeface="Inter"/>
                <a:ea typeface="Inter"/>
                <a:cs typeface="Inter"/>
                <a:sym typeface="Inter"/>
              </a:rPr>
              <a:t>Recall (+%5.5)</a:t>
            </a:r>
            <a:r>
              <a:rPr lang="en-US" sz="1100" b="0">
                <a:solidFill>
                  <a:srgbClr val="CBD5E1"/>
                </a:solidFill>
                <a:latin typeface="Inter"/>
                <a:ea typeface="Inter"/>
                <a:cs typeface="Inter"/>
                <a:sym typeface="Inter"/>
              </a:rPr>
              <a:t> artışıyla teşhis kapasitesi maksimize edilmiştir.</a:t>
            </a:r>
            <a:endParaRPr sz="1100" b="0">
              <a:solidFill>
                <a:srgbClr val="CBD5E1"/>
              </a:solidFill>
              <a:latin typeface="Inter"/>
              <a:ea typeface="Inter"/>
              <a:cs typeface="Inter"/>
              <a:sym typeface="Inter"/>
            </a:endParaRPr>
          </a:p>
          <a:p>
            <a:pPr marL="457200" lvl="0" indent="-317500" algn="l" rtl="0">
              <a:spcBef>
                <a:spcPts val="450"/>
              </a:spcBef>
              <a:spcAft>
                <a:spcPts val="0"/>
              </a:spcAft>
              <a:buSzPts val="1400"/>
              <a:buChar char="●"/>
            </a:pPr>
            <a:r>
              <a:rPr lang="en-US" sz="1100" b="0">
                <a:solidFill>
                  <a:srgbClr val="CBD5E1"/>
                </a:solidFill>
                <a:latin typeface="Inter"/>
                <a:ea typeface="Inter"/>
                <a:cs typeface="Inter"/>
                <a:sym typeface="Inter"/>
              </a:rPr>
              <a:t>Model 4'teki gibi epoch artışının getirdiği performans kaybı yaşanmamıştır.</a:t>
            </a:r>
            <a:endParaRPr sz="1100" b="0">
              <a:solidFill>
                <a:srgbClr val="CBD5E1"/>
              </a:solidFill>
              <a:latin typeface="Inter"/>
              <a:ea typeface="Inter"/>
              <a:cs typeface="Inter"/>
              <a:sym typeface="Inter"/>
            </a:endParaRPr>
          </a:p>
          <a:p>
            <a:pPr marL="457200" lvl="0" indent="-317500" algn="l" rtl="0">
              <a:spcBef>
                <a:spcPts val="450"/>
              </a:spcBef>
              <a:spcAft>
                <a:spcPts val="0"/>
              </a:spcAft>
              <a:buSzPts val="1400"/>
              <a:buChar char="●"/>
            </a:pPr>
            <a:r>
              <a:rPr lang="en-US" sz="1100" b="0">
                <a:solidFill>
                  <a:srgbClr val="CBD5E1"/>
                </a:solidFill>
                <a:latin typeface="Inter"/>
                <a:ea typeface="Inter"/>
                <a:cs typeface="Inter"/>
                <a:sym typeface="Inter"/>
              </a:rPr>
              <a:t>Daha yüksek batch size (64) ve optimize dropout (0.45) ile en yüksek stabiliteye ulaşmıştır.</a:t>
            </a:r>
            <a:endParaRPr sz="1100" b="0">
              <a:solidFill>
                <a:srgbClr val="CBD5E1"/>
              </a:solidFill>
              <a:latin typeface="Inter"/>
              <a:ea typeface="Inter"/>
              <a:cs typeface="Inter"/>
              <a:sym typeface="Inter"/>
            </a:endParaRPr>
          </a:p>
        </p:txBody>
      </p:sp>
      <p:pic>
        <p:nvPicPr>
          <p:cNvPr id="737" name="Google Shape;737;p43" descr="A high-tech digital medical report showing a &quot;WINNER&quot; badge or a prominent checkmark over a neural network architecture diagram. Glowing blue and cyan interface elements on a dark professional background, representing the best performing AI model."/>
          <p:cNvPicPr preferRelativeResize="0"/>
          <p:nvPr/>
        </p:nvPicPr>
        <p:blipFill rotWithShape="1">
          <a:blip r:embed="rId4">
            <a:alphaModFix/>
          </a:blip>
          <a:srcRect t="3575" b="3566"/>
          <a:stretch/>
        </p:blipFill>
        <p:spPr>
          <a:xfrm>
            <a:off x="7810500" y="1333500"/>
            <a:ext cx="4000500" cy="4953000"/>
          </a:xfrm>
          <a:prstGeom prst="roundRect">
            <a:avLst>
              <a:gd name="adj" fmla="val 4761"/>
            </a:avLst>
          </a:prstGeom>
          <a:noFill/>
          <a:ln>
            <a:noFill/>
          </a:ln>
        </p:spPr>
      </p:pic>
      <p:sp>
        <p:nvSpPr>
          <p:cNvPr id="738" name="Google Shape;738;p43"/>
          <p:cNvSpPr/>
          <p:nvPr/>
        </p:nvSpPr>
        <p:spPr>
          <a:xfrm>
            <a:off x="7810500" y="1333500"/>
            <a:ext cx="4000500" cy="4953000"/>
          </a:xfrm>
          <a:prstGeom prst="roundRect">
            <a:avLst>
              <a:gd name="adj" fmla="val 4761"/>
            </a:avLst>
          </a:prstGeom>
          <a:solidFill>
            <a:srgbClr val="000000">
              <a:alpha val="0"/>
            </a:srgbClr>
          </a:solidFill>
          <a:ln w="19050" cap="flat" cmpd="sng">
            <a:solidFill>
              <a:srgbClr val="60A5F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42"/>
        <p:cNvGrpSpPr/>
        <p:nvPr/>
      </p:nvGrpSpPr>
      <p:grpSpPr>
        <a:xfrm>
          <a:off x="0" y="0"/>
          <a:ext cx="0" cy="0"/>
          <a:chOff x="0" y="0"/>
          <a:chExt cx="0" cy="0"/>
        </a:xfrm>
      </p:grpSpPr>
      <p:sp>
        <p:nvSpPr>
          <p:cNvPr id="743" name="Google Shape;743;p44"/>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4" name="Google Shape;744;p44"/>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Eğitim Süreci: Loss Analizi</a:t>
            </a:r>
            <a:endParaRPr sz="3200" b="1">
              <a:solidFill>
                <a:srgbClr val="60A5FA"/>
              </a:solidFill>
              <a:latin typeface="Urbanist"/>
              <a:ea typeface="Urbanist"/>
              <a:cs typeface="Urbanist"/>
              <a:sym typeface="Urbanist"/>
            </a:endParaRPr>
          </a:p>
        </p:txBody>
      </p:sp>
      <p:sp>
        <p:nvSpPr>
          <p:cNvPr id="745" name="Google Shape;745;p44"/>
          <p:cNvSpPr/>
          <p:nvPr/>
        </p:nvSpPr>
        <p:spPr>
          <a:xfrm>
            <a:off x="571500" y="1333500"/>
            <a:ext cx="7048500" cy="1428900"/>
          </a:xfrm>
          <a:prstGeom prst="roundRect">
            <a:avLst>
              <a:gd name="adj" fmla="val 8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6" name="Google Shape;746;p44"/>
          <p:cNvSpPr txBox="1"/>
          <p:nvPr/>
        </p:nvSpPr>
        <p:spPr>
          <a:xfrm>
            <a:off x="762000" y="1606677"/>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747" name="Google Shape;747;p44"/>
          <p:cNvSpPr txBox="1"/>
          <p:nvPr/>
        </p:nvSpPr>
        <p:spPr>
          <a:xfrm>
            <a:off x="1238250" y="1524000"/>
            <a:ext cx="6191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F8FAFC"/>
                </a:solidFill>
                <a:latin typeface="Urbanist"/>
                <a:ea typeface="Urbanist"/>
                <a:cs typeface="Urbanist"/>
                <a:sym typeface="Urbanist"/>
              </a:rPr>
              <a:t>Training vs Validation Loss Grafiği</a:t>
            </a:r>
            <a:endParaRPr sz="1800" b="1">
              <a:solidFill>
                <a:srgbClr val="F8FAFC"/>
              </a:solidFill>
              <a:latin typeface="Urbanist"/>
              <a:ea typeface="Urbanist"/>
              <a:cs typeface="Urbanist"/>
              <a:sym typeface="Urbanist"/>
            </a:endParaRPr>
          </a:p>
        </p:txBody>
      </p:sp>
      <p:sp>
        <p:nvSpPr>
          <p:cNvPr id="748" name="Google Shape;748;p44"/>
          <p:cNvSpPr txBox="1"/>
          <p:nvPr/>
        </p:nvSpPr>
        <p:spPr>
          <a:xfrm>
            <a:off x="762000" y="2000250"/>
            <a:ext cx="6667500" cy="666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0">
                <a:solidFill>
                  <a:srgbClr val="CBD5E1"/>
                </a:solidFill>
                <a:latin typeface="Inter"/>
                <a:ea typeface="Inter"/>
                <a:cs typeface="Inter"/>
                <a:sym typeface="Inter"/>
              </a:rPr>
              <a:t>Bu grafik modelin öğrenme sürecini gösterir. Loss değerinin epoch ilerledikçe azalması modelin veriyi başarılı şekilde öğrendiğini göstermektedir. Validation loss’un da kontrollü şekilde azalması modelin </a:t>
            </a:r>
            <a:r>
              <a:rPr lang="en-US" sz="1100" b="1">
                <a:solidFill>
                  <a:srgbClr val="60A5FA"/>
                </a:solidFill>
                <a:latin typeface="Inter"/>
                <a:ea typeface="Inter"/>
                <a:cs typeface="Inter"/>
                <a:sym typeface="Inter"/>
              </a:rPr>
              <a:t>overfitting</a:t>
            </a:r>
            <a:r>
              <a:rPr lang="en-US" sz="1100" b="0">
                <a:solidFill>
                  <a:srgbClr val="CBD5E1"/>
                </a:solidFill>
                <a:latin typeface="Inter"/>
                <a:ea typeface="Inter"/>
                <a:cs typeface="Inter"/>
                <a:sym typeface="Inter"/>
              </a:rPr>
              <a:t> yapmadan genelleme başarısı elde ettiğini kanıtlar.</a:t>
            </a:r>
            <a:endParaRPr sz="1100" b="0">
              <a:solidFill>
                <a:srgbClr val="CBD5E1"/>
              </a:solidFill>
              <a:latin typeface="Inter"/>
              <a:ea typeface="Inter"/>
              <a:cs typeface="Inter"/>
              <a:sym typeface="Inter"/>
            </a:endParaRPr>
          </a:p>
        </p:txBody>
      </p:sp>
      <p:sp>
        <p:nvSpPr>
          <p:cNvPr id="749" name="Google Shape;749;p44"/>
          <p:cNvSpPr/>
          <p:nvPr/>
        </p:nvSpPr>
        <p:spPr>
          <a:xfrm>
            <a:off x="571500" y="2952750"/>
            <a:ext cx="7048500" cy="3429000"/>
          </a:xfrm>
          <a:prstGeom prst="roundRect">
            <a:avLst>
              <a:gd name="adj" fmla="val 3333"/>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750" name="Google Shape;750;p44"/>
          <p:cNvPicPr preferRelativeResize="0"/>
          <p:nvPr/>
        </p:nvPicPr>
        <p:blipFill rotWithShape="1">
          <a:blip r:embed="rId4">
            <a:alphaModFix/>
          </a:blip>
          <a:srcRect l="3601" r="3601" b="-18751"/>
          <a:stretch/>
        </p:blipFill>
        <p:spPr>
          <a:xfrm>
            <a:off x="762000" y="3143250"/>
            <a:ext cx="6667500" cy="3619500"/>
          </a:xfrm>
          <a:prstGeom prst="roundRect">
            <a:avLst>
              <a:gd name="adj" fmla="val 3157"/>
            </a:avLst>
          </a:prstGeom>
          <a:noFill/>
          <a:ln>
            <a:noFill/>
          </a:ln>
        </p:spPr>
      </p:pic>
      <p:sp>
        <p:nvSpPr>
          <p:cNvPr id="751" name="Google Shape;751;p44"/>
          <p:cNvSpPr/>
          <p:nvPr/>
        </p:nvSpPr>
        <p:spPr>
          <a:xfrm>
            <a:off x="8001000" y="2952750"/>
            <a:ext cx="3619500" cy="3429000"/>
          </a:xfrm>
          <a:prstGeom prst="roundRect">
            <a:avLst>
              <a:gd name="adj" fmla="val 3333"/>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2" name="Google Shape;752;p44"/>
          <p:cNvSpPr txBox="1"/>
          <p:nvPr/>
        </p:nvSpPr>
        <p:spPr>
          <a:xfrm>
            <a:off x="8191500" y="3143250"/>
            <a:ext cx="3238500" cy="304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F8FAFC"/>
                </a:solidFill>
                <a:latin typeface="Urbanist"/>
                <a:ea typeface="Urbanist"/>
                <a:cs typeface="Urbanist"/>
                <a:sym typeface="Urbanist"/>
              </a:rPr>
              <a:t>Grafik Ne Anlatıyor?</a:t>
            </a:r>
            <a:endParaRPr sz="1800" b="1">
              <a:solidFill>
                <a:srgbClr val="F8FAFC"/>
              </a:solidFill>
              <a:latin typeface="Urbanist"/>
              <a:ea typeface="Urbanist"/>
              <a:cs typeface="Urbanist"/>
              <a:sym typeface="Urbanist"/>
            </a:endParaRPr>
          </a:p>
          <a:p>
            <a:pPr marL="457200" lvl="0" indent="-323850" algn="l" rtl="0">
              <a:spcBef>
                <a:spcPts val="1125"/>
              </a:spcBef>
              <a:spcAft>
                <a:spcPts val="0"/>
              </a:spcAft>
              <a:buSzPts val="1500"/>
              <a:buChar char="●"/>
            </a:pPr>
            <a:r>
              <a:rPr lang="en-US" sz="1200" b="1">
                <a:solidFill>
                  <a:srgbClr val="60A5FA"/>
                </a:solidFill>
                <a:latin typeface="Inter"/>
                <a:ea typeface="Inter"/>
                <a:cs typeface="Inter"/>
                <a:sym typeface="Inter"/>
              </a:rPr>
              <a:t>X ekseni:</a:t>
            </a:r>
            <a:r>
              <a:rPr lang="en-US" sz="1200" b="0">
                <a:solidFill>
                  <a:srgbClr val="CBD5E1"/>
                </a:solidFill>
                <a:latin typeface="Inter"/>
                <a:ea typeface="Inter"/>
                <a:cs typeface="Inter"/>
                <a:sym typeface="Inter"/>
              </a:rPr>
              <a:t> Epoch sayısını ifade eder.</a:t>
            </a:r>
            <a:endParaRPr sz="1200" b="0">
              <a:solidFill>
                <a:srgbClr val="CBD5E1"/>
              </a:solidFill>
              <a:latin typeface="Inter"/>
              <a:ea typeface="Inter"/>
              <a:cs typeface="Inter"/>
              <a:sym typeface="Inter"/>
            </a:endParaRPr>
          </a:p>
          <a:p>
            <a:pPr marL="457200" lvl="0" indent="-323850" algn="l" rtl="0">
              <a:spcBef>
                <a:spcPts val="750"/>
              </a:spcBef>
              <a:spcAft>
                <a:spcPts val="0"/>
              </a:spcAft>
              <a:buSzPts val="1500"/>
              <a:buChar char="●"/>
            </a:pPr>
            <a:r>
              <a:rPr lang="en-US" sz="1200" b="1">
                <a:solidFill>
                  <a:srgbClr val="60A5FA"/>
                </a:solidFill>
                <a:latin typeface="Inter"/>
                <a:ea typeface="Inter"/>
                <a:cs typeface="Inter"/>
                <a:sym typeface="Inter"/>
              </a:rPr>
              <a:t>Y ekseni:</a:t>
            </a:r>
            <a:r>
              <a:rPr lang="en-US" sz="1200" b="0">
                <a:solidFill>
                  <a:srgbClr val="CBD5E1"/>
                </a:solidFill>
                <a:latin typeface="Inter"/>
                <a:ea typeface="Inter"/>
                <a:cs typeface="Inter"/>
                <a:sym typeface="Inter"/>
              </a:rPr>
              <a:t> Loss (hata) değerini gösterir.</a:t>
            </a:r>
            <a:endParaRPr sz="1200" b="0">
              <a:solidFill>
                <a:srgbClr val="CBD5E1"/>
              </a:solidFill>
              <a:latin typeface="Inter"/>
              <a:ea typeface="Inter"/>
              <a:cs typeface="Inter"/>
              <a:sym typeface="Inter"/>
            </a:endParaRPr>
          </a:p>
          <a:p>
            <a:pPr marL="457200" lvl="0" indent="-323850" algn="l" rtl="0">
              <a:spcBef>
                <a:spcPts val="750"/>
              </a:spcBef>
              <a:spcAft>
                <a:spcPts val="0"/>
              </a:spcAft>
              <a:buSzPts val="1500"/>
              <a:buChar char="●"/>
            </a:pPr>
            <a:r>
              <a:rPr lang="en-US" sz="1200" b="1">
                <a:solidFill>
                  <a:srgbClr val="60A5FA"/>
                </a:solidFill>
                <a:latin typeface="Inter"/>
                <a:ea typeface="Inter"/>
                <a:cs typeface="Inter"/>
                <a:sym typeface="Inter"/>
              </a:rPr>
              <a:t>Train Loss:</a:t>
            </a:r>
            <a:r>
              <a:rPr lang="en-US" sz="1200" b="0">
                <a:solidFill>
                  <a:srgbClr val="CBD5E1"/>
                </a:solidFill>
                <a:latin typeface="Inter"/>
                <a:ea typeface="Inter"/>
                <a:cs typeface="Inter"/>
                <a:sym typeface="Inter"/>
              </a:rPr>
              <a:t> 1.27'den 0.76'ya düşerek çok iyi bir öğrenme eğrisi sergilemiştir.</a:t>
            </a:r>
            <a:endParaRPr sz="1200" b="0">
              <a:solidFill>
                <a:srgbClr val="CBD5E1"/>
              </a:solidFill>
              <a:latin typeface="Inter"/>
              <a:ea typeface="Inter"/>
              <a:cs typeface="Inter"/>
              <a:sym typeface="Inter"/>
            </a:endParaRPr>
          </a:p>
          <a:p>
            <a:pPr marL="457200" lvl="0" indent="-323850" algn="l" rtl="0">
              <a:spcBef>
                <a:spcPts val="750"/>
              </a:spcBef>
              <a:spcAft>
                <a:spcPts val="0"/>
              </a:spcAft>
              <a:buSzPts val="1500"/>
              <a:buChar char="●"/>
            </a:pPr>
            <a:r>
              <a:rPr lang="en-US" sz="1200" b="1">
                <a:solidFill>
                  <a:srgbClr val="60A5FA"/>
                </a:solidFill>
                <a:latin typeface="Inter"/>
                <a:ea typeface="Inter"/>
                <a:cs typeface="Inter"/>
                <a:sym typeface="Inter"/>
              </a:rPr>
              <a:t>Validation Loss:</a:t>
            </a:r>
            <a:r>
              <a:rPr lang="en-US" sz="1200" b="0">
                <a:solidFill>
                  <a:srgbClr val="CBD5E1"/>
                </a:solidFill>
                <a:latin typeface="Inter"/>
                <a:ea typeface="Inter"/>
                <a:cs typeface="Inter"/>
                <a:sym typeface="Inter"/>
              </a:rPr>
              <a:t> 1.00'den 0.89 civarına inerek daha stabil bir seyir izlemiştir.</a:t>
            </a:r>
            <a:endParaRPr sz="1200" b="0">
              <a:solidFill>
                <a:srgbClr val="CBD5E1"/>
              </a:solidFill>
              <a:latin typeface="Inter"/>
              <a:ea typeface="Inter"/>
              <a:cs typeface="Inter"/>
              <a:sym typeface="Inter"/>
            </a:endParaRPr>
          </a:p>
        </p:txBody>
      </p:sp>
      <p:sp>
        <p:nvSpPr>
          <p:cNvPr id="753" name="Google Shape;753;p44"/>
          <p:cNvSpPr/>
          <p:nvPr/>
        </p:nvSpPr>
        <p:spPr>
          <a:xfrm>
            <a:off x="7810500" y="1333500"/>
            <a:ext cx="4000500" cy="1428900"/>
          </a:xfrm>
          <a:prstGeom prst="roundRect">
            <a:avLst>
              <a:gd name="adj" fmla="val 13333"/>
            </a:avLst>
          </a:prstGeom>
          <a:solidFill>
            <a:srgbClr val="000000">
              <a:alpha val="0"/>
            </a:srgbClr>
          </a:solidFill>
          <a:ln w="9525" cap="flat" cmpd="sng">
            <a:solidFill>
              <a:srgbClr val="60A5F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4" name="Google Shape;754;p44"/>
          <p:cNvSpPr txBox="1"/>
          <p:nvPr/>
        </p:nvSpPr>
        <p:spPr>
          <a:xfrm>
            <a:off x="7810500" y="1333500"/>
            <a:ext cx="4000500" cy="1428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F8FAFC"/>
                </a:solidFill>
                <a:latin typeface="Urbanist"/>
                <a:ea typeface="Urbanist"/>
                <a:cs typeface="Urbanist"/>
                <a:sym typeface="Urbanist"/>
              </a:rPr>
              <a:t>Model Öğrenme</a:t>
            </a:r>
            <a:br>
              <a:rPr lang="en-US" sz="1800" b="1">
                <a:solidFill>
                  <a:srgbClr val="F8FAFC"/>
                </a:solidFill>
                <a:latin typeface="Urbanist"/>
                <a:ea typeface="Urbanist"/>
                <a:cs typeface="Urbanist"/>
                <a:sym typeface="Urbanist"/>
              </a:rPr>
            </a:br>
            <a:r>
              <a:rPr lang="en-US" sz="1800" b="1">
                <a:solidFill>
                  <a:srgbClr val="F8FAFC"/>
                </a:solidFill>
                <a:latin typeface="Urbanist"/>
                <a:ea typeface="Urbanist"/>
                <a:cs typeface="Urbanist"/>
                <a:sym typeface="Urbanist"/>
              </a:rPr>
              <a:t>Performansı</a:t>
            </a:r>
            <a:endParaRPr sz="1800" b="1">
              <a:solidFill>
                <a:srgbClr val="F8FAFC"/>
              </a:solidFill>
              <a:latin typeface="Urbanist"/>
              <a:ea typeface="Urbanist"/>
              <a:cs typeface="Urbanist"/>
              <a:sym typeface="Urbanist"/>
            </a:endParaRPr>
          </a:p>
          <a:p>
            <a:pPr marL="0" lvl="0" indent="0" algn="ctr" rtl="0">
              <a:spcBef>
                <a:spcPts val="375"/>
              </a:spcBef>
              <a:spcAft>
                <a:spcPts val="0"/>
              </a:spcAft>
              <a:buNone/>
            </a:pPr>
            <a:r>
              <a:rPr lang="en-US" sz="900" b="0">
                <a:solidFill>
                  <a:srgbClr val="94A3B8"/>
                </a:solidFill>
                <a:latin typeface="Inter"/>
                <a:ea typeface="Inter"/>
                <a:cs typeface="Inter"/>
                <a:sym typeface="Inter"/>
              </a:rPr>
              <a:t>Hata oranlarındaki istikrarlı düşüş</a:t>
            </a:r>
            <a:endParaRPr sz="900" b="0">
              <a:solidFill>
                <a:srgbClr val="94A3B8"/>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58"/>
        <p:cNvGrpSpPr/>
        <p:nvPr/>
      </p:nvGrpSpPr>
      <p:grpSpPr>
        <a:xfrm>
          <a:off x="0" y="0"/>
          <a:ext cx="0" cy="0"/>
          <a:chOff x="0" y="0"/>
          <a:chExt cx="0" cy="0"/>
        </a:xfrm>
      </p:grpSpPr>
      <p:sp>
        <p:nvSpPr>
          <p:cNvPr id="759" name="Google Shape;759;p45"/>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0" name="Google Shape;760;p45"/>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Eğitim Süreci: PR-AUC Analizi</a:t>
            </a:r>
            <a:endParaRPr sz="3200" b="1">
              <a:solidFill>
                <a:srgbClr val="60A5FA"/>
              </a:solidFill>
              <a:latin typeface="Urbanist"/>
              <a:ea typeface="Urbanist"/>
              <a:cs typeface="Urbanist"/>
              <a:sym typeface="Urbanist"/>
            </a:endParaRPr>
          </a:p>
        </p:txBody>
      </p:sp>
      <p:sp>
        <p:nvSpPr>
          <p:cNvPr id="761" name="Google Shape;761;p45"/>
          <p:cNvSpPr/>
          <p:nvPr/>
        </p:nvSpPr>
        <p:spPr>
          <a:xfrm>
            <a:off x="571500" y="1333500"/>
            <a:ext cx="7048500" cy="1428900"/>
          </a:xfrm>
          <a:prstGeom prst="roundRect">
            <a:avLst>
              <a:gd name="adj" fmla="val 8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2" name="Google Shape;762;p45"/>
          <p:cNvSpPr txBox="1"/>
          <p:nvPr/>
        </p:nvSpPr>
        <p:spPr>
          <a:xfrm>
            <a:off x="762000" y="1606677"/>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763" name="Google Shape;763;p45"/>
          <p:cNvSpPr txBox="1"/>
          <p:nvPr/>
        </p:nvSpPr>
        <p:spPr>
          <a:xfrm>
            <a:off x="1238250" y="1524000"/>
            <a:ext cx="6191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F8FAFC"/>
                </a:solidFill>
                <a:latin typeface="Urbanist"/>
                <a:ea typeface="Urbanist"/>
                <a:cs typeface="Urbanist"/>
                <a:sym typeface="Urbanist"/>
              </a:rPr>
              <a:t>PR-AUC Grafiği ve Anlamı</a:t>
            </a:r>
            <a:endParaRPr sz="1800" b="1">
              <a:solidFill>
                <a:srgbClr val="F8FAFC"/>
              </a:solidFill>
              <a:latin typeface="Urbanist"/>
              <a:ea typeface="Urbanist"/>
              <a:cs typeface="Urbanist"/>
              <a:sym typeface="Urbanist"/>
            </a:endParaRPr>
          </a:p>
        </p:txBody>
      </p:sp>
      <p:sp>
        <p:nvSpPr>
          <p:cNvPr id="764" name="Google Shape;764;p45"/>
          <p:cNvSpPr txBox="1"/>
          <p:nvPr/>
        </p:nvSpPr>
        <p:spPr>
          <a:xfrm>
            <a:off x="762000" y="2000250"/>
            <a:ext cx="6667500" cy="666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0">
                <a:solidFill>
                  <a:srgbClr val="CBD5E1"/>
                </a:solidFill>
                <a:latin typeface="Inter"/>
                <a:ea typeface="Inter"/>
                <a:cs typeface="Inter"/>
                <a:sym typeface="Inter"/>
              </a:rPr>
              <a:t>PR-AUC (Precision-Recall Area Under Curve), modelin </a:t>
            </a:r>
            <a:r>
              <a:rPr lang="en-US" sz="1100" b="1">
                <a:solidFill>
                  <a:srgbClr val="60A5FA"/>
                </a:solidFill>
                <a:latin typeface="Inter"/>
                <a:ea typeface="Inter"/>
                <a:cs typeface="Inter"/>
                <a:sym typeface="Inter"/>
              </a:rPr>
              <a:t>sınıfları birbirinden ayırabilme gücünü</a:t>
            </a:r>
            <a:r>
              <a:rPr lang="en-US" sz="1100" b="0">
                <a:solidFill>
                  <a:srgbClr val="CBD5E1"/>
                </a:solidFill>
                <a:latin typeface="Inter"/>
                <a:ea typeface="Inter"/>
                <a:cs typeface="Inter"/>
                <a:sym typeface="Inter"/>
              </a:rPr>
              <a:t> gösterir. Değerin yüksek olması, modelin sınıfları ayırt etme performansının güçlü olduğunu kanıtlar. Eğri altındaki alan arttıkça modelin doğruluğu ve hassasiyeti artar.</a:t>
            </a:r>
            <a:endParaRPr sz="1100" b="0">
              <a:solidFill>
                <a:srgbClr val="CBD5E1"/>
              </a:solidFill>
              <a:latin typeface="Inter"/>
              <a:ea typeface="Inter"/>
              <a:cs typeface="Inter"/>
              <a:sym typeface="Inter"/>
            </a:endParaRPr>
          </a:p>
        </p:txBody>
      </p:sp>
      <p:sp>
        <p:nvSpPr>
          <p:cNvPr id="765" name="Google Shape;765;p45"/>
          <p:cNvSpPr/>
          <p:nvPr/>
        </p:nvSpPr>
        <p:spPr>
          <a:xfrm>
            <a:off x="571500" y="2952750"/>
            <a:ext cx="7048500" cy="3429000"/>
          </a:xfrm>
          <a:prstGeom prst="roundRect">
            <a:avLst>
              <a:gd name="adj" fmla="val 3333"/>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766" name="Google Shape;766;p45"/>
          <p:cNvPicPr preferRelativeResize="0"/>
          <p:nvPr/>
        </p:nvPicPr>
        <p:blipFill rotWithShape="1">
          <a:blip r:embed="rId4">
            <a:alphaModFix/>
          </a:blip>
          <a:srcRect t="477" b="-25931"/>
          <a:stretch/>
        </p:blipFill>
        <p:spPr>
          <a:xfrm>
            <a:off x="762000" y="3238500"/>
            <a:ext cx="6667500" cy="3619500"/>
          </a:xfrm>
          <a:prstGeom prst="roundRect">
            <a:avLst>
              <a:gd name="adj" fmla="val 3157"/>
            </a:avLst>
          </a:prstGeom>
          <a:noFill/>
          <a:ln>
            <a:noFill/>
          </a:ln>
        </p:spPr>
      </p:pic>
      <p:sp>
        <p:nvSpPr>
          <p:cNvPr id="767" name="Google Shape;767;p45"/>
          <p:cNvSpPr/>
          <p:nvPr/>
        </p:nvSpPr>
        <p:spPr>
          <a:xfrm>
            <a:off x="8001000" y="2952750"/>
            <a:ext cx="3619500" cy="3429000"/>
          </a:xfrm>
          <a:prstGeom prst="roundRect">
            <a:avLst>
              <a:gd name="adj" fmla="val 3333"/>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8" name="Google Shape;768;p45"/>
          <p:cNvSpPr txBox="1"/>
          <p:nvPr/>
        </p:nvSpPr>
        <p:spPr>
          <a:xfrm>
            <a:off x="8191500" y="3143250"/>
            <a:ext cx="3238500" cy="304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1800" b="1">
              <a:solidFill>
                <a:srgbClr val="F8FAFC"/>
              </a:solidFill>
              <a:latin typeface="Urbanist"/>
              <a:ea typeface="Urbanist"/>
              <a:cs typeface="Urbanist"/>
              <a:sym typeface="Urbanist"/>
            </a:endParaRPr>
          </a:p>
          <a:p>
            <a:pPr marL="457200" lvl="0" indent="-304800" algn="l" rtl="0">
              <a:spcBef>
                <a:spcPts val="1125"/>
              </a:spcBef>
              <a:spcAft>
                <a:spcPts val="0"/>
              </a:spcAft>
              <a:buClr>
                <a:srgbClr val="CBD5E1"/>
              </a:buClr>
              <a:buSzPts val="1200"/>
              <a:buFont typeface="Inter"/>
              <a:buChar char="●"/>
            </a:pPr>
            <a:r>
              <a:rPr lang="en-US" sz="1200" b="0">
                <a:solidFill>
                  <a:srgbClr val="CBD5E1"/>
                </a:solidFill>
                <a:latin typeface="Inter"/>
                <a:ea typeface="Inter"/>
                <a:cs typeface="Inter"/>
                <a:sym typeface="Inter"/>
              </a:rPr>
              <a:t>Validation eğrisinin stabil ilerlemesi, modelin </a:t>
            </a:r>
            <a:r>
              <a:rPr lang="en-US" sz="1200" b="1">
                <a:solidFill>
                  <a:srgbClr val="60A5FA"/>
                </a:solidFill>
                <a:latin typeface="Inter"/>
                <a:ea typeface="Inter"/>
                <a:cs typeface="Inter"/>
                <a:sym typeface="Inter"/>
              </a:rPr>
              <a:t>genelleme kabiliyetinin</a:t>
            </a:r>
            <a:r>
              <a:rPr lang="en-US" sz="1200" b="0">
                <a:solidFill>
                  <a:srgbClr val="CBD5E1"/>
                </a:solidFill>
                <a:latin typeface="Inter"/>
                <a:ea typeface="Inter"/>
                <a:cs typeface="Inter"/>
                <a:sym typeface="Inter"/>
              </a:rPr>
              <a:t> korunduğunu gösterir.</a:t>
            </a:r>
            <a:endParaRPr sz="1200" b="0">
              <a:solidFill>
                <a:srgbClr val="CBD5E1"/>
              </a:solidFill>
              <a:latin typeface="Inter"/>
              <a:ea typeface="Inter"/>
              <a:cs typeface="Inter"/>
              <a:sym typeface="Inter"/>
            </a:endParaRPr>
          </a:p>
          <a:p>
            <a:pPr marL="457200" lvl="0" indent="-304800" algn="l" rtl="0">
              <a:spcBef>
                <a:spcPts val="600"/>
              </a:spcBef>
              <a:spcAft>
                <a:spcPts val="0"/>
              </a:spcAft>
              <a:buClr>
                <a:srgbClr val="CBD5E1"/>
              </a:buClr>
              <a:buSzPts val="1200"/>
              <a:buFont typeface="Inter"/>
              <a:buChar char="●"/>
            </a:pPr>
            <a:r>
              <a:rPr lang="en-US" sz="1200" b="0">
                <a:solidFill>
                  <a:srgbClr val="CBD5E1"/>
                </a:solidFill>
                <a:latin typeface="Inter"/>
                <a:ea typeface="Inter"/>
                <a:cs typeface="Inter"/>
                <a:sym typeface="Inter"/>
              </a:rPr>
              <a:t>Fine-tuning başlangıcı sonrası Train AUC artışı, modelin spesifik öznitelikleri başarıyla yakaladığını kanıtlar.</a:t>
            </a:r>
            <a:endParaRPr sz="1200" b="0">
              <a:solidFill>
                <a:srgbClr val="CBD5E1"/>
              </a:solidFill>
              <a:latin typeface="Inter"/>
              <a:ea typeface="Inter"/>
              <a:cs typeface="Inter"/>
              <a:sym typeface="Inter"/>
            </a:endParaRPr>
          </a:p>
          <a:p>
            <a:pPr marL="457200" lvl="0" indent="-304800" algn="l" rtl="0">
              <a:spcBef>
                <a:spcPts val="600"/>
              </a:spcBef>
              <a:spcAft>
                <a:spcPts val="600"/>
              </a:spcAft>
              <a:buClr>
                <a:srgbClr val="CBD5E1"/>
              </a:buClr>
              <a:buSzPts val="1200"/>
              <a:buFont typeface="Inter"/>
              <a:buChar char="●"/>
            </a:pPr>
            <a:r>
              <a:rPr lang="en-US" sz="1200" b="0">
                <a:solidFill>
                  <a:srgbClr val="CBD5E1"/>
                </a:solidFill>
                <a:latin typeface="Inter"/>
                <a:ea typeface="Inter"/>
                <a:cs typeface="Inter"/>
                <a:sym typeface="Inter"/>
              </a:rPr>
              <a:t>PR-AUC skoru, dengesiz veri setlerinde model başarısının en kritik göstergesidir.</a:t>
            </a:r>
            <a:endParaRPr sz="1200" b="0">
              <a:solidFill>
                <a:srgbClr val="CBD5E1"/>
              </a:solidFill>
              <a:latin typeface="Inter"/>
              <a:ea typeface="Inter"/>
              <a:cs typeface="Inter"/>
              <a:sym typeface="Inter"/>
            </a:endParaRPr>
          </a:p>
        </p:txBody>
      </p:sp>
      <p:sp>
        <p:nvSpPr>
          <p:cNvPr id="769" name="Google Shape;769;p45"/>
          <p:cNvSpPr/>
          <p:nvPr/>
        </p:nvSpPr>
        <p:spPr>
          <a:xfrm>
            <a:off x="7810500" y="1333500"/>
            <a:ext cx="4000500" cy="1428900"/>
          </a:xfrm>
          <a:prstGeom prst="roundRect">
            <a:avLst>
              <a:gd name="adj" fmla="val 13333"/>
            </a:avLst>
          </a:prstGeom>
          <a:solidFill>
            <a:srgbClr val="000000">
              <a:alpha val="0"/>
            </a:srgbClr>
          </a:solidFill>
          <a:ln w="9525" cap="flat" cmpd="sng">
            <a:solidFill>
              <a:srgbClr val="60A5F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0" name="Google Shape;770;p45"/>
          <p:cNvSpPr txBox="1"/>
          <p:nvPr/>
        </p:nvSpPr>
        <p:spPr>
          <a:xfrm>
            <a:off x="7810500" y="1333500"/>
            <a:ext cx="4000500" cy="1428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F8FAFC"/>
                </a:solidFill>
                <a:latin typeface="Urbanist"/>
                <a:ea typeface="Urbanist"/>
                <a:cs typeface="Urbanist"/>
                <a:sym typeface="Urbanist"/>
              </a:rPr>
              <a:t>Model Ayırt Etme Gücü</a:t>
            </a:r>
            <a:endParaRPr sz="1800" b="1">
              <a:solidFill>
                <a:srgbClr val="F8FAFC"/>
              </a:solidFill>
              <a:latin typeface="Urbanist"/>
              <a:ea typeface="Urbanist"/>
              <a:cs typeface="Urbanist"/>
              <a:sym typeface="Urbanist"/>
            </a:endParaRPr>
          </a:p>
          <a:p>
            <a:pPr marL="0" lvl="0" indent="0" algn="ctr" rtl="0">
              <a:spcBef>
                <a:spcPts val="300"/>
              </a:spcBef>
              <a:spcAft>
                <a:spcPts val="0"/>
              </a:spcAft>
              <a:buNone/>
            </a:pPr>
            <a:r>
              <a:rPr lang="en-US" sz="900" b="0">
                <a:solidFill>
                  <a:srgbClr val="94A3B8"/>
                </a:solidFill>
                <a:latin typeface="Urbanist"/>
                <a:ea typeface="Urbanist"/>
                <a:cs typeface="Urbanist"/>
                <a:sym typeface="Urbanist"/>
              </a:rPr>
              <a:t>Yüksek PR-AUC ile optimize teşhis kapasitesi</a:t>
            </a:r>
            <a:endParaRPr sz="900" b="0">
              <a:solidFill>
                <a:srgbClr val="94A3B8"/>
              </a:solidFill>
              <a:latin typeface="Urbanist"/>
              <a:ea typeface="Urbanist"/>
              <a:cs typeface="Urbanist"/>
              <a:sym typeface="Urbanis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74"/>
        <p:cNvGrpSpPr/>
        <p:nvPr/>
      </p:nvGrpSpPr>
      <p:grpSpPr>
        <a:xfrm>
          <a:off x="0" y="0"/>
          <a:ext cx="0" cy="0"/>
          <a:chOff x="0" y="0"/>
          <a:chExt cx="0" cy="0"/>
        </a:xfrm>
      </p:grpSpPr>
      <p:sp>
        <p:nvSpPr>
          <p:cNvPr id="775" name="Google Shape;775;p46"/>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6" name="Google Shape;776;p46"/>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Sınıf Bazlı Model Performans Analizi</a:t>
            </a:r>
            <a:endParaRPr sz="3200" b="1">
              <a:solidFill>
                <a:srgbClr val="60A5FA"/>
              </a:solidFill>
              <a:latin typeface="Urbanist"/>
              <a:ea typeface="Urbanist"/>
              <a:cs typeface="Urbanist"/>
              <a:sym typeface="Urbanist"/>
            </a:endParaRPr>
          </a:p>
        </p:txBody>
      </p:sp>
      <p:sp>
        <p:nvSpPr>
          <p:cNvPr id="777" name="Google Shape;777;p46"/>
          <p:cNvSpPr/>
          <p:nvPr/>
        </p:nvSpPr>
        <p:spPr>
          <a:xfrm>
            <a:off x="571500" y="1333500"/>
            <a:ext cx="7048500" cy="1428900"/>
          </a:xfrm>
          <a:prstGeom prst="roundRect">
            <a:avLst>
              <a:gd name="adj" fmla="val 8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8" name="Google Shape;778;p46"/>
          <p:cNvSpPr txBox="1"/>
          <p:nvPr/>
        </p:nvSpPr>
        <p:spPr>
          <a:xfrm>
            <a:off x="762000" y="1587627"/>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779" name="Google Shape;779;p46"/>
          <p:cNvSpPr txBox="1"/>
          <p:nvPr/>
        </p:nvSpPr>
        <p:spPr>
          <a:xfrm>
            <a:off x="1238250" y="1524000"/>
            <a:ext cx="6191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F8FAFC"/>
                </a:solidFill>
                <a:latin typeface="Urbanist"/>
                <a:ea typeface="Urbanist"/>
                <a:cs typeface="Urbanist"/>
                <a:sym typeface="Urbanist"/>
              </a:rPr>
              <a:t>Multi-label Sınıf Bazlı F1-Score Dağılımı</a:t>
            </a:r>
            <a:endParaRPr sz="1800" b="1">
              <a:solidFill>
                <a:srgbClr val="F8FAFC"/>
              </a:solidFill>
              <a:latin typeface="Urbanist"/>
              <a:ea typeface="Urbanist"/>
              <a:cs typeface="Urbanist"/>
              <a:sym typeface="Urbanist"/>
            </a:endParaRPr>
          </a:p>
        </p:txBody>
      </p:sp>
      <p:sp>
        <p:nvSpPr>
          <p:cNvPr id="780" name="Google Shape;780;p46"/>
          <p:cNvSpPr txBox="1"/>
          <p:nvPr/>
        </p:nvSpPr>
        <p:spPr>
          <a:xfrm>
            <a:off x="762000" y="2000250"/>
            <a:ext cx="6667500" cy="666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0">
                <a:solidFill>
                  <a:srgbClr val="CBD5E1"/>
                </a:solidFill>
                <a:latin typeface="Inter"/>
                <a:ea typeface="Inter"/>
                <a:cs typeface="Inter"/>
                <a:sym typeface="Inter"/>
              </a:rPr>
              <a:t>Grafik, modelin farklı tıbbi sınıflar üzerindeki başarı oranlarını (F1-Score) göstermektedir. En yüksek performans </a:t>
            </a:r>
            <a:r>
              <a:rPr lang="en-US" sz="1100" b="1">
                <a:solidFill>
                  <a:srgbClr val="60A5FA"/>
                </a:solidFill>
                <a:latin typeface="Inter"/>
                <a:ea typeface="Inter"/>
                <a:cs typeface="Inter"/>
                <a:sym typeface="Inter"/>
              </a:rPr>
              <a:t>M (0.75)</a:t>
            </a:r>
            <a:r>
              <a:rPr lang="en-US" sz="1100" b="0">
                <a:solidFill>
                  <a:srgbClr val="CBD5E1"/>
                </a:solidFill>
                <a:latin typeface="Inter"/>
                <a:ea typeface="Inter"/>
                <a:cs typeface="Inter"/>
                <a:sym typeface="Inter"/>
              </a:rPr>
              <a:t> ve </a:t>
            </a:r>
            <a:r>
              <a:rPr lang="en-US" sz="1100" b="1">
                <a:solidFill>
                  <a:srgbClr val="60A5FA"/>
                </a:solidFill>
                <a:latin typeface="Inter"/>
                <a:ea typeface="Inter"/>
                <a:cs typeface="Inter"/>
                <a:sym typeface="Inter"/>
              </a:rPr>
              <a:t>C (0.72)</a:t>
            </a:r>
            <a:r>
              <a:rPr lang="en-US" sz="1100" b="0">
                <a:solidFill>
                  <a:srgbClr val="CBD5E1"/>
                </a:solidFill>
                <a:latin typeface="Inter"/>
                <a:ea typeface="Inter"/>
                <a:cs typeface="Inter"/>
                <a:sym typeface="Inter"/>
              </a:rPr>
              <a:t> sınıflarında görülürken, en düşük performans </a:t>
            </a:r>
            <a:r>
              <a:rPr lang="en-US" sz="1100" b="1">
                <a:solidFill>
                  <a:srgbClr val="EE9FA4"/>
                </a:solidFill>
                <a:latin typeface="Inter"/>
                <a:ea typeface="Inter"/>
                <a:cs typeface="Inter"/>
                <a:sym typeface="Inter"/>
              </a:rPr>
              <a:t>H (0.18)</a:t>
            </a:r>
            <a:r>
              <a:rPr lang="en-US" sz="1100" b="0">
                <a:solidFill>
                  <a:srgbClr val="CBD5E1"/>
                </a:solidFill>
                <a:latin typeface="Inter"/>
                <a:ea typeface="Inter"/>
                <a:cs typeface="Inter"/>
                <a:sym typeface="Inter"/>
              </a:rPr>
              <a:t> ve </a:t>
            </a:r>
            <a:r>
              <a:rPr lang="en-US" sz="1100" b="1">
                <a:solidFill>
                  <a:srgbClr val="EE9FA4"/>
                </a:solidFill>
                <a:latin typeface="Inter"/>
                <a:ea typeface="Inter"/>
                <a:cs typeface="Inter"/>
                <a:sym typeface="Inter"/>
              </a:rPr>
              <a:t>A (0.20)</a:t>
            </a:r>
            <a:r>
              <a:rPr lang="en-US" sz="1100" b="0">
                <a:solidFill>
                  <a:srgbClr val="CBD5E1"/>
                </a:solidFill>
                <a:latin typeface="Inter"/>
                <a:ea typeface="Inter"/>
                <a:cs typeface="Inter"/>
                <a:sym typeface="Inter"/>
              </a:rPr>
              <a:t> sınıflarında saptanmıştır.</a:t>
            </a:r>
            <a:endParaRPr sz="1100" b="0">
              <a:solidFill>
                <a:srgbClr val="CBD5E1"/>
              </a:solidFill>
              <a:latin typeface="Inter"/>
              <a:ea typeface="Inter"/>
              <a:cs typeface="Inter"/>
              <a:sym typeface="Inter"/>
            </a:endParaRPr>
          </a:p>
        </p:txBody>
      </p:sp>
      <p:sp>
        <p:nvSpPr>
          <p:cNvPr id="781" name="Google Shape;781;p46"/>
          <p:cNvSpPr/>
          <p:nvPr/>
        </p:nvSpPr>
        <p:spPr>
          <a:xfrm>
            <a:off x="571500" y="2952750"/>
            <a:ext cx="7048500" cy="3429000"/>
          </a:xfrm>
          <a:prstGeom prst="roundRect">
            <a:avLst>
              <a:gd name="adj" fmla="val 3333"/>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782" name="Google Shape;782;p46"/>
          <p:cNvPicPr preferRelativeResize="0"/>
          <p:nvPr/>
        </p:nvPicPr>
        <p:blipFill rotWithShape="1">
          <a:blip r:embed="rId4">
            <a:alphaModFix/>
          </a:blip>
          <a:srcRect t="595" b="-8797"/>
          <a:stretch/>
        </p:blipFill>
        <p:spPr>
          <a:xfrm>
            <a:off x="762000" y="3009900"/>
            <a:ext cx="6667500" cy="3619500"/>
          </a:xfrm>
          <a:prstGeom prst="roundRect">
            <a:avLst>
              <a:gd name="adj" fmla="val 3157"/>
            </a:avLst>
          </a:prstGeom>
          <a:noFill/>
          <a:ln>
            <a:noFill/>
          </a:ln>
        </p:spPr>
      </p:pic>
      <p:sp>
        <p:nvSpPr>
          <p:cNvPr id="783" name="Google Shape;783;p46"/>
          <p:cNvSpPr/>
          <p:nvPr/>
        </p:nvSpPr>
        <p:spPr>
          <a:xfrm>
            <a:off x="8001000" y="2952750"/>
            <a:ext cx="3619500" cy="3429000"/>
          </a:xfrm>
          <a:prstGeom prst="roundRect">
            <a:avLst>
              <a:gd name="adj" fmla="val 3333"/>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84" name="Google Shape;784;p46"/>
          <p:cNvSpPr txBox="1"/>
          <p:nvPr/>
        </p:nvSpPr>
        <p:spPr>
          <a:xfrm>
            <a:off x="8191500" y="3143250"/>
            <a:ext cx="3238500" cy="304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F8FAFC"/>
                </a:solidFill>
                <a:latin typeface="Urbanist"/>
                <a:ea typeface="Urbanist"/>
                <a:cs typeface="Urbanist"/>
                <a:sym typeface="Urbanist"/>
              </a:rPr>
              <a:t>Temel Bulgular</a:t>
            </a:r>
            <a:endParaRPr sz="1800" b="1">
              <a:solidFill>
                <a:srgbClr val="F8FAFC"/>
              </a:solidFill>
              <a:latin typeface="Urbanist"/>
              <a:ea typeface="Urbanist"/>
              <a:cs typeface="Urbanist"/>
              <a:sym typeface="Urbanist"/>
            </a:endParaRPr>
          </a:p>
          <a:p>
            <a:pPr marL="457200" lvl="0" indent="-342900" algn="l" rtl="0">
              <a:spcBef>
                <a:spcPts val="1125"/>
              </a:spcBef>
              <a:spcAft>
                <a:spcPts val="0"/>
              </a:spcAft>
              <a:buClr>
                <a:srgbClr val="F8FAFC"/>
              </a:buClr>
              <a:buSzPts val="1800"/>
              <a:buFont typeface="Urbanist"/>
              <a:buChar char="●"/>
            </a:pPr>
            <a:r>
              <a:rPr lang="en-US" sz="1100" b="1">
                <a:solidFill>
                  <a:srgbClr val="60A5FA"/>
                </a:solidFill>
                <a:latin typeface="Inter"/>
                <a:ea typeface="Inter"/>
                <a:cs typeface="Inter"/>
                <a:sym typeface="Inter"/>
              </a:rPr>
              <a:t>Dominant Sınıflar:</a:t>
            </a:r>
            <a:r>
              <a:rPr lang="en-US" sz="1100" b="0">
                <a:solidFill>
                  <a:srgbClr val="CBD5E1"/>
                </a:solidFill>
                <a:latin typeface="Inter"/>
                <a:ea typeface="Inter"/>
                <a:cs typeface="Inter"/>
                <a:sym typeface="Inter"/>
              </a:rPr>
              <a:t> M ve C sınıfları %70 başarının üzerinde kalarak modelin en güçlü olduğu alanları temsil eder.</a:t>
            </a:r>
            <a:endParaRPr sz="1100" b="0">
              <a:solidFill>
                <a:srgbClr val="CBD5E1"/>
              </a:solidFill>
              <a:latin typeface="Inter"/>
              <a:ea typeface="Inter"/>
              <a:cs typeface="Inter"/>
              <a:sym typeface="Inter"/>
            </a:endParaRPr>
          </a:p>
          <a:p>
            <a:pPr marL="457200" lvl="0" indent="-342900" algn="l" rtl="0">
              <a:spcBef>
                <a:spcPts val="750"/>
              </a:spcBef>
              <a:spcAft>
                <a:spcPts val="0"/>
              </a:spcAft>
              <a:buClr>
                <a:srgbClr val="F8FAFC"/>
              </a:buClr>
              <a:buSzPts val="1800"/>
              <a:buFont typeface="Urbanist"/>
              <a:buChar char="●"/>
            </a:pPr>
            <a:r>
              <a:rPr lang="en-US" sz="1100" b="1">
                <a:solidFill>
                  <a:srgbClr val="60A5FA"/>
                </a:solidFill>
                <a:latin typeface="Inter"/>
                <a:ea typeface="Inter"/>
                <a:cs typeface="Inter"/>
                <a:sym typeface="Inter"/>
              </a:rPr>
              <a:t>Orta Segment:</a:t>
            </a:r>
            <a:r>
              <a:rPr lang="en-US" sz="1100" b="0">
                <a:solidFill>
                  <a:srgbClr val="CBD5E1"/>
                </a:solidFill>
                <a:latin typeface="Inter"/>
                <a:ea typeface="Inter"/>
                <a:cs typeface="Inter"/>
                <a:sym typeface="Inter"/>
              </a:rPr>
              <a:t> N, D ve O sınıfları %40-%60 bandında dengeli bir performans sergilemektedir.</a:t>
            </a:r>
            <a:endParaRPr sz="1100" b="0">
              <a:solidFill>
                <a:srgbClr val="CBD5E1"/>
              </a:solidFill>
              <a:latin typeface="Inter"/>
              <a:ea typeface="Inter"/>
              <a:cs typeface="Inter"/>
              <a:sym typeface="Inter"/>
            </a:endParaRPr>
          </a:p>
          <a:p>
            <a:pPr marL="457200" lvl="0" indent="-342900" algn="l" rtl="0">
              <a:spcBef>
                <a:spcPts val="750"/>
              </a:spcBef>
              <a:spcAft>
                <a:spcPts val="0"/>
              </a:spcAft>
              <a:buClr>
                <a:srgbClr val="F8FAFC"/>
              </a:buClr>
              <a:buSzPts val="1800"/>
              <a:buFont typeface="Urbanist"/>
              <a:buChar char="●"/>
            </a:pPr>
            <a:r>
              <a:rPr lang="en-US" sz="1100" b="1">
                <a:solidFill>
                  <a:srgbClr val="EE9FA4"/>
                </a:solidFill>
                <a:latin typeface="Inter"/>
                <a:ea typeface="Inter"/>
                <a:cs typeface="Inter"/>
                <a:sym typeface="Inter"/>
              </a:rPr>
              <a:t>Kritik Eksiklik:</a:t>
            </a:r>
            <a:r>
              <a:rPr lang="en-US" sz="1100" b="0">
                <a:solidFill>
                  <a:srgbClr val="CBD5E1"/>
                </a:solidFill>
                <a:latin typeface="Inter"/>
                <a:ea typeface="Inter"/>
                <a:cs typeface="Inter"/>
                <a:sym typeface="Inter"/>
              </a:rPr>
              <a:t> H, A ve G sınıflarındaki düşük skorlar, veri setindeki dengesizliğe veya öznitelik karmaşıklığına işaret etmektedir.</a:t>
            </a:r>
            <a:endParaRPr sz="1100" b="0">
              <a:solidFill>
                <a:srgbClr val="CBD5E1"/>
              </a:solidFill>
              <a:latin typeface="Inter"/>
              <a:ea typeface="Inter"/>
              <a:cs typeface="Inter"/>
              <a:sym typeface="Inter"/>
            </a:endParaRPr>
          </a:p>
        </p:txBody>
      </p:sp>
      <p:sp>
        <p:nvSpPr>
          <p:cNvPr id="785" name="Google Shape;785;p46"/>
          <p:cNvSpPr/>
          <p:nvPr/>
        </p:nvSpPr>
        <p:spPr>
          <a:xfrm>
            <a:off x="7810500" y="1333500"/>
            <a:ext cx="4000500" cy="1428900"/>
          </a:xfrm>
          <a:prstGeom prst="roundRect">
            <a:avLst>
              <a:gd name="adj" fmla="val 13333"/>
            </a:avLst>
          </a:prstGeom>
          <a:solidFill>
            <a:srgbClr val="000000">
              <a:alpha val="0"/>
            </a:srgbClr>
          </a:solidFill>
          <a:ln w="9525" cap="flat" cmpd="sng">
            <a:solidFill>
              <a:srgbClr val="60A5F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786" name="Google Shape;786;p46" descr="A high-tech digital interface showing medical data analytics with glowing blue charts and professional dashboard elements on a dark background."/>
          <p:cNvPicPr preferRelativeResize="0"/>
          <p:nvPr/>
        </p:nvPicPr>
        <p:blipFill rotWithShape="1">
          <a:blip r:embed="rId5">
            <a:alphaModFix/>
          </a:blip>
          <a:srcRect t="18256" r="-66667" b="-79106"/>
          <a:stretch/>
        </p:blipFill>
        <p:spPr>
          <a:xfrm>
            <a:off x="7810500" y="1333500"/>
            <a:ext cx="6667500" cy="3619500"/>
          </a:xfrm>
          <a:prstGeom prst="roundRect">
            <a:avLst>
              <a:gd name="adj" fmla="val 3157"/>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0"/>
        <p:cNvGrpSpPr/>
        <p:nvPr/>
      </p:nvGrpSpPr>
      <p:grpSpPr>
        <a:xfrm>
          <a:off x="0" y="0"/>
          <a:ext cx="0" cy="0"/>
          <a:chOff x="0" y="0"/>
          <a:chExt cx="0" cy="0"/>
        </a:xfrm>
      </p:grpSpPr>
      <p:sp>
        <p:nvSpPr>
          <p:cNvPr id="791" name="Google Shape;791;p47"/>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92" name="Google Shape;792;p47"/>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Sınıf Bazlı PR-AUC ve ROC-AUC Analizi</a:t>
            </a:r>
            <a:endParaRPr sz="3200" b="1">
              <a:solidFill>
                <a:srgbClr val="60A5FA"/>
              </a:solidFill>
              <a:latin typeface="Urbanist"/>
              <a:ea typeface="Urbanist"/>
              <a:cs typeface="Urbanist"/>
              <a:sym typeface="Urbanist"/>
            </a:endParaRPr>
          </a:p>
        </p:txBody>
      </p:sp>
      <p:sp>
        <p:nvSpPr>
          <p:cNvPr id="793" name="Google Shape;793;p47"/>
          <p:cNvSpPr/>
          <p:nvPr/>
        </p:nvSpPr>
        <p:spPr>
          <a:xfrm>
            <a:off x="571500" y="1333500"/>
            <a:ext cx="7048500" cy="1428900"/>
          </a:xfrm>
          <a:prstGeom prst="roundRect">
            <a:avLst>
              <a:gd name="adj" fmla="val 8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94" name="Google Shape;794;p47"/>
          <p:cNvSpPr txBox="1"/>
          <p:nvPr/>
        </p:nvSpPr>
        <p:spPr>
          <a:xfrm>
            <a:off x="762000" y="1606677"/>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795" name="Google Shape;795;p47"/>
          <p:cNvSpPr txBox="1"/>
          <p:nvPr/>
        </p:nvSpPr>
        <p:spPr>
          <a:xfrm>
            <a:off x="1238250" y="1524000"/>
            <a:ext cx="6191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F8FAFC"/>
                </a:solidFill>
                <a:latin typeface="Urbanist"/>
                <a:ea typeface="Urbanist"/>
                <a:cs typeface="Urbanist"/>
                <a:sym typeface="Urbanist"/>
              </a:rPr>
              <a:t>Metrik Karşılaştırması ve Model Kabiliyeti</a:t>
            </a:r>
            <a:endParaRPr sz="1800" b="1">
              <a:solidFill>
                <a:srgbClr val="F8FAFC"/>
              </a:solidFill>
              <a:latin typeface="Urbanist"/>
              <a:ea typeface="Urbanist"/>
              <a:cs typeface="Urbanist"/>
              <a:sym typeface="Urbanist"/>
            </a:endParaRPr>
          </a:p>
        </p:txBody>
      </p:sp>
      <p:sp>
        <p:nvSpPr>
          <p:cNvPr id="796" name="Google Shape;796;p47"/>
          <p:cNvSpPr txBox="1"/>
          <p:nvPr/>
        </p:nvSpPr>
        <p:spPr>
          <a:xfrm>
            <a:off x="762000" y="2000250"/>
            <a:ext cx="6667500" cy="666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CBD5E1"/>
                </a:solidFill>
                <a:latin typeface="Inter"/>
                <a:ea typeface="Inter"/>
                <a:cs typeface="Inter"/>
                <a:sym typeface="Inter"/>
              </a:rPr>
              <a:t>Grafik, modelin farklı tıbbi sınıflar (N, D, G, C, A, H, M, O) üzerindeki </a:t>
            </a:r>
            <a:r>
              <a:rPr lang="en-US" sz="1100" b="1">
                <a:solidFill>
                  <a:srgbClr val="60A5FA"/>
                </a:solidFill>
                <a:latin typeface="Inter"/>
                <a:ea typeface="Inter"/>
                <a:cs typeface="Inter"/>
                <a:sym typeface="Inter"/>
              </a:rPr>
              <a:t>PR-AUC</a:t>
            </a:r>
            <a:r>
              <a:rPr lang="en-US" sz="1100" b="0">
                <a:solidFill>
                  <a:srgbClr val="CBD5E1"/>
                </a:solidFill>
                <a:latin typeface="Inter"/>
                <a:ea typeface="Inter"/>
                <a:cs typeface="Inter"/>
                <a:sym typeface="Inter"/>
              </a:rPr>
              <a:t> ve </a:t>
            </a:r>
            <a:r>
              <a:rPr lang="en-US" sz="1100" b="1">
                <a:solidFill>
                  <a:srgbClr val="60A5FA"/>
                </a:solidFill>
                <a:latin typeface="Inter"/>
                <a:ea typeface="Inter"/>
                <a:cs typeface="Inter"/>
                <a:sym typeface="Inter"/>
              </a:rPr>
              <a:t>ROC-AUC</a:t>
            </a:r>
            <a:r>
              <a:rPr lang="en-US" sz="1100" b="0">
                <a:solidFill>
                  <a:srgbClr val="CBD5E1"/>
                </a:solidFill>
                <a:latin typeface="Inter"/>
                <a:ea typeface="Inter"/>
                <a:cs typeface="Inter"/>
                <a:sym typeface="Inter"/>
              </a:rPr>
              <a:t> değerlerini sergilemektedir. ROC-AUC değerleri genel olarak daha yüksek seyrederken, PR-AUC değerleri sınıf bazlı hassasiyeti daha net yansıtmaktadır.</a:t>
            </a:r>
            <a:endParaRPr sz="1100" b="0">
              <a:solidFill>
                <a:srgbClr val="CBD5E1"/>
              </a:solidFill>
              <a:latin typeface="Inter"/>
              <a:ea typeface="Inter"/>
              <a:cs typeface="Inter"/>
              <a:sym typeface="Inter"/>
            </a:endParaRPr>
          </a:p>
        </p:txBody>
      </p:sp>
      <p:sp>
        <p:nvSpPr>
          <p:cNvPr id="797" name="Google Shape;797;p47"/>
          <p:cNvSpPr/>
          <p:nvPr/>
        </p:nvSpPr>
        <p:spPr>
          <a:xfrm>
            <a:off x="571500" y="2952750"/>
            <a:ext cx="7048500" cy="3429000"/>
          </a:xfrm>
          <a:prstGeom prst="roundRect">
            <a:avLst>
              <a:gd name="adj" fmla="val 3333"/>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798" name="Google Shape;798;p47"/>
          <p:cNvPicPr preferRelativeResize="0"/>
          <p:nvPr/>
        </p:nvPicPr>
        <p:blipFill rotWithShape="1">
          <a:blip r:embed="rId4">
            <a:alphaModFix/>
          </a:blip>
          <a:srcRect l="229" r="229" b="-9194"/>
          <a:stretch/>
        </p:blipFill>
        <p:spPr>
          <a:xfrm>
            <a:off x="762000" y="3009900"/>
            <a:ext cx="6667500" cy="3619500"/>
          </a:xfrm>
          <a:prstGeom prst="roundRect">
            <a:avLst>
              <a:gd name="adj" fmla="val 3157"/>
            </a:avLst>
          </a:prstGeom>
          <a:noFill/>
          <a:ln>
            <a:noFill/>
          </a:ln>
        </p:spPr>
      </p:pic>
      <p:sp>
        <p:nvSpPr>
          <p:cNvPr id="799" name="Google Shape;799;p47"/>
          <p:cNvSpPr/>
          <p:nvPr/>
        </p:nvSpPr>
        <p:spPr>
          <a:xfrm>
            <a:off x="8001000" y="2952750"/>
            <a:ext cx="3619500" cy="3429000"/>
          </a:xfrm>
          <a:prstGeom prst="roundRect">
            <a:avLst>
              <a:gd name="adj" fmla="val 3333"/>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00" name="Google Shape;800;p47"/>
          <p:cNvSpPr txBox="1"/>
          <p:nvPr/>
        </p:nvSpPr>
        <p:spPr>
          <a:xfrm>
            <a:off x="8191500" y="3143250"/>
            <a:ext cx="3238500" cy="3048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F8FAFC"/>
                </a:solidFill>
                <a:latin typeface="Urbanist"/>
                <a:ea typeface="Urbanist"/>
                <a:cs typeface="Urbanist"/>
                <a:sym typeface="Urbanist"/>
              </a:rPr>
              <a:t>Temel Bulgular</a:t>
            </a:r>
            <a:endParaRPr sz="1800" b="1">
              <a:solidFill>
                <a:srgbClr val="F8FAFC"/>
              </a:solidFill>
              <a:latin typeface="Urbanist"/>
              <a:ea typeface="Urbanist"/>
              <a:cs typeface="Urbanist"/>
              <a:sym typeface="Urbanist"/>
            </a:endParaRPr>
          </a:p>
          <a:p>
            <a:pPr marL="457200" lvl="0" indent="-298450" algn="l" rtl="0">
              <a:spcBef>
                <a:spcPts val="1125"/>
              </a:spcBef>
              <a:spcAft>
                <a:spcPts val="0"/>
              </a:spcAft>
              <a:buClr>
                <a:srgbClr val="CBD5E1"/>
              </a:buClr>
              <a:buSzPts val="1100"/>
              <a:buFont typeface="Inter"/>
              <a:buChar char="●"/>
            </a:pPr>
            <a:r>
              <a:rPr lang="en-US" sz="1100" b="1">
                <a:solidFill>
                  <a:srgbClr val="60A5FA"/>
                </a:solidFill>
                <a:latin typeface="Inter"/>
                <a:ea typeface="Inter"/>
                <a:cs typeface="Inter"/>
                <a:sym typeface="Inter"/>
              </a:rPr>
              <a:t>En Başarılı Sınıf:</a:t>
            </a:r>
            <a:r>
              <a:rPr lang="en-US" sz="1100" b="0">
                <a:solidFill>
                  <a:srgbClr val="CBD5E1"/>
                </a:solidFill>
                <a:latin typeface="Inter"/>
                <a:ea typeface="Inter"/>
                <a:cs typeface="Inter"/>
                <a:sym typeface="Inter"/>
              </a:rPr>
              <a:t> C ve M sınıfları, hem PR-AUC hem de ROC-AUC değerlerinde %80 eşiğini aşarak en güvenilir tahminleri üretmektedir.</a:t>
            </a:r>
            <a:endParaRPr sz="1100" b="0">
              <a:solidFill>
                <a:srgbClr val="CBD5E1"/>
              </a:solidFill>
              <a:latin typeface="Inter"/>
              <a:ea typeface="Inter"/>
              <a:cs typeface="Inter"/>
              <a:sym typeface="Inter"/>
            </a:endParaRPr>
          </a:p>
          <a:p>
            <a:pPr marL="457200" lvl="0" indent="-298450" algn="l" rtl="0">
              <a:spcBef>
                <a:spcPts val="600"/>
              </a:spcBef>
              <a:spcAft>
                <a:spcPts val="0"/>
              </a:spcAft>
              <a:buClr>
                <a:srgbClr val="CBD5E1"/>
              </a:buClr>
              <a:buSzPts val="1100"/>
              <a:buFont typeface="Inter"/>
              <a:buChar char="●"/>
            </a:pPr>
            <a:r>
              <a:rPr lang="en-US" sz="1100" b="1">
                <a:solidFill>
                  <a:srgbClr val="60A5FA"/>
                </a:solidFill>
                <a:latin typeface="Inter"/>
                <a:ea typeface="Inter"/>
                <a:cs typeface="Inter"/>
                <a:sym typeface="Inter"/>
              </a:rPr>
              <a:t>Düşük Performans:</a:t>
            </a:r>
            <a:r>
              <a:rPr lang="en-US" sz="1100" b="0">
                <a:solidFill>
                  <a:srgbClr val="CBD5E1"/>
                </a:solidFill>
                <a:latin typeface="Inter"/>
                <a:ea typeface="Inter"/>
                <a:cs typeface="Inter"/>
                <a:sym typeface="Inter"/>
              </a:rPr>
              <a:t> H sınıfı, özellikle PR-AUC değerinde ciddi bir düşüş göstererek modelin bu sınıftaki pozitif örnekleri ayırt etmede zorlandığını kanıtlamaktadır.</a:t>
            </a:r>
            <a:endParaRPr sz="1100" b="0">
              <a:solidFill>
                <a:srgbClr val="CBD5E1"/>
              </a:solidFill>
              <a:latin typeface="Inter"/>
              <a:ea typeface="Inter"/>
              <a:cs typeface="Inter"/>
              <a:sym typeface="Inter"/>
            </a:endParaRPr>
          </a:p>
          <a:p>
            <a:pPr marL="457200" lvl="0" indent="-298450" algn="l" rtl="0">
              <a:spcBef>
                <a:spcPts val="600"/>
              </a:spcBef>
              <a:spcAft>
                <a:spcPts val="600"/>
              </a:spcAft>
              <a:buClr>
                <a:srgbClr val="CBD5E1"/>
              </a:buClr>
              <a:buSzPts val="1100"/>
              <a:buFont typeface="Inter"/>
              <a:buChar char="●"/>
            </a:pPr>
            <a:r>
              <a:rPr lang="en-US" sz="1100" b="1">
                <a:solidFill>
                  <a:srgbClr val="EE9FA4"/>
                </a:solidFill>
                <a:latin typeface="Inter"/>
                <a:ea typeface="Inter"/>
                <a:cs typeface="Inter"/>
                <a:sym typeface="Inter"/>
              </a:rPr>
              <a:t>Veri Dengesizliği Etkisi:</a:t>
            </a:r>
            <a:r>
              <a:rPr lang="en-US" sz="1100" b="0">
                <a:solidFill>
                  <a:srgbClr val="CBD5E1"/>
                </a:solidFill>
                <a:latin typeface="Inter"/>
                <a:ea typeface="Inter"/>
                <a:cs typeface="Inter"/>
                <a:sym typeface="Inter"/>
              </a:rPr>
              <a:t> PR-AUC değerlerinin ROC-AUC'ye göre belirgin düşük olduğu A ve H gibi sınıflar, veri setindeki seyreklik veya öznitelik karmaşıklığına işaret eder.</a:t>
            </a:r>
            <a:endParaRPr sz="1100" b="0">
              <a:solidFill>
                <a:srgbClr val="CBD5E1"/>
              </a:solidFill>
              <a:latin typeface="Inter"/>
              <a:ea typeface="Inter"/>
              <a:cs typeface="Inter"/>
              <a:sym typeface="Inter"/>
            </a:endParaRPr>
          </a:p>
        </p:txBody>
      </p:sp>
      <p:pic>
        <p:nvPicPr>
          <p:cNvPr id="801" name="Google Shape;801;p47" descr="A high-tech digital medical analytics dashboard, glowing blue interface showing neural network performance metrics, dark professional background, 4k."/>
          <p:cNvPicPr preferRelativeResize="0"/>
          <p:nvPr/>
        </p:nvPicPr>
        <p:blipFill rotWithShape="1">
          <a:blip r:embed="rId5">
            <a:alphaModFix/>
          </a:blip>
          <a:srcRect t="18256" r="-66667" b="-79106"/>
          <a:stretch/>
        </p:blipFill>
        <p:spPr>
          <a:xfrm>
            <a:off x="7810500" y="1333500"/>
            <a:ext cx="6667500" cy="3619500"/>
          </a:xfrm>
          <a:prstGeom prst="roundRect">
            <a:avLst>
              <a:gd name="adj" fmla="val 3157"/>
            </a:avLst>
          </a:prstGeom>
          <a:noFill/>
          <a:ln>
            <a:noFill/>
          </a:ln>
        </p:spPr>
      </p:pic>
      <p:sp>
        <p:nvSpPr>
          <p:cNvPr id="802" name="Google Shape;802;p47"/>
          <p:cNvSpPr/>
          <p:nvPr/>
        </p:nvSpPr>
        <p:spPr>
          <a:xfrm>
            <a:off x="7810500" y="1333500"/>
            <a:ext cx="4000500" cy="1428900"/>
          </a:xfrm>
          <a:prstGeom prst="roundRect">
            <a:avLst>
              <a:gd name="adj" fmla="val 13333"/>
            </a:avLst>
          </a:prstGeom>
          <a:solidFill>
            <a:srgbClr val="000000">
              <a:alpha val="0"/>
            </a:srgbClr>
          </a:solidFill>
          <a:ln w="9525" cap="flat" cmpd="sng">
            <a:solidFill>
              <a:srgbClr val="60A5F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06"/>
        <p:cNvGrpSpPr/>
        <p:nvPr/>
      </p:nvGrpSpPr>
      <p:grpSpPr>
        <a:xfrm>
          <a:off x="0" y="0"/>
          <a:ext cx="0" cy="0"/>
          <a:chOff x="0" y="0"/>
          <a:chExt cx="0" cy="0"/>
        </a:xfrm>
      </p:grpSpPr>
      <p:sp>
        <p:nvSpPr>
          <p:cNvPr id="807" name="Google Shape;807;p48"/>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08" name="Google Shape;808;p48"/>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Metrik Analizi ve Sınıf Bazlı Performans Yorumları</a:t>
            </a:r>
            <a:endParaRPr sz="3200" b="1">
              <a:solidFill>
                <a:srgbClr val="60A5FA"/>
              </a:solidFill>
              <a:latin typeface="Urbanist"/>
              <a:ea typeface="Urbanist"/>
              <a:cs typeface="Urbanist"/>
              <a:sym typeface="Urbanist"/>
            </a:endParaRPr>
          </a:p>
        </p:txBody>
      </p:sp>
      <p:sp>
        <p:nvSpPr>
          <p:cNvPr id="809" name="Google Shape;809;p48"/>
          <p:cNvSpPr/>
          <p:nvPr/>
        </p:nvSpPr>
        <p:spPr>
          <a:xfrm>
            <a:off x="571500" y="1333500"/>
            <a:ext cx="7048500" cy="4572000"/>
          </a:xfrm>
          <a:prstGeom prst="roundRect">
            <a:avLst>
              <a:gd name="adj" fmla="val 25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810" name="Google Shape;810;p48"/>
          <p:cNvGrpSpPr/>
          <p:nvPr/>
        </p:nvGrpSpPr>
        <p:grpSpPr>
          <a:xfrm>
            <a:off x="762000" y="1524000"/>
            <a:ext cx="6667650" cy="416052"/>
            <a:chOff x="0" y="0"/>
            <a:chExt cx="6667650" cy="416052"/>
          </a:xfrm>
        </p:grpSpPr>
        <p:sp>
          <p:nvSpPr>
            <p:cNvPr id="811" name="Google Shape;811;p48"/>
            <p:cNvSpPr txBox="1"/>
            <p:nvPr/>
          </p:nvSpPr>
          <p:spPr>
            <a:xfrm>
              <a:off x="0" y="35052"/>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812" name="Google Shape;812;p48"/>
            <p:cNvSpPr txBox="1"/>
            <p:nvPr/>
          </p:nvSpPr>
          <p:spPr>
            <a:xfrm>
              <a:off x="476250" y="0"/>
              <a:ext cx="6191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F8FAFC"/>
                  </a:solidFill>
                  <a:latin typeface="Urbanist"/>
                  <a:ea typeface="Urbanist"/>
                  <a:cs typeface="Urbanist"/>
                  <a:sym typeface="Urbanist"/>
                </a:rPr>
                <a:t>Model Tahmin Kapasitesi ve Hata Analizi</a:t>
              </a:r>
              <a:endParaRPr sz="1600" b="1">
                <a:solidFill>
                  <a:srgbClr val="F8FAFC"/>
                </a:solidFill>
                <a:latin typeface="Urbanist"/>
                <a:ea typeface="Urbanist"/>
                <a:cs typeface="Urbanist"/>
                <a:sym typeface="Urbanist"/>
              </a:endParaRPr>
            </a:p>
          </p:txBody>
        </p:sp>
      </p:grpSp>
      <p:pic>
        <p:nvPicPr>
          <p:cNvPr id="813" name="Google Shape;813;p48"/>
          <p:cNvPicPr preferRelativeResize="0"/>
          <p:nvPr/>
        </p:nvPicPr>
        <p:blipFill rotWithShape="1">
          <a:blip r:embed="rId4">
            <a:alphaModFix/>
          </a:blip>
          <a:srcRect b="-8260"/>
          <a:stretch/>
        </p:blipFill>
        <p:spPr>
          <a:xfrm>
            <a:off x="309900" y="2134810"/>
            <a:ext cx="7310100" cy="3968100"/>
          </a:xfrm>
          <a:prstGeom prst="roundRect">
            <a:avLst>
              <a:gd name="adj" fmla="val 3157"/>
            </a:avLst>
          </a:prstGeom>
          <a:noFill/>
          <a:ln>
            <a:noFill/>
          </a:ln>
        </p:spPr>
      </p:pic>
      <p:sp>
        <p:nvSpPr>
          <p:cNvPr id="814" name="Google Shape;814;p48"/>
          <p:cNvSpPr/>
          <p:nvPr/>
        </p:nvSpPr>
        <p:spPr>
          <a:xfrm>
            <a:off x="7810500" y="1333500"/>
            <a:ext cx="3810000" cy="4572000"/>
          </a:xfrm>
          <a:prstGeom prst="roundRect">
            <a:avLst>
              <a:gd name="adj" fmla="val 3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15" name="Google Shape;815;p48"/>
          <p:cNvSpPr txBox="1"/>
          <p:nvPr/>
        </p:nvSpPr>
        <p:spPr>
          <a:xfrm>
            <a:off x="8001000" y="1524000"/>
            <a:ext cx="3429000" cy="419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700" b="1">
                <a:solidFill>
                  <a:srgbClr val="F8FAFC"/>
                </a:solidFill>
                <a:latin typeface="Urbanist"/>
                <a:ea typeface="Urbanist"/>
                <a:cs typeface="Urbanist"/>
                <a:sym typeface="Urbanist"/>
              </a:rPr>
              <a:t>Sınıf Bazlı Bulgular</a:t>
            </a:r>
            <a:endParaRPr sz="1700" b="1">
              <a:solidFill>
                <a:srgbClr val="F8FAFC"/>
              </a:solidFill>
              <a:latin typeface="Urbanist"/>
              <a:ea typeface="Urbanist"/>
              <a:cs typeface="Urbanist"/>
              <a:sym typeface="Urbanist"/>
            </a:endParaRPr>
          </a:p>
          <a:p>
            <a:pPr marL="457200" lvl="0" indent="-298450" algn="l" rtl="0">
              <a:spcBef>
                <a:spcPts val="1125"/>
              </a:spcBef>
              <a:spcAft>
                <a:spcPts val="0"/>
              </a:spcAft>
              <a:buClr>
                <a:srgbClr val="CBD5E1"/>
              </a:buClr>
              <a:buSzPts val="1100"/>
              <a:buFont typeface="Inter"/>
              <a:buChar char="●"/>
            </a:pPr>
            <a:r>
              <a:rPr lang="en-US" sz="1100" b="1">
                <a:solidFill>
                  <a:srgbClr val="60A5FA"/>
                </a:solidFill>
                <a:latin typeface="Inter"/>
                <a:ea typeface="Inter"/>
                <a:cs typeface="Inter"/>
                <a:sym typeface="Inter"/>
              </a:rPr>
              <a:t>C (Katarakt):</a:t>
            </a:r>
            <a:r>
              <a:rPr lang="en-US" sz="1100" b="0">
                <a:solidFill>
                  <a:srgbClr val="CBD5E1"/>
                </a:solidFill>
                <a:latin typeface="Inter"/>
                <a:ea typeface="Inter"/>
                <a:cs typeface="Inter"/>
                <a:sym typeface="Inter"/>
              </a:rPr>
              <a:t> Üç metrik (0.73) eşit ve dengeli. Threshold (0.90) kalibrasyonu ile yanlış alarm oranı düşük.</a:t>
            </a:r>
            <a:endParaRPr sz="1100" b="0">
              <a:solidFill>
                <a:srgbClr val="CBD5E1"/>
              </a:solidFill>
              <a:latin typeface="Inter"/>
              <a:ea typeface="Inter"/>
              <a:cs typeface="Inter"/>
              <a:sym typeface="Inter"/>
            </a:endParaRPr>
          </a:p>
          <a:p>
            <a:pPr marL="457200" lvl="0" indent="-298450" algn="l" rtl="0">
              <a:spcBef>
                <a:spcPts val="450"/>
              </a:spcBef>
              <a:spcAft>
                <a:spcPts val="0"/>
              </a:spcAft>
              <a:buClr>
                <a:srgbClr val="CBD5E1"/>
              </a:buClr>
              <a:buSzPts val="1100"/>
              <a:buFont typeface="Inter"/>
              <a:buChar char="●"/>
            </a:pPr>
            <a:r>
              <a:rPr lang="en-US" sz="1100" b="1">
                <a:solidFill>
                  <a:srgbClr val="60A5FA"/>
                </a:solidFill>
                <a:latin typeface="Inter"/>
                <a:ea typeface="Inter"/>
                <a:cs typeface="Inter"/>
                <a:sym typeface="Inter"/>
              </a:rPr>
              <a:t>M (Miyopi):</a:t>
            </a:r>
            <a:r>
              <a:rPr lang="en-US" sz="1100" b="0">
                <a:solidFill>
                  <a:srgbClr val="CBD5E1"/>
                </a:solidFill>
                <a:latin typeface="Inter"/>
                <a:ea typeface="Inter"/>
                <a:cs typeface="Inter"/>
                <a:sym typeface="Inter"/>
              </a:rPr>
              <a:t> En yüksek performanslı sınıf (F1: 0.77). Yüksek threshold değerine rağmen ayırt edici özellikler çok belirgin.</a:t>
            </a:r>
            <a:endParaRPr sz="1100" b="0">
              <a:solidFill>
                <a:srgbClr val="CBD5E1"/>
              </a:solidFill>
              <a:latin typeface="Inter"/>
              <a:ea typeface="Inter"/>
              <a:cs typeface="Inter"/>
              <a:sym typeface="Inter"/>
            </a:endParaRPr>
          </a:p>
          <a:p>
            <a:pPr marL="457200" lvl="0" indent="-298450" algn="l" rtl="0">
              <a:spcBef>
                <a:spcPts val="450"/>
              </a:spcBef>
              <a:spcAft>
                <a:spcPts val="0"/>
              </a:spcAft>
              <a:buClr>
                <a:srgbClr val="CBD5E1"/>
              </a:buClr>
              <a:buSzPts val="1100"/>
              <a:buFont typeface="Inter"/>
              <a:buChar char="●"/>
            </a:pPr>
            <a:r>
              <a:rPr lang="en-US" sz="1100" b="1">
                <a:solidFill>
                  <a:srgbClr val="60A5FA"/>
                </a:solidFill>
                <a:latin typeface="Inter"/>
                <a:ea typeface="Inter"/>
                <a:cs typeface="Inter"/>
                <a:sym typeface="Inter"/>
              </a:rPr>
              <a:t>N &amp; D:</a:t>
            </a:r>
            <a:r>
              <a:rPr lang="en-US" sz="1100" b="0">
                <a:solidFill>
                  <a:srgbClr val="CBD5E1"/>
                </a:solidFill>
                <a:latin typeface="Inter"/>
                <a:ea typeface="Inter"/>
                <a:cs typeface="Inter"/>
                <a:sym typeface="Inter"/>
              </a:rPr>
              <a:t> Recall, Precision'dan yüksek. Model aşırı pozitif tahmin eğiliminde; gerçek vakaları yakalıyor ancak yanlış alarm veriyor.</a:t>
            </a:r>
            <a:endParaRPr sz="1100" b="0">
              <a:solidFill>
                <a:srgbClr val="CBD5E1"/>
              </a:solidFill>
              <a:latin typeface="Inter"/>
              <a:ea typeface="Inter"/>
              <a:cs typeface="Inter"/>
              <a:sym typeface="Inter"/>
            </a:endParaRPr>
          </a:p>
          <a:p>
            <a:pPr marL="457200" lvl="0" indent="-298450" algn="l" rtl="0">
              <a:spcBef>
                <a:spcPts val="450"/>
              </a:spcBef>
              <a:spcAft>
                <a:spcPts val="0"/>
              </a:spcAft>
              <a:buClr>
                <a:srgbClr val="CBD5E1"/>
              </a:buClr>
              <a:buSzPts val="1100"/>
              <a:buFont typeface="Inter"/>
              <a:buChar char="●"/>
            </a:pPr>
            <a:r>
              <a:rPr lang="en-US" sz="1100" b="1">
                <a:solidFill>
                  <a:srgbClr val="EE9FA4"/>
                </a:solidFill>
                <a:latin typeface="Inter"/>
                <a:ea typeface="Inter"/>
                <a:cs typeface="Inter"/>
                <a:sym typeface="Inter"/>
              </a:rPr>
              <a:t>G (Glokom):</a:t>
            </a:r>
            <a:r>
              <a:rPr lang="en-US" sz="1100" b="0">
                <a:solidFill>
                  <a:srgbClr val="CBD5E1"/>
                </a:solidFill>
                <a:latin typeface="Inter"/>
                <a:ea typeface="Inter"/>
                <a:cs typeface="Inter"/>
                <a:sym typeface="Inter"/>
              </a:rPr>
              <a:t> Precision (0.25) düşük. Veri azlığı öğrenmeyi kısıtlıyor, yüksek threshold bile yanlış pozitifleri önleyememiş.</a:t>
            </a:r>
            <a:endParaRPr sz="1100" b="0">
              <a:solidFill>
                <a:srgbClr val="CBD5E1"/>
              </a:solidFill>
              <a:latin typeface="Inter"/>
              <a:ea typeface="Inter"/>
              <a:cs typeface="Inter"/>
              <a:sym typeface="Inter"/>
            </a:endParaRPr>
          </a:p>
          <a:p>
            <a:pPr marL="457200" lvl="0" indent="-298450" algn="l" rtl="0">
              <a:spcBef>
                <a:spcPts val="450"/>
              </a:spcBef>
              <a:spcAft>
                <a:spcPts val="0"/>
              </a:spcAft>
              <a:buClr>
                <a:srgbClr val="CBD5E1"/>
              </a:buClr>
              <a:buSzPts val="1100"/>
              <a:buFont typeface="Inter"/>
              <a:buChar char="●"/>
            </a:pPr>
            <a:r>
              <a:rPr lang="en-US" sz="1100" b="1">
                <a:solidFill>
                  <a:srgbClr val="EE9FA4"/>
                </a:solidFill>
                <a:latin typeface="Inter"/>
                <a:ea typeface="Inter"/>
                <a:cs typeface="Inter"/>
                <a:sym typeface="Inter"/>
              </a:rPr>
              <a:t>A (AMD):</a:t>
            </a:r>
            <a:r>
              <a:rPr lang="en-US" sz="1100" b="0">
                <a:solidFill>
                  <a:srgbClr val="CBD5E1"/>
                </a:solidFill>
                <a:latin typeface="Inter"/>
                <a:ea typeface="Inter"/>
                <a:cs typeface="Inter"/>
                <a:sym typeface="Inter"/>
              </a:rPr>
              <a:t> Her 8 pozitif tahminden sadece 1'i doğru (Precision: 0.12). Model bu sınıfı aşırı tahmin ediyor.</a:t>
            </a:r>
            <a:endParaRPr sz="1100" b="0">
              <a:solidFill>
                <a:srgbClr val="CBD5E1"/>
              </a:solidFill>
              <a:latin typeface="Inter"/>
              <a:ea typeface="Inter"/>
              <a:cs typeface="Inter"/>
              <a:sym typeface="Inter"/>
            </a:endParaRPr>
          </a:p>
          <a:p>
            <a:pPr marL="457200" lvl="0" indent="-298450" algn="l" rtl="0">
              <a:spcBef>
                <a:spcPts val="450"/>
              </a:spcBef>
              <a:spcAft>
                <a:spcPts val="450"/>
              </a:spcAft>
              <a:buClr>
                <a:srgbClr val="CBD5E1"/>
              </a:buClr>
              <a:buSzPts val="1100"/>
              <a:buFont typeface="Inter"/>
              <a:buChar char="●"/>
            </a:pPr>
            <a:r>
              <a:rPr lang="en-US" sz="1100" b="1">
                <a:solidFill>
                  <a:srgbClr val="EE9FA4"/>
                </a:solidFill>
                <a:latin typeface="Inter"/>
                <a:ea typeface="Inter"/>
                <a:cs typeface="Inter"/>
                <a:sym typeface="Inter"/>
              </a:rPr>
              <a:t>H (Hipertansiyon):</a:t>
            </a:r>
            <a:r>
              <a:rPr lang="en-US" sz="1100" b="0">
                <a:solidFill>
                  <a:srgbClr val="CBD5E1"/>
                </a:solidFill>
                <a:latin typeface="Inter"/>
                <a:ea typeface="Inter"/>
                <a:cs typeface="Inter"/>
                <a:sym typeface="Inter"/>
              </a:rPr>
              <a:t> En düşük performans (F1: 0.21). Veri yetersizliği nedeniyle patoloji öğrenilememiş.</a:t>
            </a:r>
            <a:endParaRPr sz="1100" b="0">
              <a:solidFill>
                <a:srgbClr val="CBD5E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9"/>
        <p:cNvGrpSpPr/>
        <p:nvPr/>
      </p:nvGrpSpPr>
      <p:grpSpPr>
        <a:xfrm>
          <a:off x="0" y="0"/>
          <a:ext cx="0" cy="0"/>
          <a:chOff x="0" y="0"/>
          <a:chExt cx="0" cy="0"/>
        </a:xfrm>
      </p:grpSpPr>
      <p:sp>
        <p:nvSpPr>
          <p:cNvPr id="820" name="Google Shape;820;p49"/>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1" name="Google Shape;821;p49"/>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60A5FA"/>
                </a:solidFill>
                <a:latin typeface="Urbanist"/>
                <a:ea typeface="Urbanist"/>
                <a:cs typeface="Urbanist"/>
                <a:sym typeface="Urbanist"/>
              </a:rPr>
              <a:t>Sonuç ve Gelecek Vizyonu</a:t>
            </a:r>
            <a:endParaRPr sz="3200" b="1">
              <a:solidFill>
                <a:srgbClr val="60A5FA"/>
              </a:solidFill>
              <a:latin typeface="Urbanist"/>
              <a:ea typeface="Urbanist"/>
              <a:cs typeface="Urbanist"/>
              <a:sym typeface="Urbanist"/>
            </a:endParaRPr>
          </a:p>
        </p:txBody>
      </p:sp>
      <p:sp>
        <p:nvSpPr>
          <p:cNvPr id="822" name="Google Shape;822;p49"/>
          <p:cNvSpPr/>
          <p:nvPr/>
        </p:nvSpPr>
        <p:spPr>
          <a:xfrm>
            <a:off x="571500" y="1333500"/>
            <a:ext cx="7048500" cy="1428900"/>
          </a:xfrm>
          <a:prstGeom prst="roundRect">
            <a:avLst>
              <a:gd name="adj" fmla="val 8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3" name="Google Shape;823;p49"/>
          <p:cNvSpPr txBox="1"/>
          <p:nvPr/>
        </p:nvSpPr>
        <p:spPr>
          <a:xfrm>
            <a:off x="762000" y="1635252"/>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824" name="Google Shape;824;p49"/>
          <p:cNvSpPr txBox="1"/>
          <p:nvPr/>
        </p:nvSpPr>
        <p:spPr>
          <a:xfrm>
            <a:off x="1238250" y="1524000"/>
            <a:ext cx="6191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F8FAFC"/>
                </a:solidFill>
                <a:latin typeface="Urbanist"/>
                <a:ea typeface="Urbanist"/>
                <a:cs typeface="Urbanist"/>
                <a:sym typeface="Urbanist"/>
              </a:rPr>
              <a:t>Fundus Görüntüleme ve Teşhis Zorlukları</a:t>
            </a:r>
            <a:endParaRPr sz="1800" b="1">
              <a:solidFill>
                <a:srgbClr val="F8FAFC"/>
              </a:solidFill>
              <a:latin typeface="Urbanist"/>
              <a:ea typeface="Urbanist"/>
              <a:cs typeface="Urbanist"/>
              <a:sym typeface="Urbanist"/>
            </a:endParaRPr>
          </a:p>
        </p:txBody>
      </p:sp>
      <p:sp>
        <p:nvSpPr>
          <p:cNvPr id="825" name="Google Shape;825;p49"/>
          <p:cNvSpPr txBox="1"/>
          <p:nvPr/>
        </p:nvSpPr>
        <p:spPr>
          <a:xfrm>
            <a:off x="762000" y="2000250"/>
            <a:ext cx="6667500" cy="666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CBD5E1"/>
                </a:solidFill>
                <a:latin typeface="Inter"/>
                <a:ea typeface="Inter"/>
                <a:cs typeface="Inter"/>
                <a:sym typeface="Inter"/>
              </a:rPr>
              <a:t>Retinal fundus resimleri, düşük kontrast ve </a:t>
            </a:r>
            <a:r>
              <a:rPr lang="en-US" sz="1100" b="1">
                <a:solidFill>
                  <a:srgbClr val="60A5FA"/>
                </a:solidFill>
                <a:latin typeface="Inter"/>
                <a:ea typeface="Inter"/>
                <a:cs typeface="Inter"/>
                <a:sym typeface="Inter"/>
              </a:rPr>
              <a:t>morfolojik benzerlikler</a:t>
            </a:r>
            <a:r>
              <a:rPr lang="en-US" sz="1100" b="0">
                <a:solidFill>
                  <a:srgbClr val="CBD5E1"/>
                </a:solidFill>
                <a:latin typeface="Inter"/>
                <a:ea typeface="Inter"/>
                <a:cs typeface="Inter"/>
                <a:sym typeface="Inter"/>
              </a:rPr>
              <a:t> nedeniyle analiz edilmesi en güç tıbbi verilerdendir. Damar yapıları ve lezyonların ayrımı, yüksek hassasiyetli derin öğrenme mimarileri gerektirir.</a:t>
            </a:r>
            <a:endParaRPr sz="1100" b="0">
              <a:solidFill>
                <a:srgbClr val="CBD5E1"/>
              </a:solidFill>
              <a:latin typeface="Inter"/>
              <a:ea typeface="Inter"/>
              <a:cs typeface="Inter"/>
              <a:sym typeface="Inter"/>
            </a:endParaRPr>
          </a:p>
        </p:txBody>
      </p:sp>
      <p:sp>
        <p:nvSpPr>
          <p:cNvPr id="826" name="Google Shape;826;p49"/>
          <p:cNvSpPr/>
          <p:nvPr/>
        </p:nvSpPr>
        <p:spPr>
          <a:xfrm>
            <a:off x="571500" y="2952750"/>
            <a:ext cx="3429000" cy="3238500"/>
          </a:xfrm>
          <a:prstGeom prst="roundRect">
            <a:avLst>
              <a:gd name="adj" fmla="val 3529"/>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7" name="Google Shape;827;p49"/>
          <p:cNvSpPr txBox="1"/>
          <p:nvPr/>
        </p:nvSpPr>
        <p:spPr>
          <a:xfrm>
            <a:off x="762000" y="3143250"/>
            <a:ext cx="3048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F8FAFC"/>
                </a:solidFill>
                <a:latin typeface="Urbanist"/>
                <a:ea typeface="Urbanist"/>
                <a:cs typeface="Urbanist"/>
                <a:sym typeface="Urbanist"/>
              </a:rPr>
              <a:t>Neler Öğrendik?</a:t>
            </a:r>
            <a:endParaRPr sz="1800" b="1">
              <a:solidFill>
                <a:srgbClr val="F8FAFC"/>
              </a:solidFill>
              <a:latin typeface="Urbanist"/>
              <a:ea typeface="Urbanist"/>
              <a:cs typeface="Urbanist"/>
              <a:sym typeface="Urbanist"/>
            </a:endParaRPr>
          </a:p>
        </p:txBody>
      </p:sp>
      <p:sp>
        <p:nvSpPr>
          <p:cNvPr id="828" name="Google Shape;828;p49"/>
          <p:cNvSpPr txBox="1"/>
          <p:nvPr/>
        </p:nvSpPr>
        <p:spPr>
          <a:xfrm>
            <a:off x="762000" y="3619500"/>
            <a:ext cx="3048000" cy="2381400"/>
          </a:xfrm>
          <a:prstGeom prst="rect">
            <a:avLst/>
          </a:prstGeom>
          <a:noFill/>
          <a:ln>
            <a:noFill/>
          </a:ln>
        </p:spPr>
        <p:txBody>
          <a:bodyPr spcFirstLastPara="1" wrap="square" lIns="0" tIns="0" rIns="0" bIns="0" anchor="ctr" anchorCtr="0">
            <a:noAutofit/>
          </a:bodyPr>
          <a:lstStyle/>
          <a:p>
            <a:pPr marL="457200" lvl="0" indent="-298450" algn="l" rtl="0">
              <a:spcBef>
                <a:spcPts val="0"/>
              </a:spcBef>
              <a:spcAft>
                <a:spcPts val="0"/>
              </a:spcAft>
              <a:buClr>
                <a:srgbClr val="CBD5E1"/>
              </a:buClr>
              <a:buSzPts val="1100"/>
              <a:buFont typeface="Inter"/>
              <a:buChar char="●"/>
            </a:pPr>
            <a:r>
              <a:rPr lang="en-US" sz="1100" b="1">
                <a:solidFill>
                  <a:srgbClr val="60A5FA"/>
                </a:solidFill>
                <a:latin typeface="Inter"/>
                <a:ea typeface="Inter"/>
                <a:cs typeface="Inter"/>
                <a:sym typeface="Inter"/>
              </a:rPr>
              <a:t>Veri Dengesi:</a:t>
            </a:r>
            <a:r>
              <a:rPr lang="en-US" sz="1100" b="0">
                <a:solidFill>
                  <a:srgbClr val="CBD5E1"/>
                </a:solidFill>
                <a:latin typeface="Inter"/>
                <a:ea typeface="Inter"/>
                <a:cs typeface="Inter"/>
                <a:sym typeface="Inter"/>
              </a:rPr>
              <a:t> Nadir görülen sınıfların (H, A) model başarısını doğrudan etkilediği görüldü.</a:t>
            </a:r>
            <a:endParaRPr sz="1100" b="0">
              <a:solidFill>
                <a:srgbClr val="CBD5E1"/>
              </a:solidFill>
              <a:latin typeface="Inter"/>
              <a:ea typeface="Inter"/>
              <a:cs typeface="Inter"/>
              <a:sym typeface="Inter"/>
            </a:endParaRPr>
          </a:p>
          <a:p>
            <a:pPr marL="457200" lvl="0" indent="-298450" algn="l" rtl="0">
              <a:spcBef>
                <a:spcPts val="750"/>
              </a:spcBef>
              <a:spcAft>
                <a:spcPts val="0"/>
              </a:spcAft>
              <a:buClr>
                <a:srgbClr val="CBD5E1"/>
              </a:buClr>
              <a:buSzPts val="1100"/>
              <a:buFont typeface="Inter"/>
              <a:buChar char="●"/>
            </a:pPr>
            <a:r>
              <a:rPr lang="en-US" sz="1100" b="1">
                <a:solidFill>
                  <a:srgbClr val="60A5FA"/>
                </a:solidFill>
                <a:latin typeface="Inter"/>
                <a:ea typeface="Inter"/>
                <a:cs typeface="Inter"/>
                <a:sym typeface="Inter"/>
              </a:rPr>
              <a:t>Hyperparameter:</a:t>
            </a:r>
            <a:r>
              <a:rPr lang="en-US" sz="1100" b="0">
                <a:solidFill>
                  <a:srgbClr val="CBD5E1"/>
                </a:solidFill>
                <a:latin typeface="Inter"/>
                <a:ea typeface="Inter"/>
                <a:cs typeface="Inter"/>
                <a:sym typeface="Inter"/>
              </a:rPr>
              <a:t> Batch size ve dropout oranlarının overfitting üzerinde kritik rolü anlaşıldı.</a:t>
            </a:r>
            <a:endParaRPr sz="1100" b="0">
              <a:solidFill>
                <a:srgbClr val="CBD5E1"/>
              </a:solidFill>
              <a:latin typeface="Inter"/>
              <a:ea typeface="Inter"/>
              <a:cs typeface="Inter"/>
              <a:sym typeface="Inter"/>
            </a:endParaRPr>
          </a:p>
          <a:p>
            <a:pPr marL="457200" lvl="0" indent="-298450" algn="l" rtl="0">
              <a:spcBef>
                <a:spcPts val="750"/>
              </a:spcBef>
              <a:spcAft>
                <a:spcPts val="0"/>
              </a:spcAft>
              <a:buClr>
                <a:srgbClr val="CBD5E1"/>
              </a:buClr>
              <a:buSzPts val="1100"/>
              <a:buFont typeface="Inter"/>
              <a:buChar char="●"/>
            </a:pPr>
            <a:r>
              <a:rPr lang="en-US" sz="1100" b="1">
                <a:solidFill>
                  <a:srgbClr val="60A5FA"/>
                </a:solidFill>
                <a:latin typeface="Inter"/>
                <a:ea typeface="Inter"/>
                <a:cs typeface="Inter"/>
                <a:sym typeface="Inter"/>
              </a:rPr>
              <a:t>Metrik Seçimi:</a:t>
            </a:r>
            <a:r>
              <a:rPr lang="en-US" sz="1100" b="0">
                <a:solidFill>
                  <a:srgbClr val="CBD5E1"/>
                </a:solidFill>
                <a:latin typeface="Inter"/>
                <a:ea typeface="Inter"/>
                <a:cs typeface="Inter"/>
                <a:sym typeface="Inter"/>
              </a:rPr>
              <a:t> PR-AUC'nin dengesiz veri setlerinde en güvenilir rehber olduğu teyit edildi.</a:t>
            </a:r>
            <a:endParaRPr sz="1100" b="0">
              <a:solidFill>
                <a:srgbClr val="CBD5E1"/>
              </a:solidFill>
              <a:latin typeface="Inter"/>
              <a:ea typeface="Inter"/>
              <a:cs typeface="Inter"/>
              <a:sym typeface="Inter"/>
            </a:endParaRPr>
          </a:p>
        </p:txBody>
      </p:sp>
      <p:sp>
        <p:nvSpPr>
          <p:cNvPr id="829" name="Google Shape;829;p49"/>
          <p:cNvSpPr/>
          <p:nvPr/>
        </p:nvSpPr>
        <p:spPr>
          <a:xfrm>
            <a:off x="4191000" y="2952750"/>
            <a:ext cx="3429000" cy="3238500"/>
          </a:xfrm>
          <a:prstGeom prst="roundRect">
            <a:avLst>
              <a:gd name="adj" fmla="val 3529"/>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0" name="Google Shape;830;p49"/>
          <p:cNvSpPr txBox="1"/>
          <p:nvPr/>
        </p:nvSpPr>
        <p:spPr>
          <a:xfrm>
            <a:off x="4381500" y="3143250"/>
            <a:ext cx="3048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F8FAFC"/>
                </a:solidFill>
                <a:latin typeface="Urbanist"/>
                <a:ea typeface="Urbanist"/>
                <a:cs typeface="Urbanist"/>
                <a:sym typeface="Urbanist"/>
              </a:rPr>
              <a:t>Gelecek Çalışmalar</a:t>
            </a:r>
            <a:endParaRPr sz="1800" b="1">
              <a:solidFill>
                <a:srgbClr val="F8FAFC"/>
              </a:solidFill>
              <a:latin typeface="Urbanist"/>
              <a:ea typeface="Urbanist"/>
              <a:cs typeface="Urbanist"/>
              <a:sym typeface="Urbanist"/>
            </a:endParaRPr>
          </a:p>
        </p:txBody>
      </p:sp>
      <p:sp>
        <p:nvSpPr>
          <p:cNvPr id="831" name="Google Shape;831;p49"/>
          <p:cNvSpPr txBox="1"/>
          <p:nvPr/>
        </p:nvSpPr>
        <p:spPr>
          <a:xfrm>
            <a:off x="4381500" y="3619500"/>
            <a:ext cx="3048000" cy="2381400"/>
          </a:xfrm>
          <a:prstGeom prst="rect">
            <a:avLst/>
          </a:prstGeom>
          <a:noFill/>
          <a:ln>
            <a:noFill/>
          </a:ln>
        </p:spPr>
        <p:txBody>
          <a:bodyPr spcFirstLastPara="1" wrap="square" lIns="0" tIns="0" rIns="0" bIns="0" anchor="ctr" anchorCtr="0">
            <a:noAutofit/>
          </a:bodyPr>
          <a:lstStyle/>
          <a:p>
            <a:pPr marL="457200" lvl="0" indent="-298450" algn="l" rtl="0">
              <a:spcBef>
                <a:spcPts val="0"/>
              </a:spcBef>
              <a:spcAft>
                <a:spcPts val="0"/>
              </a:spcAft>
              <a:buClr>
                <a:srgbClr val="CBD5E1"/>
              </a:buClr>
              <a:buSzPts val="1100"/>
              <a:buFont typeface="Inter"/>
              <a:buChar char="●"/>
            </a:pPr>
            <a:r>
              <a:rPr lang="en-US" sz="1100" b="1">
                <a:solidFill>
                  <a:srgbClr val="60A5FA"/>
                </a:solidFill>
                <a:latin typeface="Inter"/>
                <a:ea typeface="Inter"/>
                <a:cs typeface="Inter"/>
                <a:sym typeface="Inter"/>
              </a:rPr>
              <a:t>Data Augmentation:</a:t>
            </a:r>
            <a:r>
              <a:rPr lang="en-US" sz="1100" b="0">
                <a:solidFill>
                  <a:srgbClr val="CBD5E1"/>
                </a:solidFill>
                <a:latin typeface="Inter"/>
                <a:ea typeface="Inter"/>
                <a:cs typeface="Inter"/>
                <a:sym typeface="Inter"/>
              </a:rPr>
              <a:t> GAN tabanlı veri üretimi ile azınlık sınıfların desteklenmesi.</a:t>
            </a:r>
            <a:endParaRPr sz="1100" b="0">
              <a:solidFill>
                <a:srgbClr val="CBD5E1"/>
              </a:solidFill>
              <a:latin typeface="Inter"/>
              <a:ea typeface="Inter"/>
              <a:cs typeface="Inter"/>
              <a:sym typeface="Inter"/>
            </a:endParaRPr>
          </a:p>
          <a:p>
            <a:pPr marL="457200" lvl="0" indent="-298450" algn="l" rtl="0">
              <a:spcBef>
                <a:spcPts val="750"/>
              </a:spcBef>
              <a:spcAft>
                <a:spcPts val="0"/>
              </a:spcAft>
              <a:buClr>
                <a:srgbClr val="CBD5E1"/>
              </a:buClr>
              <a:buSzPts val="1100"/>
              <a:buFont typeface="Inter"/>
              <a:buChar char="●"/>
            </a:pPr>
            <a:r>
              <a:rPr lang="en-US" sz="1100" b="1">
                <a:solidFill>
                  <a:srgbClr val="60A5FA"/>
                </a:solidFill>
                <a:latin typeface="Inter"/>
                <a:ea typeface="Inter"/>
                <a:cs typeface="Inter"/>
                <a:sym typeface="Inter"/>
              </a:rPr>
              <a:t>Ensemble Learning:</a:t>
            </a:r>
            <a:r>
              <a:rPr lang="en-US" sz="1100" b="0">
                <a:solidFill>
                  <a:srgbClr val="CBD5E1"/>
                </a:solidFill>
                <a:latin typeface="Inter"/>
                <a:ea typeface="Inter"/>
                <a:cs typeface="Inter"/>
                <a:sym typeface="Inter"/>
              </a:rPr>
              <a:t> Farklı mimarilerin (ViT ve CNN) birleştirilerek hata payının düşürülmesi.</a:t>
            </a:r>
            <a:endParaRPr sz="1100" b="0">
              <a:solidFill>
                <a:srgbClr val="CBD5E1"/>
              </a:solidFill>
              <a:latin typeface="Inter"/>
              <a:ea typeface="Inter"/>
              <a:cs typeface="Inter"/>
              <a:sym typeface="Inter"/>
            </a:endParaRPr>
          </a:p>
          <a:p>
            <a:pPr marL="457200" lvl="0" indent="-298450" algn="l" rtl="0">
              <a:spcBef>
                <a:spcPts val="750"/>
              </a:spcBef>
              <a:spcAft>
                <a:spcPts val="0"/>
              </a:spcAft>
              <a:buClr>
                <a:srgbClr val="CBD5E1"/>
              </a:buClr>
              <a:buSzPts val="1100"/>
              <a:buFont typeface="Inter"/>
              <a:buChar char="●"/>
            </a:pPr>
            <a:r>
              <a:rPr lang="en-US" sz="1100" b="1">
                <a:solidFill>
                  <a:srgbClr val="60A5FA"/>
                </a:solidFill>
                <a:latin typeface="Inter"/>
                <a:ea typeface="Inter"/>
                <a:cs typeface="Inter"/>
                <a:sym typeface="Inter"/>
              </a:rPr>
              <a:t>Explainable AI:</a:t>
            </a:r>
            <a:r>
              <a:rPr lang="en-US" sz="1100" b="0">
                <a:solidFill>
                  <a:srgbClr val="CBD5E1"/>
                </a:solidFill>
                <a:latin typeface="Inter"/>
                <a:ea typeface="Inter"/>
                <a:cs typeface="Inter"/>
                <a:sym typeface="Inter"/>
              </a:rPr>
              <a:t> Teşhislerin klinik güvenilirliğini artırmak için Grad-CAM entegrasyonu.</a:t>
            </a:r>
            <a:endParaRPr sz="1100" b="0">
              <a:solidFill>
                <a:srgbClr val="CBD5E1"/>
              </a:solidFill>
              <a:latin typeface="Inter"/>
              <a:ea typeface="Inter"/>
              <a:cs typeface="Inter"/>
              <a:sym typeface="Inter"/>
            </a:endParaRPr>
          </a:p>
        </p:txBody>
      </p:sp>
      <p:pic>
        <p:nvPicPr>
          <p:cNvPr id="832" name="Google Shape;832;p49" descr="A high-tech digital eye scan visualization. A futuristic blue and cyan interface showing a human retina with neural network nodes and data points overlaid. Professional medical AI diagnostic concept, dark background with glowing tech elements."/>
          <p:cNvPicPr preferRelativeResize="0"/>
          <p:nvPr/>
        </p:nvPicPr>
        <p:blipFill rotWithShape="1">
          <a:blip r:embed="rId4">
            <a:alphaModFix/>
          </a:blip>
          <a:srcRect t="3575" b="3566"/>
          <a:stretch/>
        </p:blipFill>
        <p:spPr>
          <a:xfrm>
            <a:off x="7810500" y="1333500"/>
            <a:ext cx="4000500" cy="4953000"/>
          </a:xfrm>
          <a:prstGeom prst="roundRect">
            <a:avLst>
              <a:gd name="adj" fmla="val 4761"/>
            </a:avLst>
          </a:prstGeom>
          <a:noFill/>
          <a:ln>
            <a:noFill/>
          </a:ln>
        </p:spPr>
      </p:pic>
      <p:sp>
        <p:nvSpPr>
          <p:cNvPr id="833" name="Google Shape;833;p49"/>
          <p:cNvSpPr/>
          <p:nvPr/>
        </p:nvSpPr>
        <p:spPr>
          <a:xfrm>
            <a:off x="7810500" y="1333500"/>
            <a:ext cx="4000500" cy="4953000"/>
          </a:xfrm>
          <a:prstGeom prst="roundRect">
            <a:avLst>
              <a:gd name="adj" fmla="val 4761"/>
            </a:avLst>
          </a:prstGeom>
          <a:solidFill>
            <a:srgbClr val="000000">
              <a:alpha val="0"/>
            </a:srgbClr>
          </a:solidFill>
          <a:ln w="19050" cap="flat" cmpd="sng">
            <a:solidFill>
              <a:srgbClr val="60A5F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7"/>
        <p:cNvGrpSpPr/>
        <p:nvPr/>
      </p:nvGrpSpPr>
      <p:grpSpPr>
        <a:xfrm>
          <a:off x="0" y="0"/>
          <a:ext cx="0" cy="0"/>
          <a:chOff x="0" y="0"/>
          <a:chExt cx="0" cy="0"/>
        </a:xfrm>
      </p:grpSpPr>
      <p:sp>
        <p:nvSpPr>
          <p:cNvPr id="838" name="Google Shape;838;p50"/>
          <p:cNvSpPr/>
          <p:nvPr/>
        </p:nvSpPr>
        <p:spPr>
          <a:xfrm>
            <a:off x="581025" y="581025"/>
            <a:ext cx="57300" cy="476400"/>
          </a:xfrm>
          <a:prstGeom prst="rect">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9" name="Google Shape;839;p50"/>
          <p:cNvSpPr txBox="1"/>
          <p:nvPr/>
        </p:nvSpPr>
        <p:spPr>
          <a:xfrm>
            <a:off x="771525" y="581025"/>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600" b="1">
                <a:solidFill>
                  <a:srgbClr val="60A5FA"/>
                </a:solidFill>
                <a:latin typeface="Urbanist"/>
                <a:ea typeface="Urbanist"/>
                <a:cs typeface="Urbanist"/>
                <a:sym typeface="Urbanist"/>
              </a:rPr>
              <a:t>Hazırlayanlar</a:t>
            </a:r>
            <a:endParaRPr sz="3600" b="1">
              <a:solidFill>
                <a:srgbClr val="60A5FA"/>
              </a:solidFill>
              <a:latin typeface="Urbanist"/>
              <a:ea typeface="Urbanist"/>
              <a:cs typeface="Urbanist"/>
              <a:sym typeface="Urbanist"/>
            </a:endParaRPr>
          </a:p>
        </p:txBody>
      </p:sp>
      <p:sp>
        <p:nvSpPr>
          <p:cNvPr id="840" name="Google Shape;840;p50"/>
          <p:cNvSpPr/>
          <p:nvPr/>
        </p:nvSpPr>
        <p:spPr>
          <a:xfrm>
            <a:off x="571500" y="1333500"/>
            <a:ext cx="11049000" cy="952500"/>
          </a:xfrm>
          <a:prstGeom prst="roundRect">
            <a:avLst>
              <a:gd name="adj" fmla="val 12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841" name="Google Shape;841;p50"/>
          <p:cNvGrpSpPr/>
          <p:nvPr/>
        </p:nvGrpSpPr>
        <p:grpSpPr>
          <a:xfrm>
            <a:off x="952500" y="1619250"/>
            <a:ext cx="10001250" cy="416052"/>
            <a:chOff x="952500" y="1619250"/>
            <a:chExt cx="10001250" cy="416052"/>
          </a:xfrm>
        </p:grpSpPr>
        <p:sp>
          <p:nvSpPr>
            <p:cNvPr id="842" name="Google Shape;842;p50"/>
            <p:cNvSpPr txBox="1"/>
            <p:nvPr/>
          </p:nvSpPr>
          <p:spPr>
            <a:xfrm>
              <a:off x="952500" y="1654302"/>
              <a:ext cx="38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400" dirty="0">
                <a:solidFill>
                  <a:srgbClr val="60A5FA"/>
                </a:solidFill>
                <a:latin typeface="Material Icons"/>
                <a:ea typeface="Material Icons"/>
                <a:cs typeface="Material Icons"/>
                <a:sym typeface="Material Icons"/>
              </a:endParaRPr>
            </a:p>
          </p:txBody>
        </p:sp>
        <p:sp>
          <p:nvSpPr>
            <p:cNvPr id="843" name="Google Shape;843;p50"/>
            <p:cNvSpPr txBox="1"/>
            <p:nvPr/>
          </p:nvSpPr>
          <p:spPr>
            <a:xfrm>
              <a:off x="1428750" y="1619250"/>
              <a:ext cx="9525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a:solidFill>
                    <a:srgbClr val="F8FAFC"/>
                  </a:solidFill>
                  <a:latin typeface="Urbanist"/>
                  <a:ea typeface="Urbanist"/>
                  <a:cs typeface="Urbanist"/>
                  <a:sym typeface="Urbanist"/>
                </a:rPr>
                <a:t>Proje Ekibi </a:t>
              </a:r>
              <a:endParaRPr sz="2200" b="1">
                <a:solidFill>
                  <a:srgbClr val="F8FAFC"/>
                </a:solidFill>
                <a:latin typeface="Urbanist"/>
                <a:ea typeface="Urbanist"/>
                <a:cs typeface="Urbanist"/>
                <a:sym typeface="Urbanist"/>
              </a:endParaRPr>
            </a:p>
          </p:txBody>
        </p:sp>
      </p:grpSp>
      <p:grpSp>
        <p:nvGrpSpPr>
          <p:cNvPr id="844" name="Google Shape;844;p50"/>
          <p:cNvGrpSpPr/>
          <p:nvPr/>
        </p:nvGrpSpPr>
        <p:grpSpPr>
          <a:xfrm>
            <a:off x="571500" y="2476500"/>
            <a:ext cx="3429000" cy="1143000"/>
            <a:chOff x="0" y="0"/>
            <a:chExt cx="3429000" cy="1143000"/>
          </a:xfrm>
        </p:grpSpPr>
        <p:sp>
          <p:nvSpPr>
            <p:cNvPr id="845" name="Google Shape;845;p50"/>
            <p:cNvSpPr/>
            <p:nvPr/>
          </p:nvSpPr>
          <p:spPr>
            <a:xfrm>
              <a:off x="0" y="0"/>
              <a:ext cx="3429000" cy="1143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46" name="Google Shape;846;p50"/>
            <p:cNvSpPr txBox="1"/>
            <p:nvPr/>
          </p:nvSpPr>
          <p:spPr>
            <a:xfrm>
              <a:off x="1047750" y="190500"/>
              <a:ext cx="21909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700" b="1">
                  <a:solidFill>
                    <a:srgbClr val="60A5FA"/>
                  </a:solidFill>
                  <a:latin typeface="Inter"/>
                  <a:ea typeface="Inter"/>
                  <a:cs typeface="Inter"/>
                  <a:sym typeface="Inter"/>
                </a:rPr>
                <a:t>Özcan Kocaman</a:t>
              </a:r>
              <a:endParaRPr sz="1700" b="1">
                <a:solidFill>
                  <a:srgbClr val="60A5FA"/>
                </a:solidFill>
                <a:latin typeface="Inter"/>
                <a:ea typeface="Inter"/>
                <a:cs typeface="Inter"/>
                <a:sym typeface="Inter"/>
              </a:endParaRPr>
            </a:p>
            <a:p>
              <a:pPr marL="0" lvl="0" indent="0" algn="l" rtl="0">
                <a:spcBef>
                  <a:spcPts val="0"/>
                </a:spcBef>
                <a:spcAft>
                  <a:spcPts val="0"/>
                </a:spcAft>
                <a:buNone/>
              </a:pPr>
              <a:endParaRPr sz="1200" b="1">
                <a:solidFill>
                  <a:srgbClr val="CBD5E1"/>
                </a:solidFill>
                <a:latin typeface="Inter"/>
                <a:ea typeface="Inter"/>
                <a:cs typeface="Inter"/>
                <a:sym typeface="Inter"/>
              </a:endParaRPr>
            </a:p>
          </p:txBody>
        </p:sp>
      </p:grpSp>
      <p:grpSp>
        <p:nvGrpSpPr>
          <p:cNvPr id="847" name="Google Shape;847;p50"/>
          <p:cNvGrpSpPr/>
          <p:nvPr/>
        </p:nvGrpSpPr>
        <p:grpSpPr>
          <a:xfrm>
            <a:off x="4381500" y="2476500"/>
            <a:ext cx="3429000" cy="1143000"/>
            <a:chOff x="0" y="0"/>
            <a:chExt cx="3429000" cy="1143000"/>
          </a:xfrm>
        </p:grpSpPr>
        <p:sp>
          <p:nvSpPr>
            <p:cNvPr id="848" name="Google Shape;848;p50"/>
            <p:cNvSpPr/>
            <p:nvPr/>
          </p:nvSpPr>
          <p:spPr>
            <a:xfrm>
              <a:off x="0" y="0"/>
              <a:ext cx="3429000" cy="1143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49" name="Google Shape;849;p50"/>
            <p:cNvSpPr txBox="1"/>
            <p:nvPr/>
          </p:nvSpPr>
          <p:spPr>
            <a:xfrm>
              <a:off x="1047750" y="190500"/>
              <a:ext cx="21909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700" b="0">
                  <a:solidFill>
                    <a:srgbClr val="60A5FA"/>
                  </a:solidFill>
                  <a:latin typeface="Inter SemiBold"/>
                  <a:ea typeface="Inter SemiBold"/>
                  <a:cs typeface="Inter SemiBold"/>
                  <a:sym typeface="Inter SemiBold"/>
                </a:rPr>
                <a:t>Betül Balcı</a:t>
              </a:r>
              <a:endParaRPr sz="1700" b="0">
                <a:solidFill>
                  <a:srgbClr val="60A5FA"/>
                </a:solidFill>
                <a:latin typeface="Inter SemiBold"/>
                <a:ea typeface="Inter SemiBold"/>
                <a:cs typeface="Inter SemiBold"/>
                <a:sym typeface="Inter SemiBold"/>
              </a:endParaRPr>
            </a:p>
            <a:p>
              <a:pPr marL="0" lvl="0" indent="0" algn="l" rtl="0">
                <a:spcBef>
                  <a:spcPts val="0"/>
                </a:spcBef>
                <a:spcAft>
                  <a:spcPts val="0"/>
                </a:spcAft>
                <a:buNone/>
              </a:pPr>
              <a:endParaRPr sz="1200" b="0">
                <a:solidFill>
                  <a:srgbClr val="CBD5E1"/>
                </a:solidFill>
                <a:latin typeface="Inter"/>
                <a:ea typeface="Inter"/>
                <a:cs typeface="Inter"/>
                <a:sym typeface="Inter"/>
              </a:endParaRPr>
            </a:p>
          </p:txBody>
        </p:sp>
      </p:grpSp>
      <p:grpSp>
        <p:nvGrpSpPr>
          <p:cNvPr id="850" name="Google Shape;850;p50"/>
          <p:cNvGrpSpPr/>
          <p:nvPr/>
        </p:nvGrpSpPr>
        <p:grpSpPr>
          <a:xfrm>
            <a:off x="8191500" y="2476500"/>
            <a:ext cx="3429000" cy="1143000"/>
            <a:chOff x="0" y="0"/>
            <a:chExt cx="3429000" cy="1143000"/>
          </a:xfrm>
        </p:grpSpPr>
        <p:sp>
          <p:nvSpPr>
            <p:cNvPr id="851" name="Google Shape;851;p50"/>
            <p:cNvSpPr/>
            <p:nvPr/>
          </p:nvSpPr>
          <p:spPr>
            <a:xfrm>
              <a:off x="0" y="0"/>
              <a:ext cx="3429000" cy="1143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52" name="Google Shape;852;p50"/>
            <p:cNvSpPr txBox="1"/>
            <p:nvPr/>
          </p:nvSpPr>
          <p:spPr>
            <a:xfrm>
              <a:off x="1047750" y="190500"/>
              <a:ext cx="21909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700" b="0">
                  <a:solidFill>
                    <a:srgbClr val="60A5FA"/>
                  </a:solidFill>
                  <a:latin typeface="Inter SemiBold"/>
                  <a:ea typeface="Inter SemiBold"/>
                  <a:cs typeface="Inter SemiBold"/>
                  <a:sym typeface="Inter SemiBold"/>
                </a:rPr>
                <a:t>Serra Demirel</a:t>
              </a:r>
              <a:endParaRPr sz="1700" b="0">
                <a:solidFill>
                  <a:srgbClr val="60A5FA"/>
                </a:solidFill>
                <a:latin typeface="Inter SemiBold"/>
                <a:ea typeface="Inter SemiBold"/>
                <a:cs typeface="Inter SemiBold"/>
                <a:sym typeface="Inter SemiBold"/>
              </a:endParaRPr>
            </a:p>
            <a:p>
              <a:pPr marL="0" lvl="0" indent="0" algn="l" rtl="0">
                <a:spcBef>
                  <a:spcPts val="0"/>
                </a:spcBef>
                <a:spcAft>
                  <a:spcPts val="0"/>
                </a:spcAft>
                <a:buNone/>
              </a:pPr>
              <a:endParaRPr sz="1200" b="0">
                <a:solidFill>
                  <a:srgbClr val="CBD5E1"/>
                </a:solidFill>
                <a:latin typeface="Inter"/>
                <a:ea typeface="Inter"/>
                <a:cs typeface="Inter"/>
                <a:sym typeface="Inter"/>
              </a:endParaRPr>
            </a:p>
          </p:txBody>
        </p:sp>
      </p:grpSp>
      <p:grpSp>
        <p:nvGrpSpPr>
          <p:cNvPr id="853" name="Google Shape;853;p50"/>
          <p:cNvGrpSpPr/>
          <p:nvPr/>
        </p:nvGrpSpPr>
        <p:grpSpPr>
          <a:xfrm>
            <a:off x="2476500" y="3810000"/>
            <a:ext cx="3429000" cy="1143000"/>
            <a:chOff x="0" y="0"/>
            <a:chExt cx="3429000" cy="1143000"/>
          </a:xfrm>
        </p:grpSpPr>
        <p:sp>
          <p:nvSpPr>
            <p:cNvPr id="854" name="Google Shape;854;p50"/>
            <p:cNvSpPr/>
            <p:nvPr/>
          </p:nvSpPr>
          <p:spPr>
            <a:xfrm>
              <a:off x="0" y="0"/>
              <a:ext cx="3429000" cy="1143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55" name="Google Shape;855;p50"/>
            <p:cNvSpPr txBox="1"/>
            <p:nvPr/>
          </p:nvSpPr>
          <p:spPr>
            <a:xfrm>
              <a:off x="1047750" y="190500"/>
              <a:ext cx="21909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700" b="0">
                  <a:solidFill>
                    <a:srgbClr val="60A5FA"/>
                  </a:solidFill>
                  <a:latin typeface="Inter SemiBold"/>
                  <a:ea typeface="Inter SemiBold"/>
                  <a:cs typeface="Inter SemiBold"/>
                  <a:sym typeface="Inter SemiBold"/>
                </a:rPr>
                <a:t>Sedef Birgül</a:t>
              </a:r>
              <a:endParaRPr sz="1700" b="0">
                <a:solidFill>
                  <a:srgbClr val="60A5FA"/>
                </a:solidFill>
                <a:latin typeface="Inter SemiBold"/>
                <a:ea typeface="Inter SemiBold"/>
                <a:cs typeface="Inter SemiBold"/>
                <a:sym typeface="Inter SemiBold"/>
              </a:endParaRPr>
            </a:p>
            <a:p>
              <a:pPr marL="0" lvl="0" indent="0" algn="l" rtl="0">
                <a:spcBef>
                  <a:spcPts val="0"/>
                </a:spcBef>
                <a:spcAft>
                  <a:spcPts val="0"/>
                </a:spcAft>
                <a:buNone/>
              </a:pPr>
              <a:endParaRPr sz="1200" b="0">
                <a:solidFill>
                  <a:srgbClr val="CBD5E1"/>
                </a:solidFill>
                <a:latin typeface="Inter"/>
                <a:ea typeface="Inter"/>
                <a:cs typeface="Inter"/>
                <a:sym typeface="Inter"/>
              </a:endParaRPr>
            </a:p>
          </p:txBody>
        </p:sp>
      </p:grpSp>
      <p:grpSp>
        <p:nvGrpSpPr>
          <p:cNvPr id="856" name="Google Shape;856;p50"/>
          <p:cNvGrpSpPr/>
          <p:nvPr/>
        </p:nvGrpSpPr>
        <p:grpSpPr>
          <a:xfrm>
            <a:off x="6286500" y="3810000"/>
            <a:ext cx="3429000" cy="1143000"/>
            <a:chOff x="0" y="0"/>
            <a:chExt cx="3429000" cy="1143000"/>
          </a:xfrm>
        </p:grpSpPr>
        <p:sp>
          <p:nvSpPr>
            <p:cNvPr id="857" name="Google Shape;857;p50"/>
            <p:cNvSpPr/>
            <p:nvPr/>
          </p:nvSpPr>
          <p:spPr>
            <a:xfrm>
              <a:off x="0" y="0"/>
              <a:ext cx="3429000" cy="1143000"/>
            </a:xfrm>
            <a:prstGeom prst="roundRect">
              <a:avLst>
                <a:gd name="adj" fmla="val 10000"/>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58" name="Google Shape;858;p50"/>
            <p:cNvSpPr txBox="1"/>
            <p:nvPr/>
          </p:nvSpPr>
          <p:spPr>
            <a:xfrm>
              <a:off x="1047750" y="190500"/>
              <a:ext cx="21909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700" b="0">
                  <a:solidFill>
                    <a:srgbClr val="60A5FA"/>
                  </a:solidFill>
                  <a:latin typeface="Inter SemiBold"/>
                  <a:ea typeface="Inter SemiBold"/>
                  <a:cs typeface="Inter SemiBold"/>
                  <a:sym typeface="Inter SemiBold"/>
                </a:rPr>
                <a:t>Zehra Yılmaz</a:t>
              </a:r>
              <a:endParaRPr sz="1700" b="0">
                <a:solidFill>
                  <a:srgbClr val="60A5FA"/>
                </a:solidFill>
                <a:latin typeface="Inter SemiBold"/>
                <a:ea typeface="Inter SemiBold"/>
                <a:cs typeface="Inter SemiBold"/>
                <a:sym typeface="Inter SemiBold"/>
              </a:endParaRPr>
            </a:p>
            <a:p>
              <a:pPr marL="0" lvl="0" indent="0" algn="l" rtl="0">
                <a:spcBef>
                  <a:spcPts val="0"/>
                </a:spcBef>
                <a:spcAft>
                  <a:spcPts val="0"/>
                </a:spcAft>
                <a:buNone/>
              </a:pPr>
              <a:endParaRPr sz="1200" b="0">
                <a:solidFill>
                  <a:srgbClr val="CBD5E1"/>
                </a:solidFill>
                <a:latin typeface="Inter"/>
                <a:ea typeface="Inter"/>
                <a:cs typeface="Inter"/>
                <a:sym typeface="Inter"/>
              </a:endParaRPr>
            </a:p>
          </p:txBody>
        </p:sp>
      </p:grpSp>
      <p:sp>
        <p:nvSpPr>
          <p:cNvPr id="859" name="Google Shape;859;p50"/>
          <p:cNvSpPr txBox="1"/>
          <p:nvPr/>
        </p:nvSpPr>
        <p:spPr>
          <a:xfrm>
            <a:off x="952500" y="5633100"/>
            <a:ext cx="10287000" cy="762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1400" b="0">
              <a:solidFill>
                <a:srgbClr val="CBD5E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2653</Words>
  <Application>Microsoft Office PowerPoint</Application>
  <PresentationFormat>Geniş ekran</PresentationFormat>
  <Paragraphs>363</Paragraphs>
  <Slides>38</Slides>
  <Notes>37</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38</vt:i4>
      </vt:variant>
    </vt:vector>
  </HeadingPairs>
  <TitlesOfParts>
    <vt:vector size="46" baseType="lpstr">
      <vt:lpstr>Calibri</vt:lpstr>
      <vt:lpstr>Inter ExtraBold</vt:lpstr>
      <vt:lpstr>Urbanist</vt:lpstr>
      <vt:lpstr>Arial</vt:lpstr>
      <vt:lpstr>Material Icons</vt:lpstr>
      <vt:lpstr>Inter SemiBold</vt:lpstr>
      <vt:lpstr>Inter</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bekir yılmaz</cp:lastModifiedBy>
  <cp:revision>2</cp:revision>
  <dcterms:modified xsi:type="dcterms:W3CDTF">2026-05-19T23:55:27Z</dcterms:modified>
</cp:coreProperties>
</file>